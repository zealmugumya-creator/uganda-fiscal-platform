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048"/>
        </a:solidFill>
      </p:bgPr>
    </p:bg>
    <p:spTree>
      <p:nvGrpSpPr>
        <p:cNvPr id="1" name=""/>
        <p:cNvGrpSpPr/>
        <p:nvPr/>
      </p:nvGrpSpPr>
      <p:grpSpPr>
        <a:xfrm>
          <a:off x="0" y="0"/>
          <a:ext cx="0" cy="0"/>
          <a:chOff x="0" y="0"/>
          <a:chExt cx="0" cy="0"/>
        </a:xfrm>
      </p:grpSpPr>
      <p:sp>
        <p:nvSpPr>
          <p:cNvPr id="2" name="Shape 0"/>
          <p:cNvSpPr/>
          <p:nvPr/>
        </p:nvSpPr>
        <p:spPr>
          <a:xfrm>
            <a:off x="0" y="0"/>
            <a:ext cx="4389120" cy="6858000"/>
          </a:xfrm>
          <a:prstGeom prst="rect">
            <a:avLst/>
          </a:prstGeom>
          <a:solidFill>
            <a:srgbClr val="B8920A"/>
          </a:solidFill>
          <a:ln w="12700">
            <a:solidFill>
              <a:srgbClr val="B8920A"/>
            </a:solidFill>
            <a:prstDash val="solid"/>
          </a:ln>
        </p:spPr>
      </p:sp>
      <p:sp>
        <p:nvSpPr>
          <p:cNvPr id="3" name="Shape 1"/>
          <p:cNvSpPr/>
          <p:nvPr/>
        </p:nvSpPr>
        <p:spPr>
          <a:xfrm>
            <a:off x="0" y="0"/>
            <a:ext cx="4389120" cy="6858000"/>
          </a:xfrm>
          <a:prstGeom prst="rect">
            <a:avLst/>
          </a:prstGeom>
          <a:solidFill>
            <a:srgbClr val="E8C040">
              <a:alpha val="85000"/>
            </a:srgbClr>
          </a:solidFill>
          <a:ln w="12700">
            <a:solidFill>
              <a:srgbClr val="E8C040"/>
            </a:solidFill>
            <a:prstDash val="solid"/>
          </a:ln>
        </p:spPr>
      </p:sp>
      <p:sp>
        <p:nvSpPr>
          <p:cNvPr id="4" name="Text 2"/>
          <p:cNvSpPr/>
          <p:nvPr/>
        </p:nvSpPr>
        <p:spPr>
          <a:xfrm>
            <a:off x="1463040" y="1097280"/>
            <a:ext cx="1463040" cy="1097280"/>
          </a:xfrm>
          <a:prstGeom prst="rect">
            <a:avLst/>
          </a:prstGeom>
          <a:noFill/>
          <a:ln/>
        </p:spPr>
        <p:txBody>
          <a:bodyPr wrap="square" lIns="0" tIns="0" rIns="0" bIns="0" rtlCol="0" anchor="ctr"/>
          <a:lstStyle/>
          <a:p>
            <a:pPr algn="ctr" indent="0" marL="0">
              <a:buNone/>
            </a:pPr>
            <a:r>
              <a:rPr lang="en-US" sz="5400" dirty="0">
                <a:solidFill>
                  <a:srgbClr val="000000"/>
                </a:solidFill>
              </a:rPr>
              <a:t>🇺🇬</a:t>
            </a:r>
            <a:endParaRPr lang="en-US" sz="5400" dirty="0"/>
          </a:p>
        </p:txBody>
      </p:sp>
      <p:sp>
        <p:nvSpPr>
          <p:cNvPr id="5" name="Text 3"/>
          <p:cNvSpPr/>
          <p:nvPr/>
        </p:nvSpPr>
        <p:spPr>
          <a:xfrm>
            <a:off x="274320" y="2331720"/>
            <a:ext cx="3840480" cy="411480"/>
          </a:xfrm>
          <a:prstGeom prst="rect">
            <a:avLst/>
          </a:prstGeom>
          <a:noFill/>
          <a:ln/>
        </p:spPr>
        <p:txBody>
          <a:bodyPr wrap="square" lIns="0" tIns="0" rIns="0" bIns="0" rtlCol="0" anchor="ctr"/>
          <a:lstStyle/>
          <a:p>
            <a:pPr algn="ctr" indent="0" marL="0">
              <a:buNone/>
            </a:pPr>
            <a:r>
              <a:rPr lang="en-US" sz="1300" b="1" spc="600" kern="0" dirty="0">
                <a:solidFill>
                  <a:srgbClr val="0C2048"/>
                </a:solidFill>
                <a:latin typeface="Arial" pitchFamily="34" charset="0"/>
                <a:ea typeface="Arial" pitchFamily="34" charset="-122"/>
                <a:cs typeface="Arial" pitchFamily="34" charset="-120"/>
              </a:rPr>
              <a:t>UGANDA</a:t>
            </a:r>
            <a:endParaRPr lang="en-US" sz="1300" dirty="0"/>
          </a:p>
        </p:txBody>
      </p:sp>
      <p:sp>
        <p:nvSpPr>
          <p:cNvPr id="6" name="Text 4"/>
          <p:cNvSpPr/>
          <p:nvPr/>
        </p:nvSpPr>
        <p:spPr>
          <a:xfrm>
            <a:off x="4846320" y="1280160"/>
            <a:ext cx="6766560" cy="502920"/>
          </a:xfrm>
          <a:prstGeom prst="rect">
            <a:avLst/>
          </a:prstGeom>
          <a:noFill/>
          <a:ln/>
        </p:spPr>
        <p:txBody>
          <a:bodyPr wrap="square" lIns="0" tIns="0" rIns="0" bIns="0" rtlCol="0" anchor="ctr"/>
          <a:lstStyle/>
          <a:p>
            <a:pPr indent="0" marL="0">
              <a:buNone/>
            </a:pPr>
            <a:r>
              <a:rPr lang="en-US" sz="1400" spc="300" kern="0" dirty="0">
                <a:solidFill>
                  <a:srgbClr val="E8C040"/>
                </a:solidFill>
                <a:latin typeface="Arial" pitchFamily="34" charset="0"/>
                <a:ea typeface="Arial" pitchFamily="34" charset="-122"/>
                <a:cs typeface="Arial" pitchFamily="34" charset="-120"/>
              </a:rPr>
              <a:t>Fiscal Intelligence Platform</a:t>
            </a:r>
            <a:endParaRPr lang="en-US" sz="1400" dirty="0"/>
          </a:p>
        </p:txBody>
      </p:sp>
      <p:sp>
        <p:nvSpPr>
          <p:cNvPr id="7" name="Text 5"/>
          <p:cNvSpPr/>
          <p:nvPr/>
        </p:nvSpPr>
        <p:spPr>
          <a:xfrm>
            <a:off x="4846320" y="1828800"/>
            <a:ext cx="6766560" cy="1828800"/>
          </a:xfrm>
          <a:prstGeom prst="rect">
            <a:avLst/>
          </a:prstGeom>
          <a:noFill/>
          <a:ln/>
        </p:spPr>
        <p:txBody>
          <a:bodyPr wrap="square" lIns="0" tIns="0" rIns="0" bIns="0" rtlCol="0" anchor="ctr"/>
          <a:lstStyle/>
          <a:p>
            <a:pPr indent="0" marL="0">
              <a:lnSpc>
                <a:spcPct val="115000"/>
              </a:lnSpc>
              <a:buNone/>
            </a:pPr>
            <a:r>
              <a:rPr lang="en-US" sz="3800" b="1" dirty="0">
                <a:solidFill>
                  <a:srgbClr val="FFFFFF"/>
                </a:solidFill>
                <a:latin typeface="Arial" pitchFamily="34" charset="0"/>
                <a:ea typeface="Arial" pitchFamily="34" charset="-122"/>
                <a:cs typeface="Arial" pitchFamily="34" charset="-120"/>
              </a:rPr>
              <a:t>Solving Uganda's</a:t>
            </a:r>
            <a:endParaRPr lang="en-US" sz="3800" dirty="0"/>
          </a:p>
          <a:p>
            <a:pPr indent="0" marL="0">
              <a:lnSpc>
                <a:spcPct val="115000"/>
              </a:lnSpc>
              <a:buNone/>
            </a:pPr>
            <a:r>
              <a:rPr lang="en-US" sz="3800" b="1" dirty="0">
                <a:solidFill>
                  <a:srgbClr val="FFFFFF"/>
                </a:solidFill>
                <a:latin typeface="Arial" pitchFamily="34" charset="0"/>
                <a:ea typeface="Arial" pitchFamily="34" charset="-122"/>
                <a:cs typeface="Arial" pitchFamily="34" charset="-120"/>
              </a:rPr>
              <a:t>Tax Gap &amp; Debt Crisis</a:t>
            </a:r>
            <a:endParaRPr lang="en-US" sz="3800" dirty="0"/>
          </a:p>
        </p:txBody>
      </p:sp>
      <p:sp>
        <p:nvSpPr>
          <p:cNvPr id="8" name="Shape 6"/>
          <p:cNvSpPr/>
          <p:nvPr/>
        </p:nvSpPr>
        <p:spPr>
          <a:xfrm>
            <a:off x="4846320" y="3794760"/>
            <a:ext cx="6766560" cy="36576"/>
          </a:xfrm>
          <a:prstGeom prst="rect">
            <a:avLst/>
          </a:prstGeom>
          <a:solidFill>
            <a:srgbClr val="E8C040"/>
          </a:solidFill>
          <a:ln w="12700">
            <a:solidFill>
              <a:srgbClr val="E8C040"/>
            </a:solidFill>
            <a:prstDash val="solid"/>
          </a:ln>
        </p:spPr>
      </p:sp>
      <p:sp>
        <p:nvSpPr>
          <p:cNvPr id="9" name="Text 7"/>
          <p:cNvSpPr/>
          <p:nvPr/>
        </p:nvSpPr>
        <p:spPr>
          <a:xfrm>
            <a:off x="4846320" y="3931920"/>
            <a:ext cx="6766560" cy="365760"/>
          </a:xfrm>
          <a:prstGeom prst="rect">
            <a:avLst/>
          </a:prstGeom>
          <a:noFill/>
          <a:ln/>
        </p:spPr>
        <p:txBody>
          <a:bodyPr wrap="square" lIns="0" tIns="0" rIns="0" bIns="0" rtlCol="0" anchor="ctr"/>
          <a:lstStyle/>
          <a:p>
            <a:pPr indent="0" marL="0">
              <a:buNone/>
            </a:pPr>
            <a:r>
              <a:rPr lang="en-US" sz="1300" dirty="0">
                <a:solidFill>
                  <a:srgbClr val="94A3B8"/>
                </a:solidFill>
                <a:latin typeface="Arial" pitchFamily="34" charset="0"/>
                <a:ea typeface="Arial" pitchFamily="34" charset="-122"/>
                <a:cs typeface="Arial" pitchFamily="34" charset="-120"/>
              </a:rPr>
              <a:t>12 AI-powered products · Full demo-ready · Kampala, Uganda</a:t>
            </a:r>
            <a:endParaRPr lang="en-US" sz="1300" dirty="0"/>
          </a:p>
        </p:txBody>
      </p:sp>
      <p:sp>
        <p:nvSpPr>
          <p:cNvPr id="10" name="Shape 8"/>
          <p:cNvSpPr/>
          <p:nvPr/>
        </p:nvSpPr>
        <p:spPr>
          <a:xfrm>
            <a:off x="4846320" y="5029200"/>
            <a:ext cx="1645920" cy="1280160"/>
          </a:xfrm>
          <a:prstGeom prst="rect">
            <a:avLst/>
          </a:prstGeom>
          <a:solidFill>
            <a:srgbClr val="162D5E"/>
          </a:solidFill>
          <a:ln w="12700">
            <a:solidFill>
              <a:srgbClr val="162D5E"/>
            </a:solidFill>
            <a:prstDash val="solid"/>
          </a:ln>
        </p:spPr>
      </p:sp>
      <p:sp>
        <p:nvSpPr>
          <p:cNvPr id="11" name="Shape 9"/>
          <p:cNvSpPr/>
          <p:nvPr/>
        </p:nvSpPr>
        <p:spPr>
          <a:xfrm>
            <a:off x="4846320" y="5029200"/>
            <a:ext cx="1645920" cy="45720"/>
          </a:xfrm>
          <a:prstGeom prst="rect">
            <a:avLst/>
          </a:prstGeom>
          <a:solidFill>
            <a:srgbClr val="E8C040"/>
          </a:solidFill>
          <a:ln w="12700">
            <a:solidFill>
              <a:srgbClr val="E8C040"/>
            </a:solidFill>
            <a:prstDash val="solid"/>
          </a:ln>
        </p:spPr>
      </p:sp>
      <p:sp>
        <p:nvSpPr>
          <p:cNvPr id="12" name="Text 10"/>
          <p:cNvSpPr/>
          <p:nvPr/>
        </p:nvSpPr>
        <p:spPr>
          <a:xfrm>
            <a:off x="4846320" y="5120640"/>
            <a:ext cx="1645920" cy="502920"/>
          </a:xfrm>
          <a:prstGeom prst="rect">
            <a:avLst/>
          </a:prstGeom>
          <a:noFill/>
          <a:ln/>
        </p:spPr>
        <p:txBody>
          <a:bodyPr wrap="square" lIns="0" tIns="0" rIns="0" bIns="0" rtlCol="0" anchor="ctr"/>
          <a:lstStyle/>
          <a:p>
            <a:pPr algn="ctr" indent="0" marL="0">
              <a:buNone/>
            </a:pPr>
            <a:r>
              <a:rPr lang="en-US" sz="2200" b="1" dirty="0">
                <a:solidFill>
                  <a:srgbClr val="E8C040"/>
                </a:solidFill>
                <a:latin typeface="Arial" pitchFamily="34" charset="0"/>
                <a:ea typeface="Arial" pitchFamily="34" charset="-122"/>
                <a:cs typeface="Arial" pitchFamily="34" charset="-120"/>
              </a:rPr>
              <a:t>12</a:t>
            </a:r>
            <a:endParaRPr lang="en-US" sz="2200" dirty="0"/>
          </a:p>
        </p:txBody>
      </p:sp>
      <p:sp>
        <p:nvSpPr>
          <p:cNvPr id="13" name="Text 11"/>
          <p:cNvSpPr/>
          <p:nvPr/>
        </p:nvSpPr>
        <p:spPr>
          <a:xfrm>
            <a:off x="4846320" y="5650992"/>
            <a:ext cx="1645920" cy="365760"/>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Products Built</a:t>
            </a:r>
            <a:endParaRPr lang="en-US" sz="900" dirty="0"/>
          </a:p>
        </p:txBody>
      </p:sp>
      <p:sp>
        <p:nvSpPr>
          <p:cNvPr id="14" name="Shape 12"/>
          <p:cNvSpPr/>
          <p:nvPr/>
        </p:nvSpPr>
        <p:spPr>
          <a:xfrm>
            <a:off x="6675120" y="5029200"/>
            <a:ext cx="1645920" cy="1280160"/>
          </a:xfrm>
          <a:prstGeom prst="rect">
            <a:avLst/>
          </a:prstGeom>
          <a:solidFill>
            <a:srgbClr val="162D5E"/>
          </a:solidFill>
          <a:ln w="12700">
            <a:solidFill>
              <a:srgbClr val="162D5E"/>
            </a:solidFill>
            <a:prstDash val="solid"/>
          </a:ln>
        </p:spPr>
      </p:sp>
      <p:sp>
        <p:nvSpPr>
          <p:cNvPr id="15" name="Shape 13"/>
          <p:cNvSpPr/>
          <p:nvPr/>
        </p:nvSpPr>
        <p:spPr>
          <a:xfrm>
            <a:off x="6675120" y="5029200"/>
            <a:ext cx="1645920" cy="45720"/>
          </a:xfrm>
          <a:prstGeom prst="rect">
            <a:avLst/>
          </a:prstGeom>
          <a:solidFill>
            <a:srgbClr val="E8C040"/>
          </a:solidFill>
          <a:ln w="12700">
            <a:solidFill>
              <a:srgbClr val="E8C040"/>
            </a:solidFill>
            <a:prstDash val="solid"/>
          </a:ln>
        </p:spPr>
      </p:sp>
      <p:sp>
        <p:nvSpPr>
          <p:cNvPr id="16" name="Text 14"/>
          <p:cNvSpPr/>
          <p:nvPr/>
        </p:nvSpPr>
        <p:spPr>
          <a:xfrm>
            <a:off x="6675120" y="5120640"/>
            <a:ext cx="1645920" cy="502920"/>
          </a:xfrm>
          <a:prstGeom prst="rect">
            <a:avLst/>
          </a:prstGeom>
          <a:noFill/>
          <a:ln/>
        </p:spPr>
        <p:txBody>
          <a:bodyPr wrap="square" lIns="0" tIns="0" rIns="0" bIns="0" rtlCol="0" anchor="ctr"/>
          <a:lstStyle/>
          <a:p>
            <a:pPr algn="ctr" indent="0" marL="0">
              <a:buNone/>
            </a:pPr>
            <a:r>
              <a:rPr lang="en-US" sz="2200" b="1" dirty="0">
                <a:solidFill>
                  <a:srgbClr val="E8C040"/>
                </a:solidFill>
                <a:latin typeface="Arial" pitchFamily="34" charset="0"/>
                <a:ea typeface="Arial" pitchFamily="34" charset="-122"/>
                <a:cs typeface="Arial" pitchFamily="34" charset="-120"/>
              </a:rPr>
              <a:t>UGX 5T+</a:t>
            </a:r>
            <a:endParaRPr lang="en-US" sz="2200" dirty="0"/>
          </a:p>
        </p:txBody>
      </p:sp>
      <p:sp>
        <p:nvSpPr>
          <p:cNvPr id="17" name="Text 15"/>
          <p:cNvSpPr/>
          <p:nvPr/>
        </p:nvSpPr>
        <p:spPr>
          <a:xfrm>
            <a:off x="6675120" y="5650992"/>
            <a:ext cx="1645920" cy="365760"/>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Annual Tax Gap</a:t>
            </a:r>
            <a:endParaRPr lang="en-US" sz="900" dirty="0"/>
          </a:p>
        </p:txBody>
      </p:sp>
      <p:sp>
        <p:nvSpPr>
          <p:cNvPr id="18" name="Shape 16"/>
          <p:cNvSpPr/>
          <p:nvPr/>
        </p:nvSpPr>
        <p:spPr>
          <a:xfrm>
            <a:off x="8503920" y="5029200"/>
            <a:ext cx="1645920" cy="1280160"/>
          </a:xfrm>
          <a:prstGeom prst="rect">
            <a:avLst/>
          </a:prstGeom>
          <a:solidFill>
            <a:srgbClr val="162D5E"/>
          </a:solidFill>
          <a:ln w="12700">
            <a:solidFill>
              <a:srgbClr val="162D5E"/>
            </a:solidFill>
            <a:prstDash val="solid"/>
          </a:ln>
        </p:spPr>
      </p:sp>
      <p:sp>
        <p:nvSpPr>
          <p:cNvPr id="19" name="Shape 17"/>
          <p:cNvSpPr/>
          <p:nvPr/>
        </p:nvSpPr>
        <p:spPr>
          <a:xfrm>
            <a:off x="8503920" y="5029200"/>
            <a:ext cx="1645920" cy="45720"/>
          </a:xfrm>
          <a:prstGeom prst="rect">
            <a:avLst/>
          </a:prstGeom>
          <a:solidFill>
            <a:srgbClr val="E8C040"/>
          </a:solidFill>
          <a:ln w="12700">
            <a:solidFill>
              <a:srgbClr val="E8C040"/>
            </a:solidFill>
            <a:prstDash val="solid"/>
          </a:ln>
        </p:spPr>
      </p:sp>
      <p:sp>
        <p:nvSpPr>
          <p:cNvPr id="20" name="Text 18"/>
          <p:cNvSpPr/>
          <p:nvPr/>
        </p:nvSpPr>
        <p:spPr>
          <a:xfrm>
            <a:off x="8503920" y="5120640"/>
            <a:ext cx="1645920" cy="502920"/>
          </a:xfrm>
          <a:prstGeom prst="rect">
            <a:avLst/>
          </a:prstGeom>
          <a:noFill/>
          <a:ln/>
        </p:spPr>
        <p:txBody>
          <a:bodyPr wrap="square" lIns="0" tIns="0" rIns="0" bIns="0" rtlCol="0" anchor="ctr"/>
          <a:lstStyle/>
          <a:p>
            <a:pPr algn="ctr" indent="0" marL="0">
              <a:buNone/>
            </a:pPr>
            <a:r>
              <a:rPr lang="en-US" sz="2200" b="1" dirty="0">
                <a:solidFill>
                  <a:srgbClr val="E8C040"/>
                </a:solidFill>
                <a:latin typeface="Arial" pitchFamily="34" charset="0"/>
                <a:ea typeface="Arial" pitchFamily="34" charset="-122"/>
                <a:cs typeface="Arial" pitchFamily="34" charset="-120"/>
              </a:rPr>
              <a:t>UGX 151M</a:t>
            </a:r>
            <a:endParaRPr lang="en-US" sz="2200" dirty="0"/>
          </a:p>
        </p:txBody>
      </p:sp>
      <p:sp>
        <p:nvSpPr>
          <p:cNvPr id="21" name="Text 19"/>
          <p:cNvSpPr/>
          <p:nvPr/>
        </p:nvSpPr>
        <p:spPr>
          <a:xfrm>
            <a:off x="8503920" y="5650992"/>
            <a:ext cx="1645920" cy="365760"/>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Revenue / Client / Mo</a:t>
            </a:r>
            <a:endParaRPr lang="en-US" sz="900" dirty="0"/>
          </a:p>
        </p:txBody>
      </p:sp>
      <p:sp>
        <p:nvSpPr>
          <p:cNvPr id="22" name="Shape 20"/>
          <p:cNvSpPr/>
          <p:nvPr/>
        </p:nvSpPr>
        <p:spPr>
          <a:xfrm>
            <a:off x="10332720" y="5029200"/>
            <a:ext cx="1645920" cy="1280160"/>
          </a:xfrm>
          <a:prstGeom prst="rect">
            <a:avLst/>
          </a:prstGeom>
          <a:solidFill>
            <a:srgbClr val="162D5E"/>
          </a:solidFill>
          <a:ln w="12700">
            <a:solidFill>
              <a:srgbClr val="162D5E"/>
            </a:solidFill>
            <a:prstDash val="solid"/>
          </a:ln>
        </p:spPr>
      </p:sp>
      <p:sp>
        <p:nvSpPr>
          <p:cNvPr id="23" name="Shape 21"/>
          <p:cNvSpPr/>
          <p:nvPr/>
        </p:nvSpPr>
        <p:spPr>
          <a:xfrm>
            <a:off x="10332720" y="5029200"/>
            <a:ext cx="1645920" cy="45720"/>
          </a:xfrm>
          <a:prstGeom prst="rect">
            <a:avLst/>
          </a:prstGeom>
          <a:solidFill>
            <a:srgbClr val="E8C040"/>
          </a:solidFill>
          <a:ln w="12700">
            <a:solidFill>
              <a:srgbClr val="E8C040"/>
            </a:solidFill>
            <a:prstDash val="solid"/>
          </a:ln>
        </p:spPr>
      </p:sp>
      <p:sp>
        <p:nvSpPr>
          <p:cNvPr id="24" name="Text 22"/>
          <p:cNvSpPr/>
          <p:nvPr/>
        </p:nvSpPr>
        <p:spPr>
          <a:xfrm>
            <a:off x="10332720" y="5120640"/>
            <a:ext cx="1645920" cy="502920"/>
          </a:xfrm>
          <a:prstGeom prst="rect">
            <a:avLst/>
          </a:prstGeom>
          <a:noFill/>
          <a:ln/>
        </p:spPr>
        <p:txBody>
          <a:bodyPr wrap="square" lIns="0" tIns="0" rIns="0" bIns="0" rtlCol="0" anchor="ctr"/>
          <a:lstStyle/>
          <a:p>
            <a:pPr algn="ctr" indent="0" marL="0">
              <a:buNone/>
            </a:pPr>
            <a:r>
              <a:rPr lang="en-US" sz="2200" b="1" dirty="0">
                <a:solidFill>
                  <a:srgbClr val="E8C040"/>
                </a:solidFill>
                <a:latin typeface="Arial" pitchFamily="34" charset="0"/>
                <a:ea typeface="Arial" pitchFamily="34" charset="-122"/>
                <a:cs typeface="Arial" pitchFamily="34" charset="-120"/>
              </a:rPr>
              <a:t>51.3%</a:t>
            </a:r>
            <a:endParaRPr lang="en-US" sz="2200" dirty="0"/>
          </a:p>
        </p:txBody>
      </p:sp>
      <p:sp>
        <p:nvSpPr>
          <p:cNvPr id="25" name="Text 23"/>
          <p:cNvSpPr/>
          <p:nvPr/>
        </p:nvSpPr>
        <p:spPr>
          <a:xfrm>
            <a:off x="10332720" y="5650992"/>
            <a:ext cx="1645920" cy="365760"/>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Debt-to-GDP</a:t>
            </a:r>
            <a:endParaRPr lang="en-US" sz="900" dirty="0"/>
          </a:p>
        </p:txBody>
      </p:sp>
      <p:sp>
        <p:nvSpPr>
          <p:cNvPr id="26" name="Text 24"/>
          <p:cNvSpPr/>
          <p:nvPr/>
        </p:nvSpPr>
        <p:spPr>
          <a:xfrm>
            <a:off x="4846320" y="6492240"/>
            <a:ext cx="6766560" cy="274320"/>
          </a:xfrm>
          <a:prstGeom prst="rect">
            <a:avLst/>
          </a:prstGeom>
          <a:noFill/>
          <a:ln/>
        </p:spPr>
        <p:txBody>
          <a:bodyPr wrap="square" lIns="0" tIns="0" rIns="0" bIns="0" rtlCol="0" anchor="ctr"/>
          <a:lstStyle/>
          <a:p>
            <a:pPr indent="0" marL="0">
              <a:buNone/>
            </a:pPr>
            <a:r>
              <a:rPr lang="en-US" sz="900" dirty="0">
                <a:solidFill>
                  <a:srgbClr val="2A3860"/>
                </a:solidFill>
                <a:latin typeface="Arial" pitchFamily="34" charset="0"/>
                <a:ea typeface="Arial" pitchFamily="34" charset="-122"/>
                <a:cs typeface="Arial" pitchFamily="34" charset="-120"/>
              </a:rPr>
              <a:t>May 2025  ·  Confidential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2020"/>
          </a:solidFill>
          <a:ln w="12700">
            <a:solidFill>
              <a:srgbClr val="C82020"/>
            </a:solidFill>
            <a:prstDash val="solid"/>
          </a:ln>
        </p:spPr>
      </p:sp>
      <p:sp>
        <p:nvSpPr>
          <p:cNvPr id="3" name="Shape 1"/>
          <p:cNvSpPr/>
          <p:nvPr/>
        </p:nvSpPr>
        <p:spPr>
          <a:xfrm>
            <a:off x="0" y="0"/>
            <a:ext cx="12161520" cy="1005840"/>
          </a:xfrm>
          <a:prstGeom prst="rect">
            <a:avLst/>
          </a:prstGeom>
          <a:solidFill>
            <a:srgbClr val="0C2048"/>
          </a:solidFill>
          <a:ln w="12700">
            <a:solidFill>
              <a:srgbClr val="0C2048"/>
            </a:solidFill>
            <a:prstDash val="solid"/>
          </a:ln>
        </p:spPr>
      </p:sp>
      <p:sp>
        <p:nvSpPr>
          <p:cNvPr id="4" name="Text 2"/>
          <p:cNvSpPr/>
          <p:nvPr/>
        </p:nvSpPr>
        <p:spPr>
          <a:xfrm>
            <a:off x="347472" y="164592"/>
            <a:ext cx="4572000" cy="274320"/>
          </a:xfrm>
          <a:prstGeom prst="rect">
            <a:avLst/>
          </a:prstGeom>
          <a:noFill/>
          <a:ln/>
        </p:spPr>
        <p:txBody>
          <a:bodyPr wrap="square" lIns="0" tIns="0" rIns="0" bIns="0" rtlCol="0" anchor="ctr"/>
          <a:lstStyle/>
          <a:p>
            <a:pPr indent="0" marL="0">
              <a:buNone/>
            </a:pPr>
            <a:r>
              <a:rPr lang="en-US" sz="1000" b="1" spc="400" kern="0" dirty="0">
                <a:solidFill>
                  <a:srgbClr val="E8C040"/>
                </a:solidFill>
                <a:latin typeface="Arial" pitchFamily="34" charset="0"/>
                <a:ea typeface="Arial" pitchFamily="34" charset="-122"/>
                <a:cs typeface="Arial" pitchFamily="34" charset="-120"/>
              </a:rPr>
              <a:t>THE CRISIS</a:t>
            </a:r>
            <a:endParaRPr lang="en-US" sz="1000" dirty="0"/>
          </a:p>
        </p:txBody>
      </p:sp>
      <p:sp>
        <p:nvSpPr>
          <p:cNvPr id="5" name="Text 3"/>
          <p:cNvSpPr/>
          <p:nvPr/>
        </p:nvSpPr>
        <p:spPr>
          <a:xfrm>
            <a:off x="347472" y="411480"/>
            <a:ext cx="114300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Uganda's Fiscal Emergency — The Numbers That Demand Action</a:t>
            </a:r>
            <a:endParaRPr lang="en-US" sz="2200" dirty="0"/>
          </a:p>
        </p:txBody>
      </p:sp>
      <p:sp>
        <p:nvSpPr>
          <p:cNvPr id="6" name="Shape 4"/>
          <p:cNvSpPr/>
          <p:nvPr/>
        </p:nvSpPr>
        <p:spPr>
          <a:xfrm>
            <a:off x="320040" y="1280160"/>
            <a:ext cx="3657600" cy="1783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320040" y="1280160"/>
            <a:ext cx="3657600" cy="54864"/>
          </a:xfrm>
          <a:prstGeom prst="rect">
            <a:avLst/>
          </a:prstGeom>
          <a:solidFill>
            <a:srgbClr val="C82020"/>
          </a:solidFill>
          <a:ln w="12700">
            <a:solidFill>
              <a:srgbClr val="C82020"/>
            </a:solidFill>
            <a:prstDash val="solid"/>
          </a:ln>
        </p:spPr>
      </p:sp>
      <p:sp>
        <p:nvSpPr>
          <p:cNvPr id="8" name="Text 6"/>
          <p:cNvSpPr/>
          <p:nvPr/>
        </p:nvSpPr>
        <p:spPr>
          <a:xfrm>
            <a:off x="484632" y="1408176"/>
            <a:ext cx="3337560" cy="658368"/>
          </a:xfrm>
          <a:prstGeom prst="rect">
            <a:avLst/>
          </a:prstGeom>
          <a:noFill/>
          <a:ln/>
        </p:spPr>
        <p:txBody>
          <a:bodyPr wrap="square" lIns="0" tIns="0" rIns="0" bIns="0" rtlCol="0" anchor="ctr"/>
          <a:lstStyle/>
          <a:p>
            <a:pPr indent="0" marL="0">
              <a:buNone/>
            </a:pPr>
            <a:r>
              <a:rPr lang="en-US" sz="3400" b="1" dirty="0">
                <a:solidFill>
                  <a:srgbClr val="C82020"/>
                </a:solidFill>
                <a:latin typeface="Arial" pitchFamily="34" charset="0"/>
                <a:ea typeface="Arial" pitchFamily="34" charset="-122"/>
                <a:cs typeface="Arial" pitchFamily="34" charset="-120"/>
              </a:rPr>
              <a:t>UGX 116T</a:t>
            </a:r>
            <a:endParaRPr lang="en-US" sz="3400" dirty="0"/>
          </a:p>
        </p:txBody>
      </p:sp>
      <p:sp>
        <p:nvSpPr>
          <p:cNvPr id="9" name="Text 7"/>
          <p:cNvSpPr/>
          <p:nvPr/>
        </p:nvSpPr>
        <p:spPr>
          <a:xfrm>
            <a:off x="484632" y="2121408"/>
            <a:ext cx="3337560" cy="347472"/>
          </a:xfrm>
          <a:prstGeom prst="rect">
            <a:avLst/>
          </a:prstGeom>
          <a:noFill/>
          <a:ln/>
        </p:spPr>
        <p:txBody>
          <a:bodyPr wrap="square" lIns="0" tIns="0" rIns="0" bIns="0" rtlCol="0" anchor="ctr"/>
          <a:lstStyle/>
          <a:p>
            <a:pPr indent="0" marL="0">
              <a:buNone/>
            </a:pPr>
            <a:r>
              <a:rPr lang="en-US" sz="1200" b="1" dirty="0">
                <a:solidFill>
                  <a:srgbClr val="1C1C18"/>
                </a:solidFill>
                <a:latin typeface="Arial" pitchFamily="34" charset="0"/>
                <a:ea typeface="Arial" pitchFamily="34" charset="-122"/>
                <a:cs typeface="Arial" pitchFamily="34" charset="-120"/>
              </a:rPr>
              <a:t>Total Public Debt</a:t>
            </a:r>
            <a:endParaRPr lang="en-US" sz="1200" dirty="0"/>
          </a:p>
        </p:txBody>
      </p:sp>
      <p:sp>
        <p:nvSpPr>
          <p:cNvPr id="10" name="Text 8"/>
          <p:cNvSpPr/>
          <p:nvPr/>
        </p:nvSpPr>
        <p:spPr>
          <a:xfrm>
            <a:off x="484632" y="2487168"/>
            <a:ext cx="3337560" cy="365760"/>
          </a:xfrm>
          <a:prstGeom prst="rect">
            <a:avLst/>
          </a:prstGeom>
          <a:noFill/>
          <a:ln/>
        </p:spPr>
        <p:txBody>
          <a:bodyPr wrap="square" lIns="0" tIns="0" rIns="0" bIns="0" rtlCol="0" anchor="ctr"/>
          <a:lstStyle/>
          <a:p>
            <a:pPr indent="0" marL="0">
              <a:buNone/>
            </a:pPr>
            <a:r>
              <a:rPr lang="en-US" sz="1000" dirty="0">
                <a:solidFill>
                  <a:srgbClr val="5A5848"/>
                </a:solidFill>
                <a:latin typeface="Arial" pitchFamily="34" charset="0"/>
                <a:ea typeface="Arial" pitchFamily="34" charset="-122"/>
                <a:cs typeface="Arial" pitchFamily="34" charset="-120"/>
              </a:rPr>
              <a:t>51.3% of GDP · June 2025</a:t>
            </a:r>
            <a:endParaRPr lang="en-US" sz="1000" dirty="0"/>
          </a:p>
        </p:txBody>
      </p:sp>
      <p:sp>
        <p:nvSpPr>
          <p:cNvPr id="11" name="Shape 9"/>
          <p:cNvSpPr/>
          <p:nvPr/>
        </p:nvSpPr>
        <p:spPr>
          <a:xfrm>
            <a:off x="4215384" y="1280160"/>
            <a:ext cx="3657600" cy="1783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4215384" y="1280160"/>
            <a:ext cx="3657600" cy="54864"/>
          </a:xfrm>
          <a:prstGeom prst="rect">
            <a:avLst/>
          </a:prstGeom>
          <a:solidFill>
            <a:srgbClr val="C82020"/>
          </a:solidFill>
          <a:ln w="12700">
            <a:solidFill>
              <a:srgbClr val="C82020"/>
            </a:solidFill>
            <a:prstDash val="solid"/>
          </a:ln>
        </p:spPr>
      </p:sp>
      <p:sp>
        <p:nvSpPr>
          <p:cNvPr id="13" name="Text 11"/>
          <p:cNvSpPr/>
          <p:nvPr/>
        </p:nvSpPr>
        <p:spPr>
          <a:xfrm>
            <a:off x="4379976" y="1408176"/>
            <a:ext cx="3337560" cy="658368"/>
          </a:xfrm>
          <a:prstGeom prst="rect">
            <a:avLst/>
          </a:prstGeom>
          <a:noFill/>
          <a:ln/>
        </p:spPr>
        <p:txBody>
          <a:bodyPr wrap="square" lIns="0" tIns="0" rIns="0" bIns="0" rtlCol="0" anchor="ctr"/>
          <a:lstStyle/>
          <a:p>
            <a:pPr indent="0" marL="0">
              <a:buNone/>
            </a:pPr>
            <a:r>
              <a:rPr lang="en-US" sz="3400" b="1" dirty="0">
                <a:solidFill>
                  <a:srgbClr val="C82020"/>
                </a:solidFill>
                <a:latin typeface="Arial" pitchFamily="34" charset="0"/>
                <a:ea typeface="Arial" pitchFamily="34" charset="-122"/>
                <a:cs typeface="Arial" pitchFamily="34" charset="-120"/>
              </a:rPr>
              <a:t>67%</a:t>
            </a:r>
            <a:endParaRPr lang="en-US" sz="3400" dirty="0"/>
          </a:p>
        </p:txBody>
      </p:sp>
      <p:sp>
        <p:nvSpPr>
          <p:cNvPr id="14" name="Text 12"/>
          <p:cNvSpPr/>
          <p:nvPr/>
        </p:nvSpPr>
        <p:spPr>
          <a:xfrm>
            <a:off x="4379976" y="2121408"/>
            <a:ext cx="3337560" cy="347472"/>
          </a:xfrm>
          <a:prstGeom prst="rect">
            <a:avLst/>
          </a:prstGeom>
          <a:noFill/>
          <a:ln/>
        </p:spPr>
        <p:txBody>
          <a:bodyPr wrap="square" lIns="0" tIns="0" rIns="0" bIns="0" rtlCol="0" anchor="ctr"/>
          <a:lstStyle/>
          <a:p>
            <a:pPr indent="0" marL="0">
              <a:buNone/>
            </a:pPr>
            <a:r>
              <a:rPr lang="en-US" sz="1200" b="1" dirty="0">
                <a:solidFill>
                  <a:srgbClr val="1C1C18"/>
                </a:solidFill>
                <a:latin typeface="Arial" pitchFamily="34" charset="0"/>
                <a:ea typeface="Arial" pitchFamily="34" charset="-122"/>
                <a:cs typeface="Arial" pitchFamily="34" charset="-120"/>
              </a:rPr>
              <a:t>Tax Revenue → Debt Service</a:t>
            </a:r>
            <a:endParaRPr lang="en-US" sz="1200" dirty="0"/>
          </a:p>
        </p:txBody>
      </p:sp>
      <p:sp>
        <p:nvSpPr>
          <p:cNvPr id="15" name="Text 13"/>
          <p:cNvSpPr/>
          <p:nvPr/>
        </p:nvSpPr>
        <p:spPr>
          <a:xfrm>
            <a:off x="4379976" y="2487168"/>
            <a:ext cx="3337560" cy="365760"/>
          </a:xfrm>
          <a:prstGeom prst="rect">
            <a:avLst/>
          </a:prstGeom>
          <a:noFill/>
          <a:ln/>
        </p:spPr>
        <p:txBody>
          <a:bodyPr wrap="square" lIns="0" tIns="0" rIns="0" bIns="0" rtlCol="0" anchor="ctr"/>
          <a:lstStyle/>
          <a:p>
            <a:pPr indent="0" marL="0">
              <a:buNone/>
            </a:pPr>
            <a:r>
              <a:rPr lang="en-US" sz="1000" dirty="0">
                <a:solidFill>
                  <a:srgbClr val="5A5848"/>
                </a:solidFill>
                <a:latin typeface="Arial" pitchFamily="34" charset="0"/>
                <a:ea typeface="Arial" pitchFamily="34" charset="-122"/>
                <a:cs typeface="Arial" pitchFamily="34" charset="-120"/>
              </a:rPr>
              <a:t>57% of entire national budget</a:t>
            </a:r>
            <a:endParaRPr lang="en-US" sz="1000" dirty="0"/>
          </a:p>
        </p:txBody>
      </p:sp>
      <p:sp>
        <p:nvSpPr>
          <p:cNvPr id="16" name="Shape 14"/>
          <p:cNvSpPr/>
          <p:nvPr/>
        </p:nvSpPr>
        <p:spPr>
          <a:xfrm>
            <a:off x="8110728" y="1280160"/>
            <a:ext cx="3657600" cy="1783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8110728" y="1280160"/>
            <a:ext cx="3657600" cy="54864"/>
          </a:xfrm>
          <a:prstGeom prst="rect">
            <a:avLst/>
          </a:prstGeom>
          <a:solidFill>
            <a:srgbClr val="C82020"/>
          </a:solidFill>
          <a:ln w="12700">
            <a:solidFill>
              <a:srgbClr val="C82020"/>
            </a:solidFill>
            <a:prstDash val="solid"/>
          </a:ln>
        </p:spPr>
      </p:sp>
      <p:sp>
        <p:nvSpPr>
          <p:cNvPr id="18" name="Text 16"/>
          <p:cNvSpPr/>
          <p:nvPr/>
        </p:nvSpPr>
        <p:spPr>
          <a:xfrm>
            <a:off x="8275320" y="1408176"/>
            <a:ext cx="3337560" cy="658368"/>
          </a:xfrm>
          <a:prstGeom prst="rect">
            <a:avLst/>
          </a:prstGeom>
          <a:noFill/>
          <a:ln/>
        </p:spPr>
        <p:txBody>
          <a:bodyPr wrap="square" lIns="0" tIns="0" rIns="0" bIns="0" rtlCol="0" anchor="ctr"/>
          <a:lstStyle/>
          <a:p>
            <a:pPr indent="0" marL="0">
              <a:buNone/>
            </a:pPr>
            <a:r>
              <a:rPr lang="en-US" sz="3400" b="1" dirty="0">
                <a:solidFill>
                  <a:srgbClr val="C82020"/>
                </a:solidFill>
                <a:latin typeface="Arial" pitchFamily="34" charset="0"/>
                <a:ea typeface="Arial" pitchFamily="34" charset="-122"/>
                <a:cs typeface="Arial" pitchFamily="34" charset="-120"/>
              </a:rPr>
              <a:t>UGX 1.7T</a:t>
            </a:r>
            <a:endParaRPr lang="en-US" sz="3400" dirty="0"/>
          </a:p>
        </p:txBody>
      </p:sp>
      <p:sp>
        <p:nvSpPr>
          <p:cNvPr id="19" name="Text 17"/>
          <p:cNvSpPr/>
          <p:nvPr/>
        </p:nvSpPr>
        <p:spPr>
          <a:xfrm>
            <a:off x="8275320" y="2121408"/>
            <a:ext cx="3337560" cy="347472"/>
          </a:xfrm>
          <a:prstGeom prst="rect">
            <a:avLst/>
          </a:prstGeom>
          <a:noFill/>
          <a:ln/>
        </p:spPr>
        <p:txBody>
          <a:bodyPr wrap="square" lIns="0" tIns="0" rIns="0" bIns="0" rtlCol="0" anchor="ctr"/>
          <a:lstStyle/>
          <a:p>
            <a:pPr indent="0" marL="0">
              <a:buNone/>
            </a:pPr>
            <a:r>
              <a:rPr lang="en-US" sz="1200" b="1" dirty="0">
                <a:solidFill>
                  <a:srgbClr val="1C1C18"/>
                </a:solidFill>
                <a:latin typeface="Arial" pitchFamily="34" charset="0"/>
                <a:ea typeface="Arial" pitchFamily="34" charset="-122"/>
                <a:cs typeface="Arial" pitchFamily="34" charset="-120"/>
              </a:rPr>
              <a:t>2025 Revenue Shortfall</a:t>
            </a:r>
            <a:endParaRPr lang="en-US" sz="1200" dirty="0"/>
          </a:p>
        </p:txBody>
      </p:sp>
      <p:sp>
        <p:nvSpPr>
          <p:cNvPr id="20" name="Text 18"/>
          <p:cNvSpPr/>
          <p:nvPr/>
        </p:nvSpPr>
        <p:spPr>
          <a:xfrm>
            <a:off x="8275320" y="2487168"/>
            <a:ext cx="3337560" cy="365760"/>
          </a:xfrm>
          <a:prstGeom prst="rect">
            <a:avLst/>
          </a:prstGeom>
          <a:noFill/>
          <a:ln/>
        </p:spPr>
        <p:txBody>
          <a:bodyPr wrap="square" lIns="0" tIns="0" rIns="0" bIns="0" rtlCol="0" anchor="ctr"/>
          <a:lstStyle/>
          <a:p>
            <a:pPr indent="0" marL="0">
              <a:buNone/>
            </a:pPr>
            <a:r>
              <a:rPr lang="en-US" sz="1000" dirty="0">
                <a:solidFill>
                  <a:srgbClr val="5A5848"/>
                </a:solidFill>
                <a:latin typeface="Arial" pitchFamily="34" charset="0"/>
                <a:ea typeface="Arial" pitchFamily="34" charset="-122"/>
                <a:cs typeface="Arial" pitchFamily="34" charset="-120"/>
              </a:rPr>
              <a:t>URA missed its annual target</a:t>
            </a:r>
            <a:endParaRPr lang="en-US" sz="1000" dirty="0"/>
          </a:p>
        </p:txBody>
      </p:sp>
      <p:sp>
        <p:nvSpPr>
          <p:cNvPr id="21" name="Shape 19"/>
          <p:cNvSpPr/>
          <p:nvPr/>
        </p:nvSpPr>
        <p:spPr>
          <a:xfrm>
            <a:off x="320040" y="3383280"/>
            <a:ext cx="3657600" cy="1783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320040" y="3383280"/>
            <a:ext cx="3657600" cy="54864"/>
          </a:xfrm>
          <a:prstGeom prst="rect">
            <a:avLst/>
          </a:prstGeom>
          <a:solidFill>
            <a:srgbClr val="E8C040"/>
          </a:solidFill>
          <a:ln w="12700">
            <a:solidFill>
              <a:srgbClr val="E8C040"/>
            </a:solidFill>
            <a:prstDash val="solid"/>
          </a:ln>
        </p:spPr>
      </p:sp>
      <p:sp>
        <p:nvSpPr>
          <p:cNvPr id="23" name="Text 21"/>
          <p:cNvSpPr/>
          <p:nvPr/>
        </p:nvSpPr>
        <p:spPr>
          <a:xfrm>
            <a:off x="484632" y="3511296"/>
            <a:ext cx="3337560" cy="658368"/>
          </a:xfrm>
          <a:prstGeom prst="rect">
            <a:avLst/>
          </a:prstGeom>
          <a:noFill/>
          <a:ln/>
        </p:spPr>
        <p:txBody>
          <a:bodyPr wrap="square" lIns="0" tIns="0" rIns="0" bIns="0" rtlCol="0" anchor="ctr"/>
          <a:lstStyle/>
          <a:p>
            <a:pPr indent="0" marL="0">
              <a:buNone/>
            </a:pPr>
            <a:r>
              <a:rPr lang="en-US" sz="3400" b="1" dirty="0">
                <a:solidFill>
                  <a:srgbClr val="E8C040"/>
                </a:solidFill>
                <a:latin typeface="Arial" pitchFamily="34" charset="0"/>
                <a:ea typeface="Arial" pitchFamily="34" charset="-122"/>
                <a:cs typeface="Arial" pitchFamily="34" charset="-120"/>
              </a:rPr>
              <a:t>13.8%</a:t>
            </a:r>
            <a:endParaRPr lang="en-US" sz="3400" dirty="0"/>
          </a:p>
        </p:txBody>
      </p:sp>
      <p:sp>
        <p:nvSpPr>
          <p:cNvPr id="24" name="Text 22"/>
          <p:cNvSpPr/>
          <p:nvPr/>
        </p:nvSpPr>
        <p:spPr>
          <a:xfrm>
            <a:off x="484632" y="4224528"/>
            <a:ext cx="3337560" cy="347472"/>
          </a:xfrm>
          <a:prstGeom prst="rect">
            <a:avLst/>
          </a:prstGeom>
          <a:noFill/>
          <a:ln/>
        </p:spPr>
        <p:txBody>
          <a:bodyPr wrap="square" lIns="0" tIns="0" rIns="0" bIns="0" rtlCol="0" anchor="ctr"/>
          <a:lstStyle/>
          <a:p>
            <a:pPr indent="0" marL="0">
              <a:buNone/>
            </a:pPr>
            <a:r>
              <a:rPr lang="en-US" sz="1200" b="1" dirty="0">
                <a:solidFill>
                  <a:srgbClr val="1C1C18"/>
                </a:solidFill>
                <a:latin typeface="Arial" pitchFamily="34" charset="0"/>
                <a:ea typeface="Arial" pitchFamily="34" charset="-122"/>
                <a:cs typeface="Arial" pitchFamily="34" charset="-120"/>
              </a:rPr>
              <a:t>Tax-to-GDP Ratio</a:t>
            </a:r>
            <a:endParaRPr lang="en-US" sz="1200" dirty="0"/>
          </a:p>
        </p:txBody>
      </p:sp>
      <p:sp>
        <p:nvSpPr>
          <p:cNvPr id="25" name="Text 23"/>
          <p:cNvSpPr/>
          <p:nvPr/>
        </p:nvSpPr>
        <p:spPr>
          <a:xfrm>
            <a:off x="484632" y="4590288"/>
            <a:ext cx="3337560" cy="365760"/>
          </a:xfrm>
          <a:prstGeom prst="rect">
            <a:avLst/>
          </a:prstGeom>
          <a:noFill/>
          <a:ln/>
        </p:spPr>
        <p:txBody>
          <a:bodyPr wrap="square" lIns="0" tIns="0" rIns="0" bIns="0" rtlCol="0" anchor="ctr"/>
          <a:lstStyle/>
          <a:p>
            <a:pPr indent="0" marL="0">
              <a:buNone/>
            </a:pPr>
            <a:r>
              <a:rPr lang="en-US" sz="1000" dirty="0">
                <a:solidFill>
                  <a:srgbClr val="5A5848"/>
                </a:solidFill>
                <a:latin typeface="Arial" pitchFamily="34" charset="0"/>
                <a:ea typeface="Arial" pitchFamily="34" charset="-122"/>
                <a:cs typeface="Arial" pitchFamily="34" charset="-120"/>
              </a:rPr>
              <a:t>Target is 20% — gap is 6.2pp</a:t>
            </a:r>
            <a:endParaRPr lang="en-US" sz="1000" dirty="0"/>
          </a:p>
        </p:txBody>
      </p:sp>
      <p:sp>
        <p:nvSpPr>
          <p:cNvPr id="26" name="Shape 24"/>
          <p:cNvSpPr/>
          <p:nvPr/>
        </p:nvSpPr>
        <p:spPr>
          <a:xfrm>
            <a:off x="4215384" y="3383280"/>
            <a:ext cx="3657600" cy="1783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7" name="Shape 25"/>
          <p:cNvSpPr/>
          <p:nvPr/>
        </p:nvSpPr>
        <p:spPr>
          <a:xfrm>
            <a:off x="4215384" y="3383280"/>
            <a:ext cx="3657600" cy="54864"/>
          </a:xfrm>
          <a:prstGeom prst="rect">
            <a:avLst/>
          </a:prstGeom>
          <a:solidFill>
            <a:srgbClr val="E8C040"/>
          </a:solidFill>
          <a:ln w="12700">
            <a:solidFill>
              <a:srgbClr val="E8C040"/>
            </a:solidFill>
            <a:prstDash val="solid"/>
          </a:ln>
        </p:spPr>
      </p:sp>
      <p:sp>
        <p:nvSpPr>
          <p:cNvPr id="28" name="Text 26"/>
          <p:cNvSpPr/>
          <p:nvPr/>
        </p:nvSpPr>
        <p:spPr>
          <a:xfrm>
            <a:off x="4379976" y="3511296"/>
            <a:ext cx="3337560" cy="658368"/>
          </a:xfrm>
          <a:prstGeom prst="rect">
            <a:avLst/>
          </a:prstGeom>
          <a:noFill/>
          <a:ln/>
        </p:spPr>
        <p:txBody>
          <a:bodyPr wrap="square" lIns="0" tIns="0" rIns="0" bIns="0" rtlCol="0" anchor="ctr"/>
          <a:lstStyle/>
          <a:p>
            <a:pPr indent="0" marL="0">
              <a:buNone/>
            </a:pPr>
            <a:r>
              <a:rPr lang="en-US" sz="3400" b="1" dirty="0">
                <a:solidFill>
                  <a:srgbClr val="E8C040"/>
                </a:solidFill>
                <a:latin typeface="Arial" pitchFamily="34" charset="0"/>
                <a:ea typeface="Arial" pitchFamily="34" charset="-122"/>
                <a:cs typeface="Arial" pitchFamily="34" charset="-120"/>
              </a:rPr>
              <a:t>48.5%</a:t>
            </a:r>
            <a:endParaRPr lang="en-US" sz="3400" dirty="0"/>
          </a:p>
        </p:txBody>
      </p:sp>
      <p:sp>
        <p:nvSpPr>
          <p:cNvPr id="29" name="Text 27"/>
          <p:cNvSpPr/>
          <p:nvPr/>
        </p:nvSpPr>
        <p:spPr>
          <a:xfrm>
            <a:off x="4379976" y="4224528"/>
            <a:ext cx="3337560" cy="347472"/>
          </a:xfrm>
          <a:prstGeom prst="rect">
            <a:avLst/>
          </a:prstGeom>
          <a:noFill/>
          <a:ln/>
        </p:spPr>
        <p:txBody>
          <a:bodyPr wrap="square" lIns="0" tIns="0" rIns="0" bIns="0" rtlCol="0" anchor="ctr"/>
          <a:lstStyle/>
          <a:p>
            <a:pPr indent="0" marL="0">
              <a:buNone/>
            </a:pPr>
            <a:r>
              <a:rPr lang="en-US" sz="1200" b="1" dirty="0">
                <a:solidFill>
                  <a:srgbClr val="1C1C18"/>
                </a:solidFill>
                <a:latin typeface="Arial" pitchFamily="34" charset="0"/>
                <a:ea typeface="Arial" pitchFamily="34" charset="-122"/>
                <a:cs typeface="Arial" pitchFamily="34" charset="-120"/>
              </a:rPr>
              <a:t>EFRIS Compliance Rate</a:t>
            </a:r>
            <a:endParaRPr lang="en-US" sz="1200" dirty="0"/>
          </a:p>
        </p:txBody>
      </p:sp>
      <p:sp>
        <p:nvSpPr>
          <p:cNvPr id="30" name="Text 28"/>
          <p:cNvSpPr/>
          <p:nvPr/>
        </p:nvSpPr>
        <p:spPr>
          <a:xfrm>
            <a:off x="4379976" y="4590288"/>
            <a:ext cx="3337560" cy="365760"/>
          </a:xfrm>
          <a:prstGeom prst="rect">
            <a:avLst/>
          </a:prstGeom>
          <a:noFill/>
          <a:ln/>
        </p:spPr>
        <p:txBody>
          <a:bodyPr wrap="square" lIns="0" tIns="0" rIns="0" bIns="0" rtlCol="0" anchor="ctr"/>
          <a:lstStyle/>
          <a:p>
            <a:pPr indent="0" marL="0">
              <a:buNone/>
            </a:pPr>
            <a:r>
              <a:rPr lang="en-US" sz="1000" dirty="0">
                <a:solidFill>
                  <a:srgbClr val="5A5848"/>
                </a:solidFill>
                <a:latin typeface="Arial" pitchFamily="34" charset="0"/>
                <a:ea typeface="Arial" pitchFamily="34" charset="-122"/>
                <a:cs typeface="Arial" pitchFamily="34" charset="-120"/>
              </a:rPr>
              <a:t>Stuck flat for 5 months</a:t>
            </a:r>
            <a:endParaRPr lang="en-US" sz="1000" dirty="0"/>
          </a:p>
        </p:txBody>
      </p:sp>
      <p:sp>
        <p:nvSpPr>
          <p:cNvPr id="31" name="Shape 29"/>
          <p:cNvSpPr/>
          <p:nvPr/>
        </p:nvSpPr>
        <p:spPr>
          <a:xfrm>
            <a:off x="8110728" y="3383280"/>
            <a:ext cx="3657600" cy="1783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2" name="Shape 30"/>
          <p:cNvSpPr/>
          <p:nvPr/>
        </p:nvSpPr>
        <p:spPr>
          <a:xfrm>
            <a:off x="8110728" y="3383280"/>
            <a:ext cx="3657600" cy="54864"/>
          </a:xfrm>
          <a:prstGeom prst="rect">
            <a:avLst/>
          </a:prstGeom>
          <a:solidFill>
            <a:srgbClr val="E8C040"/>
          </a:solidFill>
          <a:ln w="12700">
            <a:solidFill>
              <a:srgbClr val="E8C040"/>
            </a:solidFill>
            <a:prstDash val="solid"/>
          </a:ln>
        </p:spPr>
      </p:sp>
      <p:sp>
        <p:nvSpPr>
          <p:cNvPr id="33" name="Text 31"/>
          <p:cNvSpPr/>
          <p:nvPr/>
        </p:nvSpPr>
        <p:spPr>
          <a:xfrm>
            <a:off x="8275320" y="3511296"/>
            <a:ext cx="3337560" cy="658368"/>
          </a:xfrm>
          <a:prstGeom prst="rect">
            <a:avLst/>
          </a:prstGeom>
          <a:noFill/>
          <a:ln/>
        </p:spPr>
        <p:txBody>
          <a:bodyPr wrap="square" lIns="0" tIns="0" rIns="0" bIns="0" rtlCol="0" anchor="ctr"/>
          <a:lstStyle/>
          <a:p>
            <a:pPr indent="0" marL="0">
              <a:buNone/>
            </a:pPr>
            <a:r>
              <a:rPr lang="en-US" sz="3400" b="1" dirty="0">
                <a:solidFill>
                  <a:srgbClr val="E8C040"/>
                </a:solidFill>
                <a:latin typeface="Arial" pitchFamily="34" charset="0"/>
                <a:ea typeface="Arial" pitchFamily="34" charset="-122"/>
                <a:cs typeface="Arial" pitchFamily="34" charset="-120"/>
              </a:rPr>
              <a:t>80%</a:t>
            </a:r>
            <a:endParaRPr lang="en-US" sz="3400" dirty="0"/>
          </a:p>
        </p:txBody>
      </p:sp>
      <p:sp>
        <p:nvSpPr>
          <p:cNvPr id="34" name="Text 32"/>
          <p:cNvSpPr/>
          <p:nvPr/>
        </p:nvSpPr>
        <p:spPr>
          <a:xfrm>
            <a:off x="8275320" y="4224528"/>
            <a:ext cx="3337560" cy="347472"/>
          </a:xfrm>
          <a:prstGeom prst="rect">
            <a:avLst/>
          </a:prstGeom>
          <a:noFill/>
          <a:ln/>
        </p:spPr>
        <p:txBody>
          <a:bodyPr wrap="square" lIns="0" tIns="0" rIns="0" bIns="0" rtlCol="0" anchor="ctr"/>
          <a:lstStyle/>
          <a:p>
            <a:pPr indent="0" marL="0">
              <a:buNone/>
            </a:pPr>
            <a:r>
              <a:rPr lang="en-US" sz="1200" b="1" dirty="0">
                <a:solidFill>
                  <a:srgbClr val="1C1C18"/>
                </a:solidFill>
                <a:latin typeface="Arial" pitchFamily="34" charset="0"/>
                <a:ea typeface="Arial" pitchFamily="34" charset="-122"/>
                <a:cs typeface="Arial" pitchFamily="34" charset="-120"/>
              </a:rPr>
              <a:t>Informal Economy</a:t>
            </a:r>
            <a:endParaRPr lang="en-US" sz="1200" dirty="0"/>
          </a:p>
        </p:txBody>
      </p:sp>
      <p:sp>
        <p:nvSpPr>
          <p:cNvPr id="35" name="Text 33"/>
          <p:cNvSpPr/>
          <p:nvPr/>
        </p:nvSpPr>
        <p:spPr>
          <a:xfrm>
            <a:off x="8275320" y="4590288"/>
            <a:ext cx="3337560" cy="365760"/>
          </a:xfrm>
          <a:prstGeom prst="rect">
            <a:avLst/>
          </a:prstGeom>
          <a:noFill/>
          <a:ln/>
        </p:spPr>
        <p:txBody>
          <a:bodyPr wrap="square" lIns="0" tIns="0" rIns="0" bIns="0" rtlCol="0" anchor="ctr"/>
          <a:lstStyle/>
          <a:p>
            <a:pPr indent="0" marL="0">
              <a:buNone/>
            </a:pPr>
            <a:r>
              <a:rPr lang="en-US" sz="1000" dirty="0">
                <a:solidFill>
                  <a:srgbClr val="5A5848"/>
                </a:solidFill>
                <a:latin typeface="Arial" pitchFamily="34" charset="0"/>
                <a:ea typeface="Arial" pitchFamily="34" charset="-122"/>
                <a:cs typeface="Arial" pitchFamily="34" charset="-120"/>
              </a:rPr>
              <a:t>Outside the tax net entirely</a:t>
            </a:r>
            <a:endParaRPr lang="en-US" sz="1000" dirty="0"/>
          </a:p>
        </p:txBody>
      </p:sp>
      <p:sp>
        <p:nvSpPr>
          <p:cNvPr id="36" name="Text 34"/>
          <p:cNvSpPr/>
          <p:nvPr/>
        </p:nvSpPr>
        <p:spPr>
          <a:xfrm>
            <a:off x="320040" y="6263640"/>
            <a:ext cx="11521440" cy="320040"/>
          </a:xfrm>
          <a:prstGeom prst="rect">
            <a:avLst/>
          </a:prstGeom>
          <a:noFill/>
          <a:ln/>
        </p:spPr>
        <p:txBody>
          <a:bodyPr wrap="square" lIns="0" tIns="0" rIns="0" bIns="0" rtlCol="0" anchor="ctr"/>
          <a:lstStyle/>
          <a:p>
            <a:pPr indent="0" marL="0">
              <a:buNone/>
            </a:pPr>
            <a:r>
              <a:rPr lang="en-US" sz="800" dirty="0">
                <a:solidFill>
                  <a:srgbClr val="94A3B8"/>
                </a:solidFill>
                <a:latin typeface="Arial" pitchFamily="34" charset="0"/>
                <a:ea typeface="Arial" pitchFamily="34" charset="-122"/>
                <a:cs typeface="Arial" pitchFamily="34" charset="-120"/>
              </a:rPr>
              <a:t>Source: IMF Article IV 2024 · URA Revenue Reports · Ministry of Finance Quarterly Debt Bulletin · EPRC Business Climate Index Q2 2024</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2048"/>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4B8A6"/>
          </a:solidFill>
          <a:ln w="12700">
            <a:solidFill>
              <a:srgbClr val="14B8A6"/>
            </a:solidFill>
            <a:prstDash val="solid"/>
          </a:ln>
        </p:spPr>
      </p:sp>
      <p:sp>
        <p:nvSpPr>
          <p:cNvPr id="3" name="Text 1"/>
          <p:cNvSpPr/>
          <p:nvPr/>
        </p:nvSpPr>
        <p:spPr>
          <a:xfrm>
            <a:off x="347472" y="274320"/>
            <a:ext cx="5486400" cy="365760"/>
          </a:xfrm>
          <a:prstGeom prst="rect">
            <a:avLst/>
          </a:prstGeom>
          <a:noFill/>
          <a:ln/>
        </p:spPr>
        <p:txBody>
          <a:bodyPr wrap="square" lIns="0" tIns="0" rIns="0" bIns="0" rtlCol="0" anchor="ctr"/>
          <a:lstStyle/>
          <a:p>
            <a:pPr indent="0" marL="0">
              <a:buNone/>
            </a:pPr>
            <a:r>
              <a:rPr lang="en-US" sz="1100" b="1" spc="300" kern="0" dirty="0">
                <a:solidFill>
                  <a:srgbClr val="14B8A6"/>
                </a:solidFill>
                <a:latin typeface="Arial" pitchFamily="34" charset="0"/>
                <a:ea typeface="Arial" pitchFamily="34" charset="-122"/>
                <a:cs typeface="Arial" pitchFamily="34" charset="-120"/>
              </a:rPr>
              <a:t>The Opportunity</a:t>
            </a:r>
            <a:endParaRPr lang="en-US" sz="1100" dirty="0"/>
          </a:p>
        </p:txBody>
      </p:sp>
      <p:sp>
        <p:nvSpPr>
          <p:cNvPr id="4" name="Text 2"/>
          <p:cNvSpPr/>
          <p:nvPr/>
        </p:nvSpPr>
        <p:spPr>
          <a:xfrm>
            <a:off x="347472" y="731520"/>
            <a:ext cx="7132320" cy="1645920"/>
          </a:xfrm>
          <a:prstGeom prst="rect">
            <a:avLst/>
          </a:prstGeom>
          <a:noFill/>
          <a:ln/>
        </p:spPr>
        <p:txBody>
          <a:bodyPr wrap="square" lIns="0" tIns="0" rIns="0" bIns="0" rtlCol="0" anchor="ctr"/>
          <a:lstStyle/>
          <a:p>
            <a:pPr indent="0" marL="0">
              <a:lnSpc>
                <a:spcPct val="120000"/>
              </a:lnSpc>
              <a:buNone/>
            </a:pPr>
            <a:r>
              <a:rPr lang="en-US" sz="3400" b="1" dirty="0">
                <a:solidFill>
                  <a:srgbClr val="FFFFFF"/>
                </a:solidFill>
                <a:latin typeface="Arial" pitchFamily="34" charset="0"/>
                <a:ea typeface="Arial" pitchFamily="34" charset="-122"/>
                <a:cs typeface="Arial" pitchFamily="34" charset="-120"/>
              </a:rPr>
              <a:t>UGX 5+ Trillion in Tax</a:t>
            </a:r>
            <a:endParaRPr lang="en-US" sz="3400" dirty="0"/>
          </a:p>
          <a:p>
            <a:pPr indent="0" marL="0">
              <a:lnSpc>
                <a:spcPct val="120000"/>
              </a:lnSpc>
              <a:buNone/>
            </a:pPr>
            <a:r>
              <a:rPr lang="en-US" sz="3400" b="1" dirty="0">
                <a:solidFill>
                  <a:srgbClr val="FFFFFF"/>
                </a:solidFill>
                <a:latin typeface="Arial" pitchFamily="34" charset="0"/>
                <a:ea typeface="Arial" pitchFamily="34" charset="-122"/>
                <a:cs typeface="Arial" pitchFamily="34" charset="-120"/>
              </a:rPr>
              <a:t>Goes Uncollected Every Year</a:t>
            </a:r>
            <a:endParaRPr lang="en-US" sz="3400" dirty="0"/>
          </a:p>
        </p:txBody>
      </p:sp>
      <p:sp>
        <p:nvSpPr>
          <p:cNvPr id="5" name="Shape 3"/>
          <p:cNvSpPr/>
          <p:nvPr/>
        </p:nvSpPr>
        <p:spPr>
          <a:xfrm>
            <a:off x="274320" y="2651760"/>
            <a:ext cx="5303520" cy="3931920"/>
          </a:xfrm>
          <a:prstGeom prst="rect">
            <a:avLst/>
          </a:prstGeom>
          <a:solidFill>
            <a:srgbClr val="162D5E"/>
          </a:solidFill>
          <a:ln w="12700">
            <a:solidFill>
              <a:srgbClr val="162D5E"/>
            </a:solidFill>
            <a:prstDash val="solid"/>
          </a:ln>
        </p:spPr>
      </p:sp>
      <p:sp>
        <p:nvSpPr>
          <p:cNvPr id="6" name="Text 4"/>
          <p:cNvSpPr/>
          <p:nvPr/>
        </p:nvSpPr>
        <p:spPr>
          <a:xfrm>
            <a:off x="457200" y="2788920"/>
            <a:ext cx="4937760" cy="274320"/>
          </a:xfrm>
          <a:prstGeom prst="rect">
            <a:avLst/>
          </a:prstGeom>
          <a:noFill/>
          <a:ln/>
        </p:spPr>
        <p:txBody>
          <a:bodyPr wrap="square" lIns="0" tIns="0" rIns="0" bIns="0" rtlCol="0" anchor="ctr"/>
          <a:lstStyle/>
          <a:p>
            <a:pPr indent="0" marL="0">
              <a:buNone/>
            </a:pPr>
            <a:r>
              <a:rPr lang="en-US" sz="1000" b="1" spc="200" kern="0" dirty="0">
                <a:solidFill>
                  <a:srgbClr val="14B8A6"/>
                </a:solidFill>
                <a:latin typeface="Arial" pitchFamily="34" charset="0"/>
                <a:ea typeface="Arial" pitchFamily="34" charset="-122"/>
                <a:cs typeface="Arial" pitchFamily="34" charset="-120"/>
              </a:rPr>
              <a:t>WHERE THE TAX GAP COMES FROM</a:t>
            </a:r>
            <a:endParaRPr lang="en-US" sz="1000" dirty="0"/>
          </a:p>
        </p:txBody>
      </p:sp>
      <p:sp>
        <p:nvSpPr>
          <p:cNvPr id="7" name="Shape 5"/>
          <p:cNvSpPr/>
          <p:nvPr/>
        </p:nvSpPr>
        <p:spPr>
          <a:xfrm>
            <a:off x="457200" y="3200400"/>
            <a:ext cx="54864" cy="402336"/>
          </a:xfrm>
          <a:prstGeom prst="rect">
            <a:avLst/>
          </a:prstGeom>
          <a:solidFill>
            <a:srgbClr val="C82020"/>
          </a:solidFill>
          <a:ln w="12700">
            <a:solidFill>
              <a:srgbClr val="C82020"/>
            </a:solidFill>
            <a:prstDash val="solid"/>
          </a:ln>
        </p:spPr>
      </p:sp>
      <p:sp>
        <p:nvSpPr>
          <p:cNvPr id="8" name="Text 6"/>
          <p:cNvSpPr/>
          <p:nvPr/>
        </p:nvSpPr>
        <p:spPr>
          <a:xfrm>
            <a:off x="640080" y="3236976"/>
            <a:ext cx="2926080" cy="256032"/>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Trade mis-invoicing</a:t>
            </a:r>
            <a:endParaRPr lang="en-US" sz="1100" dirty="0"/>
          </a:p>
        </p:txBody>
      </p:sp>
      <p:sp>
        <p:nvSpPr>
          <p:cNvPr id="9" name="Text 7"/>
          <p:cNvSpPr/>
          <p:nvPr/>
        </p:nvSpPr>
        <p:spPr>
          <a:xfrm>
            <a:off x="3566160" y="3236976"/>
            <a:ext cx="1737360" cy="256032"/>
          </a:xfrm>
          <a:prstGeom prst="rect">
            <a:avLst/>
          </a:prstGeom>
          <a:noFill/>
          <a:ln/>
        </p:spPr>
        <p:txBody>
          <a:bodyPr wrap="square" lIns="0" tIns="0" rIns="0" bIns="0" rtlCol="0" anchor="ctr"/>
          <a:lstStyle/>
          <a:p>
            <a:pPr algn="r" indent="0" marL="0">
              <a:buNone/>
            </a:pPr>
            <a:r>
              <a:rPr lang="en-US" sz="1100" b="1" dirty="0">
                <a:solidFill>
                  <a:srgbClr val="C82020"/>
                </a:solidFill>
                <a:latin typeface="Arial" pitchFamily="34" charset="0"/>
                <a:ea typeface="Arial" pitchFamily="34" charset="-122"/>
                <a:cs typeface="Arial" pitchFamily="34" charset="-120"/>
              </a:rPr>
              <a:t>UGX 25T+/yr</a:t>
            </a:r>
            <a:endParaRPr lang="en-US" sz="1100" dirty="0"/>
          </a:p>
        </p:txBody>
      </p:sp>
      <p:sp>
        <p:nvSpPr>
          <p:cNvPr id="10" name="Shape 8"/>
          <p:cNvSpPr/>
          <p:nvPr/>
        </p:nvSpPr>
        <p:spPr>
          <a:xfrm>
            <a:off x="457200" y="3822192"/>
            <a:ext cx="54864" cy="402336"/>
          </a:xfrm>
          <a:prstGeom prst="rect">
            <a:avLst/>
          </a:prstGeom>
          <a:solidFill>
            <a:srgbClr val="C82020"/>
          </a:solidFill>
          <a:ln w="12700">
            <a:solidFill>
              <a:srgbClr val="C82020"/>
            </a:solidFill>
            <a:prstDash val="solid"/>
          </a:ln>
        </p:spPr>
      </p:sp>
      <p:sp>
        <p:nvSpPr>
          <p:cNvPr id="11" name="Text 9"/>
          <p:cNvSpPr/>
          <p:nvPr/>
        </p:nvSpPr>
        <p:spPr>
          <a:xfrm>
            <a:off x="640080" y="3858768"/>
            <a:ext cx="2926080" cy="256032"/>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Informal sector (no EFRIS)</a:t>
            </a:r>
            <a:endParaRPr lang="en-US" sz="1100" dirty="0"/>
          </a:p>
        </p:txBody>
      </p:sp>
      <p:sp>
        <p:nvSpPr>
          <p:cNvPr id="12" name="Text 10"/>
          <p:cNvSpPr/>
          <p:nvPr/>
        </p:nvSpPr>
        <p:spPr>
          <a:xfrm>
            <a:off x="3566160" y="3858768"/>
            <a:ext cx="1737360" cy="256032"/>
          </a:xfrm>
          <a:prstGeom prst="rect">
            <a:avLst/>
          </a:prstGeom>
          <a:noFill/>
          <a:ln/>
        </p:spPr>
        <p:txBody>
          <a:bodyPr wrap="square" lIns="0" tIns="0" rIns="0" bIns="0" rtlCol="0" anchor="ctr"/>
          <a:lstStyle/>
          <a:p>
            <a:pPr algn="r" indent="0" marL="0">
              <a:buNone/>
            </a:pPr>
            <a:r>
              <a:rPr lang="en-US" sz="1100" b="1" dirty="0">
                <a:solidFill>
                  <a:srgbClr val="C82020"/>
                </a:solidFill>
                <a:latin typeface="Arial" pitchFamily="34" charset="0"/>
                <a:ea typeface="Arial" pitchFamily="34" charset="-122"/>
                <a:cs typeface="Arial" pitchFamily="34" charset="-120"/>
              </a:rPr>
              <a:t>UGX 1.8T/yr</a:t>
            </a:r>
            <a:endParaRPr lang="en-US" sz="1100" dirty="0"/>
          </a:p>
        </p:txBody>
      </p:sp>
      <p:sp>
        <p:nvSpPr>
          <p:cNvPr id="13" name="Shape 11"/>
          <p:cNvSpPr/>
          <p:nvPr/>
        </p:nvSpPr>
        <p:spPr>
          <a:xfrm>
            <a:off x="457200" y="4443984"/>
            <a:ext cx="54864" cy="402336"/>
          </a:xfrm>
          <a:prstGeom prst="rect">
            <a:avLst/>
          </a:prstGeom>
          <a:solidFill>
            <a:srgbClr val="E8C040"/>
          </a:solidFill>
          <a:ln w="12700">
            <a:solidFill>
              <a:srgbClr val="E8C040"/>
            </a:solidFill>
            <a:prstDash val="solid"/>
          </a:ln>
        </p:spPr>
      </p:sp>
      <p:sp>
        <p:nvSpPr>
          <p:cNvPr id="14" name="Text 12"/>
          <p:cNvSpPr/>
          <p:nvPr/>
        </p:nvSpPr>
        <p:spPr>
          <a:xfrm>
            <a:off x="640080" y="4480560"/>
            <a:ext cx="2926080" cy="256032"/>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Invoice suppression</a:t>
            </a:r>
            <a:endParaRPr lang="en-US" sz="1100" dirty="0"/>
          </a:p>
        </p:txBody>
      </p:sp>
      <p:sp>
        <p:nvSpPr>
          <p:cNvPr id="15" name="Text 13"/>
          <p:cNvSpPr/>
          <p:nvPr/>
        </p:nvSpPr>
        <p:spPr>
          <a:xfrm>
            <a:off x="3566160" y="4480560"/>
            <a:ext cx="1737360" cy="256032"/>
          </a:xfrm>
          <a:prstGeom prst="rect">
            <a:avLst/>
          </a:prstGeom>
          <a:noFill/>
          <a:ln/>
        </p:spPr>
        <p:txBody>
          <a:bodyPr wrap="square" lIns="0" tIns="0" rIns="0" bIns="0" rtlCol="0" anchor="ctr"/>
          <a:lstStyle/>
          <a:p>
            <a:pPr algn="r" indent="0" marL="0">
              <a:buNone/>
            </a:pPr>
            <a:r>
              <a:rPr lang="en-US" sz="1100" b="1" dirty="0">
                <a:solidFill>
                  <a:srgbClr val="E8C040"/>
                </a:solidFill>
                <a:latin typeface="Arial" pitchFamily="34" charset="0"/>
                <a:ea typeface="Arial" pitchFamily="34" charset="-122"/>
                <a:cs typeface="Arial" pitchFamily="34" charset="-120"/>
              </a:rPr>
              <a:t>UGX 840B/yr</a:t>
            </a:r>
            <a:endParaRPr lang="en-US" sz="1100" dirty="0"/>
          </a:p>
        </p:txBody>
      </p:sp>
      <p:sp>
        <p:nvSpPr>
          <p:cNvPr id="16" name="Shape 14"/>
          <p:cNvSpPr/>
          <p:nvPr/>
        </p:nvSpPr>
        <p:spPr>
          <a:xfrm>
            <a:off x="457200" y="5065776"/>
            <a:ext cx="54864" cy="402336"/>
          </a:xfrm>
          <a:prstGeom prst="rect">
            <a:avLst/>
          </a:prstGeom>
          <a:solidFill>
            <a:srgbClr val="E8C040"/>
          </a:solidFill>
          <a:ln w="12700">
            <a:solidFill>
              <a:srgbClr val="E8C040"/>
            </a:solidFill>
            <a:prstDash val="solid"/>
          </a:ln>
        </p:spPr>
      </p:sp>
      <p:sp>
        <p:nvSpPr>
          <p:cNvPr id="17" name="Text 15"/>
          <p:cNvSpPr/>
          <p:nvPr/>
        </p:nvSpPr>
        <p:spPr>
          <a:xfrm>
            <a:off x="640080" y="5102352"/>
            <a:ext cx="2926080" cy="256032"/>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False VAT refund claims</a:t>
            </a:r>
            <a:endParaRPr lang="en-US" sz="1100" dirty="0"/>
          </a:p>
        </p:txBody>
      </p:sp>
      <p:sp>
        <p:nvSpPr>
          <p:cNvPr id="18" name="Text 16"/>
          <p:cNvSpPr/>
          <p:nvPr/>
        </p:nvSpPr>
        <p:spPr>
          <a:xfrm>
            <a:off x="3566160" y="5102352"/>
            <a:ext cx="1737360" cy="256032"/>
          </a:xfrm>
          <a:prstGeom prst="rect">
            <a:avLst/>
          </a:prstGeom>
          <a:noFill/>
          <a:ln/>
        </p:spPr>
        <p:txBody>
          <a:bodyPr wrap="square" lIns="0" tIns="0" rIns="0" bIns="0" rtlCol="0" anchor="ctr"/>
          <a:lstStyle/>
          <a:p>
            <a:pPr algn="r" indent="0" marL="0">
              <a:buNone/>
            </a:pPr>
            <a:r>
              <a:rPr lang="en-US" sz="1100" b="1" dirty="0">
                <a:solidFill>
                  <a:srgbClr val="E8C040"/>
                </a:solidFill>
                <a:latin typeface="Arial" pitchFamily="34" charset="0"/>
                <a:ea typeface="Arial" pitchFamily="34" charset="-122"/>
                <a:cs typeface="Arial" pitchFamily="34" charset="-120"/>
              </a:rPr>
              <a:t>UGX 480B/yr</a:t>
            </a:r>
            <a:endParaRPr lang="en-US" sz="1100" dirty="0"/>
          </a:p>
        </p:txBody>
      </p:sp>
      <p:sp>
        <p:nvSpPr>
          <p:cNvPr id="19" name="Shape 17"/>
          <p:cNvSpPr/>
          <p:nvPr/>
        </p:nvSpPr>
        <p:spPr>
          <a:xfrm>
            <a:off x="457200" y="5687568"/>
            <a:ext cx="54864" cy="402336"/>
          </a:xfrm>
          <a:prstGeom prst="rect">
            <a:avLst/>
          </a:prstGeom>
          <a:solidFill>
            <a:srgbClr val="14B8A6"/>
          </a:solidFill>
          <a:ln w="12700">
            <a:solidFill>
              <a:srgbClr val="14B8A6"/>
            </a:solidFill>
            <a:prstDash val="solid"/>
          </a:ln>
        </p:spPr>
      </p:sp>
      <p:sp>
        <p:nvSpPr>
          <p:cNvPr id="20" name="Text 18"/>
          <p:cNvSpPr/>
          <p:nvPr/>
        </p:nvSpPr>
        <p:spPr>
          <a:xfrm>
            <a:off x="640080" y="5724144"/>
            <a:ext cx="2926080" cy="256032"/>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Dormant EFRIS accounts</a:t>
            </a:r>
            <a:endParaRPr lang="en-US" sz="1100" dirty="0"/>
          </a:p>
        </p:txBody>
      </p:sp>
      <p:sp>
        <p:nvSpPr>
          <p:cNvPr id="21" name="Text 19"/>
          <p:cNvSpPr/>
          <p:nvPr/>
        </p:nvSpPr>
        <p:spPr>
          <a:xfrm>
            <a:off x="3566160" y="5724144"/>
            <a:ext cx="1737360" cy="256032"/>
          </a:xfrm>
          <a:prstGeom prst="rect">
            <a:avLst/>
          </a:prstGeom>
          <a:noFill/>
          <a:ln/>
        </p:spPr>
        <p:txBody>
          <a:bodyPr wrap="square" lIns="0" tIns="0" rIns="0" bIns="0" rtlCol="0" anchor="ctr"/>
          <a:lstStyle/>
          <a:p>
            <a:pPr algn="r" indent="0" marL="0">
              <a:buNone/>
            </a:pPr>
            <a:r>
              <a:rPr lang="en-US" sz="1100" b="1" dirty="0">
                <a:solidFill>
                  <a:srgbClr val="14B8A6"/>
                </a:solidFill>
                <a:latin typeface="Arial" pitchFamily="34" charset="0"/>
                <a:ea typeface="Arial" pitchFamily="34" charset="-122"/>
                <a:cs typeface="Arial" pitchFamily="34" charset="-120"/>
              </a:rPr>
              <a:t>UGX 480B/yr</a:t>
            </a:r>
            <a:endParaRPr lang="en-US" sz="1100" dirty="0"/>
          </a:p>
        </p:txBody>
      </p:sp>
      <p:sp>
        <p:nvSpPr>
          <p:cNvPr id="22" name="Shape 20"/>
          <p:cNvSpPr/>
          <p:nvPr/>
        </p:nvSpPr>
        <p:spPr>
          <a:xfrm>
            <a:off x="5943600" y="2651760"/>
            <a:ext cx="5943600" cy="3931920"/>
          </a:xfrm>
          <a:prstGeom prst="rect">
            <a:avLst/>
          </a:prstGeom>
          <a:solidFill>
            <a:srgbClr val="001020"/>
          </a:solidFill>
          <a:ln w="12700">
            <a:solidFill>
              <a:srgbClr val="14B8A6"/>
            </a:solidFill>
            <a:prstDash val="solid"/>
          </a:ln>
        </p:spPr>
      </p:sp>
      <p:sp>
        <p:nvSpPr>
          <p:cNvPr id="23" name="Text 21"/>
          <p:cNvSpPr/>
          <p:nvPr/>
        </p:nvSpPr>
        <p:spPr>
          <a:xfrm>
            <a:off x="6126480" y="2788920"/>
            <a:ext cx="5577840" cy="274320"/>
          </a:xfrm>
          <a:prstGeom prst="rect">
            <a:avLst/>
          </a:prstGeom>
          <a:noFill/>
          <a:ln/>
        </p:spPr>
        <p:txBody>
          <a:bodyPr wrap="square" lIns="0" tIns="0" rIns="0" bIns="0" rtlCol="0" anchor="ctr"/>
          <a:lstStyle/>
          <a:p>
            <a:pPr indent="0" marL="0">
              <a:buNone/>
            </a:pPr>
            <a:r>
              <a:rPr lang="en-US" sz="1000" b="1" spc="200" kern="0" dirty="0">
                <a:solidFill>
                  <a:srgbClr val="14B8A6"/>
                </a:solidFill>
                <a:latin typeface="Arial" pitchFamily="34" charset="0"/>
                <a:ea typeface="Arial" pitchFamily="34" charset="-122"/>
                <a:cs typeface="Arial" pitchFamily="34" charset="-120"/>
              </a:rPr>
              <a:t>WHY NOW IS THE MOMENT</a:t>
            </a:r>
            <a:endParaRPr lang="en-US" sz="1000" dirty="0"/>
          </a:p>
        </p:txBody>
      </p:sp>
      <p:sp>
        <p:nvSpPr>
          <p:cNvPr id="24" name="Text 22"/>
          <p:cNvSpPr/>
          <p:nvPr/>
        </p:nvSpPr>
        <p:spPr>
          <a:xfrm>
            <a:off x="6126480" y="3236976"/>
            <a:ext cx="274320" cy="256032"/>
          </a:xfrm>
          <a:prstGeom prst="rect">
            <a:avLst/>
          </a:prstGeom>
          <a:noFill/>
          <a:ln/>
        </p:spPr>
        <p:txBody>
          <a:bodyPr wrap="square" lIns="0" tIns="0" rIns="0" bIns="0" rtlCol="0" anchor="ctr"/>
          <a:lstStyle/>
          <a:p>
            <a:pPr indent="0" marL="0">
              <a:buNone/>
            </a:pPr>
            <a:r>
              <a:rPr lang="en-US" sz="1100" b="1" dirty="0">
                <a:solidFill>
                  <a:srgbClr val="E8C040"/>
                </a:solidFill>
                <a:latin typeface="Arial" pitchFamily="34" charset="0"/>
                <a:ea typeface="Arial" pitchFamily="34" charset="-122"/>
                <a:cs typeface="Arial" pitchFamily="34" charset="-120"/>
              </a:rPr>
              <a:t>1.</a:t>
            </a:r>
            <a:endParaRPr lang="en-US" sz="1100" dirty="0"/>
          </a:p>
        </p:txBody>
      </p:sp>
      <p:sp>
        <p:nvSpPr>
          <p:cNvPr id="25" name="Text 23"/>
          <p:cNvSpPr/>
          <p:nvPr/>
        </p:nvSpPr>
        <p:spPr>
          <a:xfrm>
            <a:off x="6446520" y="3236976"/>
            <a:ext cx="2560320" cy="256032"/>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EFRIS July 2025 expansion</a:t>
            </a:r>
            <a:endParaRPr lang="en-US" sz="1100" dirty="0"/>
          </a:p>
        </p:txBody>
      </p:sp>
      <p:sp>
        <p:nvSpPr>
          <p:cNvPr id="26" name="Text 24"/>
          <p:cNvSpPr/>
          <p:nvPr/>
        </p:nvSpPr>
        <p:spPr>
          <a:xfrm>
            <a:off x="9006840" y="3236976"/>
            <a:ext cx="2651760" cy="256032"/>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12 new sectors mandated. 1,300+ UMA manufacturers facing compliance now.</a:t>
            </a:r>
            <a:endParaRPr lang="en-US" sz="950" dirty="0"/>
          </a:p>
        </p:txBody>
      </p:sp>
      <p:sp>
        <p:nvSpPr>
          <p:cNvPr id="27" name="Text 25"/>
          <p:cNvSpPr/>
          <p:nvPr/>
        </p:nvSpPr>
        <p:spPr>
          <a:xfrm>
            <a:off x="6126480" y="3858768"/>
            <a:ext cx="274320" cy="256032"/>
          </a:xfrm>
          <a:prstGeom prst="rect">
            <a:avLst/>
          </a:prstGeom>
          <a:noFill/>
          <a:ln/>
        </p:spPr>
        <p:txBody>
          <a:bodyPr wrap="square" lIns="0" tIns="0" rIns="0" bIns="0" rtlCol="0" anchor="ctr"/>
          <a:lstStyle/>
          <a:p>
            <a:pPr indent="0" marL="0">
              <a:buNone/>
            </a:pPr>
            <a:r>
              <a:rPr lang="en-US" sz="1100" b="1" dirty="0">
                <a:solidFill>
                  <a:srgbClr val="E8C040"/>
                </a:solidFill>
                <a:latin typeface="Arial" pitchFamily="34" charset="0"/>
                <a:ea typeface="Arial" pitchFamily="34" charset="-122"/>
                <a:cs typeface="Arial" pitchFamily="34" charset="-120"/>
              </a:rPr>
              <a:t>2.</a:t>
            </a:r>
            <a:endParaRPr lang="en-US" sz="1100" dirty="0"/>
          </a:p>
        </p:txBody>
      </p:sp>
      <p:sp>
        <p:nvSpPr>
          <p:cNvPr id="28" name="Text 26"/>
          <p:cNvSpPr/>
          <p:nvPr/>
        </p:nvSpPr>
        <p:spPr>
          <a:xfrm>
            <a:off x="6446520" y="3858768"/>
            <a:ext cx="2560320" cy="256032"/>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URA missed revenue target</a:t>
            </a:r>
            <a:endParaRPr lang="en-US" sz="1100" dirty="0"/>
          </a:p>
        </p:txBody>
      </p:sp>
      <p:sp>
        <p:nvSpPr>
          <p:cNvPr id="29" name="Text 27"/>
          <p:cNvSpPr/>
          <p:nvPr/>
        </p:nvSpPr>
        <p:spPr>
          <a:xfrm>
            <a:off x="9006840" y="3858768"/>
            <a:ext cx="2651760" cy="256032"/>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UGX 1.7T shortfall in 2025. Political pressure to close the gap.</a:t>
            </a:r>
            <a:endParaRPr lang="en-US" sz="950" dirty="0"/>
          </a:p>
        </p:txBody>
      </p:sp>
      <p:sp>
        <p:nvSpPr>
          <p:cNvPr id="30" name="Text 28"/>
          <p:cNvSpPr/>
          <p:nvPr/>
        </p:nvSpPr>
        <p:spPr>
          <a:xfrm>
            <a:off x="6126480" y="4480560"/>
            <a:ext cx="274320" cy="256032"/>
          </a:xfrm>
          <a:prstGeom prst="rect">
            <a:avLst/>
          </a:prstGeom>
          <a:noFill/>
          <a:ln/>
        </p:spPr>
        <p:txBody>
          <a:bodyPr wrap="square" lIns="0" tIns="0" rIns="0" bIns="0" rtlCol="0" anchor="ctr"/>
          <a:lstStyle/>
          <a:p>
            <a:pPr indent="0" marL="0">
              <a:buNone/>
            </a:pPr>
            <a:r>
              <a:rPr lang="en-US" sz="1100" b="1" dirty="0">
                <a:solidFill>
                  <a:srgbClr val="E8C040"/>
                </a:solidFill>
                <a:latin typeface="Arial" pitchFamily="34" charset="0"/>
                <a:ea typeface="Arial" pitchFamily="34" charset="-122"/>
                <a:cs typeface="Arial" pitchFamily="34" charset="-120"/>
              </a:rPr>
              <a:t>3.</a:t>
            </a:r>
            <a:endParaRPr lang="en-US" sz="1100" dirty="0"/>
          </a:p>
        </p:txBody>
      </p:sp>
      <p:sp>
        <p:nvSpPr>
          <p:cNvPr id="31" name="Text 29"/>
          <p:cNvSpPr/>
          <p:nvPr/>
        </p:nvSpPr>
        <p:spPr>
          <a:xfrm>
            <a:off x="6446520" y="4480560"/>
            <a:ext cx="2560320" cy="256032"/>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Nile Breweries UGX 5B fraud</a:t>
            </a:r>
            <a:endParaRPr lang="en-US" sz="1100" dirty="0"/>
          </a:p>
        </p:txBody>
      </p:sp>
      <p:sp>
        <p:nvSpPr>
          <p:cNvPr id="32" name="Text 30"/>
          <p:cNvSpPr/>
          <p:nvPr/>
        </p:nvSpPr>
        <p:spPr>
          <a:xfrm>
            <a:off x="9006840" y="4480560"/>
            <a:ext cx="2651760" cy="256032"/>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Public scandal. Every manufacturer now worried about warehouse theft.</a:t>
            </a:r>
            <a:endParaRPr lang="en-US" sz="950" dirty="0"/>
          </a:p>
        </p:txBody>
      </p:sp>
      <p:sp>
        <p:nvSpPr>
          <p:cNvPr id="33" name="Text 31"/>
          <p:cNvSpPr/>
          <p:nvPr/>
        </p:nvSpPr>
        <p:spPr>
          <a:xfrm>
            <a:off x="6126480" y="5102352"/>
            <a:ext cx="274320" cy="256032"/>
          </a:xfrm>
          <a:prstGeom prst="rect">
            <a:avLst/>
          </a:prstGeom>
          <a:noFill/>
          <a:ln/>
        </p:spPr>
        <p:txBody>
          <a:bodyPr wrap="square" lIns="0" tIns="0" rIns="0" bIns="0" rtlCol="0" anchor="ctr"/>
          <a:lstStyle/>
          <a:p>
            <a:pPr indent="0" marL="0">
              <a:buNone/>
            </a:pPr>
            <a:r>
              <a:rPr lang="en-US" sz="1100" b="1" dirty="0">
                <a:solidFill>
                  <a:srgbClr val="E8C040"/>
                </a:solidFill>
                <a:latin typeface="Arial" pitchFamily="34" charset="0"/>
                <a:ea typeface="Arial" pitchFamily="34" charset="-122"/>
                <a:cs typeface="Arial" pitchFamily="34" charset="-120"/>
              </a:rPr>
              <a:t>4.</a:t>
            </a:r>
            <a:endParaRPr lang="en-US" sz="1100" dirty="0"/>
          </a:p>
        </p:txBody>
      </p:sp>
      <p:sp>
        <p:nvSpPr>
          <p:cNvPr id="34" name="Text 32"/>
          <p:cNvSpPr/>
          <p:nvPr/>
        </p:nvSpPr>
        <p:spPr>
          <a:xfrm>
            <a:off x="6446520" y="5102352"/>
            <a:ext cx="2560320" cy="256032"/>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Debt crisis accelerating</a:t>
            </a:r>
            <a:endParaRPr lang="en-US" sz="1100" dirty="0"/>
          </a:p>
        </p:txBody>
      </p:sp>
      <p:sp>
        <p:nvSpPr>
          <p:cNvPr id="35" name="Text 33"/>
          <p:cNvSpPr/>
          <p:nvPr/>
        </p:nvSpPr>
        <p:spPr>
          <a:xfrm>
            <a:off x="9006840" y="5102352"/>
            <a:ext cx="2651760" cy="256032"/>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57% of budget on debt service. Government desperately needs more revenue.</a:t>
            </a:r>
            <a:endParaRPr lang="en-US" sz="950" dirty="0"/>
          </a:p>
        </p:txBody>
      </p:sp>
      <p:sp>
        <p:nvSpPr>
          <p:cNvPr id="36" name="Text 34"/>
          <p:cNvSpPr/>
          <p:nvPr/>
        </p:nvSpPr>
        <p:spPr>
          <a:xfrm>
            <a:off x="6126480" y="5724144"/>
            <a:ext cx="274320" cy="256032"/>
          </a:xfrm>
          <a:prstGeom prst="rect">
            <a:avLst/>
          </a:prstGeom>
          <a:noFill/>
          <a:ln/>
        </p:spPr>
        <p:txBody>
          <a:bodyPr wrap="square" lIns="0" tIns="0" rIns="0" bIns="0" rtlCol="0" anchor="ctr"/>
          <a:lstStyle/>
          <a:p>
            <a:pPr indent="0" marL="0">
              <a:buNone/>
            </a:pPr>
            <a:r>
              <a:rPr lang="en-US" sz="1100" b="1" dirty="0">
                <a:solidFill>
                  <a:srgbClr val="E8C040"/>
                </a:solidFill>
                <a:latin typeface="Arial" pitchFamily="34" charset="0"/>
                <a:ea typeface="Arial" pitchFamily="34" charset="-122"/>
                <a:cs typeface="Arial" pitchFamily="34" charset="-120"/>
              </a:rPr>
              <a:t>5.</a:t>
            </a:r>
            <a:endParaRPr lang="en-US" sz="1100" dirty="0"/>
          </a:p>
        </p:txBody>
      </p:sp>
      <p:sp>
        <p:nvSpPr>
          <p:cNvPr id="37" name="Text 35"/>
          <p:cNvSpPr/>
          <p:nvPr/>
        </p:nvSpPr>
        <p:spPr>
          <a:xfrm>
            <a:off x="6446520" y="5724144"/>
            <a:ext cx="2560320" cy="256032"/>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No local competitor</a:t>
            </a:r>
            <a:endParaRPr lang="en-US" sz="1100" dirty="0"/>
          </a:p>
        </p:txBody>
      </p:sp>
      <p:sp>
        <p:nvSpPr>
          <p:cNvPr id="38" name="Text 36"/>
          <p:cNvSpPr/>
          <p:nvPr/>
        </p:nvSpPr>
        <p:spPr>
          <a:xfrm>
            <a:off x="9006840" y="5724144"/>
            <a:ext cx="2651760" cy="256032"/>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SAP, BeatRoute — not built for Uganda's context. We own the market.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C2048"/>
          </a:solidFill>
          <a:ln w="12700">
            <a:solidFill>
              <a:srgbClr val="0C2048"/>
            </a:solidFill>
            <a:prstDash val="solid"/>
          </a:ln>
        </p:spPr>
      </p:sp>
      <p:sp>
        <p:nvSpPr>
          <p:cNvPr id="3" name="Shape 1"/>
          <p:cNvSpPr/>
          <p:nvPr/>
        </p:nvSpPr>
        <p:spPr>
          <a:xfrm>
            <a:off x="0" y="0"/>
            <a:ext cx="12161520" cy="960120"/>
          </a:xfrm>
          <a:prstGeom prst="rect">
            <a:avLst/>
          </a:prstGeom>
          <a:solidFill>
            <a:srgbClr val="0C2048"/>
          </a:solidFill>
          <a:ln w="12700">
            <a:solidFill>
              <a:srgbClr val="0C2048"/>
            </a:solidFill>
            <a:prstDash val="solid"/>
          </a:ln>
        </p:spPr>
      </p:sp>
      <p:sp>
        <p:nvSpPr>
          <p:cNvPr id="4" name="Text 2"/>
          <p:cNvSpPr/>
          <p:nvPr/>
        </p:nvSpPr>
        <p:spPr>
          <a:xfrm>
            <a:off x="347472" y="146304"/>
            <a:ext cx="4572000" cy="274320"/>
          </a:xfrm>
          <a:prstGeom prst="rect">
            <a:avLst/>
          </a:prstGeom>
          <a:noFill/>
          <a:ln/>
        </p:spPr>
        <p:txBody>
          <a:bodyPr wrap="square" lIns="0" tIns="0" rIns="0" bIns="0" rtlCol="0" anchor="ctr"/>
          <a:lstStyle/>
          <a:p>
            <a:pPr indent="0" marL="0">
              <a:buNone/>
            </a:pPr>
            <a:r>
              <a:rPr lang="en-US" sz="1000" b="1" spc="400" kern="0" dirty="0">
                <a:solidFill>
                  <a:srgbClr val="E8C040"/>
                </a:solidFill>
                <a:latin typeface="Arial" pitchFamily="34" charset="0"/>
                <a:ea typeface="Arial" pitchFamily="34" charset="-122"/>
                <a:cs typeface="Arial" pitchFamily="34" charset="-120"/>
              </a:rPr>
              <a:t>THE PLATFORM</a:t>
            </a:r>
            <a:endParaRPr lang="en-US" sz="1000" dirty="0"/>
          </a:p>
        </p:txBody>
      </p:sp>
      <p:sp>
        <p:nvSpPr>
          <p:cNvPr id="5" name="Text 3"/>
          <p:cNvSpPr/>
          <p:nvPr/>
        </p:nvSpPr>
        <p:spPr>
          <a:xfrm>
            <a:off x="347472" y="402336"/>
            <a:ext cx="11430000" cy="438912"/>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12 Products. Two Markets. One Platform.</a:t>
            </a:r>
            <a:endParaRPr lang="en-US" sz="2200" dirty="0"/>
          </a:p>
        </p:txBody>
      </p:sp>
      <p:sp>
        <p:nvSpPr>
          <p:cNvPr id="6" name="Shape 4"/>
          <p:cNvSpPr/>
          <p:nvPr/>
        </p:nvSpPr>
        <p:spPr>
          <a:xfrm>
            <a:off x="256032" y="1097280"/>
            <a:ext cx="5532120" cy="365760"/>
          </a:xfrm>
          <a:prstGeom prst="rect">
            <a:avLst/>
          </a:prstGeom>
          <a:solidFill>
            <a:srgbClr val="0A7870"/>
          </a:solidFill>
          <a:ln w="12700">
            <a:solidFill>
              <a:srgbClr val="0A7870"/>
            </a:solidFill>
            <a:prstDash val="solid"/>
          </a:ln>
        </p:spPr>
      </p:sp>
      <p:sp>
        <p:nvSpPr>
          <p:cNvPr id="7" name="Text 5"/>
          <p:cNvSpPr/>
          <p:nvPr/>
        </p:nvSpPr>
        <p:spPr>
          <a:xfrm>
            <a:off x="347472" y="1143000"/>
            <a:ext cx="5349240" cy="2743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Arial" pitchFamily="34" charset="0"/>
                <a:ea typeface="Arial" pitchFamily="34" charset="-122"/>
                <a:cs typeface="Arial" pitchFamily="34" charset="-120"/>
              </a:rPr>
              <a:t>FOR MANUFACTURERS &amp; DISTRIBUTORS  ·  9 PRODUCTS</a:t>
            </a:r>
            <a:endParaRPr lang="en-US" sz="1000" dirty="0"/>
          </a:p>
        </p:txBody>
      </p:sp>
      <p:sp>
        <p:nvSpPr>
          <p:cNvPr id="8" name="Shape 6"/>
          <p:cNvSpPr/>
          <p:nvPr/>
        </p:nvSpPr>
        <p:spPr>
          <a:xfrm>
            <a:off x="6126480" y="1097280"/>
            <a:ext cx="5760720" cy="365760"/>
          </a:xfrm>
          <a:prstGeom prst="rect">
            <a:avLst/>
          </a:prstGeom>
          <a:solidFill>
            <a:srgbClr val="0C2048"/>
          </a:solidFill>
          <a:ln w="12700">
            <a:solidFill>
              <a:srgbClr val="E8C040"/>
            </a:solidFill>
            <a:prstDash val="solid"/>
          </a:ln>
        </p:spPr>
      </p:sp>
      <p:sp>
        <p:nvSpPr>
          <p:cNvPr id="9" name="Text 7"/>
          <p:cNvSpPr/>
          <p:nvPr/>
        </p:nvSpPr>
        <p:spPr>
          <a:xfrm>
            <a:off x="6236208" y="1143000"/>
            <a:ext cx="5532120" cy="274320"/>
          </a:xfrm>
          <a:prstGeom prst="rect">
            <a:avLst/>
          </a:prstGeom>
          <a:noFill/>
          <a:ln/>
        </p:spPr>
        <p:txBody>
          <a:bodyPr wrap="square" lIns="0" tIns="0" rIns="0" bIns="0" rtlCol="0" anchor="ctr"/>
          <a:lstStyle/>
          <a:p>
            <a:pPr indent="0" marL="0">
              <a:buNone/>
            </a:pPr>
            <a:r>
              <a:rPr lang="en-US" sz="1000" b="1" spc="100" kern="0" dirty="0">
                <a:solidFill>
                  <a:srgbClr val="E8C040"/>
                </a:solidFill>
                <a:latin typeface="Arial" pitchFamily="34" charset="0"/>
                <a:ea typeface="Arial" pitchFamily="34" charset="-122"/>
                <a:cs typeface="Arial" pitchFamily="34" charset="-120"/>
              </a:rPr>
              <a:t>FOR URA · MINISTRY OF FINANCE  ·  3 PRODUCTS</a:t>
            </a:r>
            <a:endParaRPr lang="en-US" sz="1000" dirty="0"/>
          </a:p>
        </p:txBody>
      </p:sp>
      <p:sp>
        <p:nvSpPr>
          <p:cNvPr id="10" name="Shape 8"/>
          <p:cNvSpPr/>
          <p:nvPr/>
        </p:nvSpPr>
        <p:spPr>
          <a:xfrm>
            <a:off x="256032" y="1572768"/>
            <a:ext cx="1737360" cy="153619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256032" y="1572768"/>
            <a:ext cx="1737360" cy="45720"/>
          </a:xfrm>
          <a:prstGeom prst="rect">
            <a:avLst/>
          </a:prstGeom>
          <a:solidFill>
            <a:srgbClr val="0A7870"/>
          </a:solidFill>
          <a:ln w="12700">
            <a:solidFill>
              <a:srgbClr val="0A7870"/>
            </a:solidFill>
            <a:prstDash val="solid"/>
          </a:ln>
        </p:spPr>
      </p:sp>
      <p:sp>
        <p:nvSpPr>
          <p:cNvPr id="12" name="Text 10"/>
          <p:cNvSpPr/>
          <p:nvPr/>
        </p:nvSpPr>
        <p:spPr>
          <a:xfrm>
            <a:off x="256032" y="1664208"/>
            <a:ext cx="173736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3" name="Text 11"/>
          <p:cNvSpPr/>
          <p:nvPr/>
        </p:nvSpPr>
        <p:spPr>
          <a:xfrm>
            <a:off x="329184" y="2157984"/>
            <a:ext cx="1591056" cy="274320"/>
          </a:xfrm>
          <a:prstGeom prst="rect">
            <a:avLst/>
          </a:prstGeom>
          <a:noFill/>
          <a:ln/>
        </p:spPr>
        <p:txBody>
          <a:bodyPr wrap="square" lIns="0" tIns="0" rIns="0" bIns="0" rtlCol="0" anchor="ctr"/>
          <a:lstStyle/>
          <a:p>
            <a:pPr algn="ctr" indent="0" marL="0">
              <a:buNone/>
            </a:pPr>
            <a:r>
              <a:rPr lang="en-US" sz="1100" b="1" dirty="0">
                <a:solidFill>
                  <a:srgbClr val="0C2048"/>
                </a:solidFill>
                <a:latin typeface="Arial" pitchFamily="34" charset="0"/>
                <a:ea typeface="Arial" pitchFamily="34" charset="-122"/>
                <a:cs typeface="Arial" pitchFamily="34" charset="-120"/>
              </a:rPr>
              <a:t>TaxLink</a:t>
            </a:r>
            <a:endParaRPr lang="en-US" sz="1100" dirty="0"/>
          </a:p>
        </p:txBody>
      </p:sp>
      <p:sp>
        <p:nvSpPr>
          <p:cNvPr id="14" name="Text 12"/>
          <p:cNvSpPr/>
          <p:nvPr/>
        </p:nvSpPr>
        <p:spPr>
          <a:xfrm>
            <a:off x="329184" y="2450592"/>
            <a:ext cx="1591056" cy="274320"/>
          </a:xfrm>
          <a:prstGeom prst="rect">
            <a:avLst/>
          </a:prstGeom>
          <a:noFill/>
          <a:ln/>
        </p:spPr>
        <p:txBody>
          <a:bodyPr wrap="square" lIns="0" tIns="0" rIns="0" bIns="0" rtlCol="0" anchor="ctr"/>
          <a:lstStyle/>
          <a:p>
            <a:pPr algn="ctr" indent="0" marL="0">
              <a:buNone/>
            </a:pPr>
            <a:r>
              <a:rPr lang="en-US" sz="900" dirty="0">
                <a:solidFill>
                  <a:srgbClr val="5A5848"/>
                </a:solidFill>
                <a:latin typeface="Arial" pitchFamily="34" charset="0"/>
                <a:ea typeface="Arial" pitchFamily="34" charset="-122"/>
                <a:cs typeface="Arial" pitchFamily="34" charset="-120"/>
              </a:rPr>
              <a:t>EFRIS auto-filing</a:t>
            </a:r>
            <a:endParaRPr lang="en-US" sz="900" dirty="0"/>
          </a:p>
        </p:txBody>
      </p:sp>
      <p:sp>
        <p:nvSpPr>
          <p:cNvPr id="15" name="Text 13"/>
          <p:cNvSpPr/>
          <p:nvPr/>
        </p:nvSpPr>
        <p:spPr>
          <a:xfrm>
            <a:off x="329184" y="2743200"/>
            <a:ext cx="1591056" cy="256032"/>
          </a:xfrm>
          <a:prstGeom prst="rect">
            <a:avLst/>
          </a:prstGeom>
          <a:noFill/>
          <a:ln/>
        </p:spPr>
        <p:txBody>
          <a:bodyPr wrap="square" lIns="0" tIns="0" rIns="0" bIns="0" rtlCol="0" anchor="ctr"/>
          <a:lstStyle/>
          <a:p>
            <a:pPr algn="ctr" indent="0" marL="0">
              <a:buNone/>
            </a:pPr>
            <a:r>
              <a:rPr lang="en-US" sz="900" b="1" dirty="0">
                <a:solidFill>
                  <a:srgbClr val="0A7870"/>
                </a:solidFill>
                <a:latin typeface="Arial" pitchFamily="34" charset="0"/>
                <a:ea typeface="Arial" pitchFamily="34" charset="-122"/>
                <a:cs typeface="Arial" pitchFamily="34" charset="-120"/>
              </a:rPr>
              <a:t>UGX 2–5M/mo</a:t>
            </a:r>
            <a:endParaRPr lang="en-US" sz="900" dirty="0"/>
          </a:p>
        </p:txBody>
      </p:sp>
      <p:sp>
        <p:nvSpPr>
          <p:cNvPr id="16" name="Shape 14"/>
          <p:cNvSpPr/>
          <p:nvPr/>
        </p:nvSpPr>
        <p:spPr>
          <a:xfrm>
            <a:off x="2103120" y="1572768"/>
            <a:ext cx="1737360" cy="153619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2103120" y="1572768"/>
            <a:ext cx="1737360" cy="45720"/>
          </a:xfrm>
          <a:prstGeom prst="rect">
            <a:avLst/>
          </a:prstGeom>
          <a:solidFill>
            <a:srgbClr val="0A7870"/>
          </a:solidFill>
          <a:ln w="12700">
            <a:solidFill>
              <a:srgbClr val="0A7870"/>
            </a:solidFill>
            <a:prstDash val="solid"/>
          </a:ln>
        </p:spPr>
      </p:sp>
      <p:sp>
        <p:nvSpPr>
          <p:cNvPr id="18" name="Text 16"/>
          <p:cNvSpPr/>
          <p:nvPr/>
        </p:nvSpPr>
        <p:spPr>
          <a:xfrm>
            <a:off x="2103120" y="1664208"/>
            <a:ext cx="173736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2176272" y="2157984"/>
            <a:ext cx="1591056" cy="274320"/>
          </a:xfrm>
          <a:prstGeom prst="rect">
            <a:avLst/>
          </a:prstGeom>
          <a:noFill/>
          <a:ln/>
        </p:spPr>
        <p:txBody>
          <a:bodyPr wrap="square" lIns="0" tIns="0" rIns="0" bIns="0" rtlCol="0" anchor="ctr"/>
          <a:lstStyle/>
          <a:p>
            <a:pPr algn="ctr" indent="0" marL="0">
              <a:buNone/>
            </a:pPr>
            <a:r>
              <a:rPr lang="en-US" sz="1100" b="1" dirty="0">
                <a:solidFill>
                  <a:srgbClr val="0C2048"/>
                </a:solidFill>
                <a:latin typeface="Arial" pitchFamily="34" charset="0"/>
                <a:ea typeface="Arial" pitchFamily="34" charset="-122"/>
                <a:cs typeface="Arial" pitchFamily="34" charset="-120"/>
              </a:rPr>
              <a:t>CreditTrack</a:t>
            </a:r>
            <a:endParaRPr lang="en-US" sz="1100" dirty="0"/>
          </a:p>
        </p:txBody>
      </p:sp>
      <p:sp>
        <p:nvSpPr>
          <p:cNvPr id="20" name="Text 18"/>
          <p:cNvSpPr/>
          <p:nvPr/>
        </p:nvSpPr>
        <p:spPr>
          <a:xfrm>
            <a:off x="2176272" y="2450592"/>
            <a:ext cx="1591056" cy="274320"/>
          </a:xfrm>
          <a:prstGeom prst="rect">
            <a:avLst/>
          </a:prstGeom>
          <a:noFill/>
          <a:ln/>
        </p:spPr>
        <p:txBody>
          <a:bodyPr wrap="square" lIns="0" tIns="0" rIns="0" bIns="0" rtlCol="0" anchor="ctr"/>
          <a:lstStyle/>
          <a:p>
            <a:pPr algn="ctr" indent="0" marL="0">
              <a:buNone/>
            </a:pPr>
            <a:r>
              <a:rPr lang="en-US" sz="900" dirty="0">
                <a:solidFill>
                  <a:srgbClr val="5A5848"/>
                </a:solidFill>
                <a:latin typeface="Arial" pitchFamily="34" charset="0"/>
                <a:ea typeface="Arial" pitchFamily="34" charset="-122"/>
                <a:cs typeface="Arial" pitchFamily="34" charset="-120"/>
              </a:rPr>
              <a:t>Distributor debt</a:t>
            </a:r>
            <a:endParaRPr lang="en-US" sz="900" dirty="0"/>
          </a:p>
        </p:txBody>
      </p:sp>
      <p:sp>
        <p:nvSpPr>
          <p:cNvPr id="21" name="Text 19"/>
          <p:cNvSpPr/>
          <p:nvPr/>
        </p:nvSpPr>
        <p:spPr>
          <a:xfrm>
            <a:off x="2176272" y="2743200"/>
            <a:ext cx="1591056" cy="256032"/>
          </a:xfrm>
          <a:prstGeom prst="rect">
            <a:avLst/>
          </a:prstGeom>
          <a:noFill/>
          <a:ln/>
        </p:spPr>
        <p:txBody>
          <a:bodyPr wrap="square" lIns="0" tIns="0" rIns="0" bIns="0" rtlCol="0" anchor="ctr"/>
          <a:lstStyle/>
          <a:p>
            <a:pPr algn="ctr" indent="0" marL="0">
              <a:buNone/>
            </a:pPr>
            <a:r>
              <a:rPr lang="en-US" sz="900" b="1" dirty="0">
                <a:solidFill>
                  <a:srgbClr val="0A7870"/>
                </a:solidFill>
                <a:latin typeface="Arial" pitchFamily="34" charset="0"/>
                <a:ea typeface="Arial" pitchFamily="34" charset="-122"/>
                <a:cs typeface="Arial" pitchFamily="34" charset="-120"/>
              </a:rPr>
              <a:t>UGX 2–4M/mo</a:t>
            </a:r>
            <a:endParaRPr lang="en-US" sz="900" dirty="0"/>
          </a:p>
        </p:txBody>
      </p:sp>
      <p:sp>
        <p:nvSpPr>
          <p:cNvPr id="22" name="Shape 20"/>
          <p:cNvSpPr/>
          <p:nvPr/>
        </p:nvSpPr>
        <p:spPr>
          <a:xfrm>
            <a:off x="3950208" y="1572768"/>
            <a:ext cx="1737360" cy="153619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3950208" y="1572768"/>
            <a:ext cx="1737360" cy="45720"/>
          </a:xfrm>
          <a:prstGeom prst="rect">
            <a:avLst/>
          </a:prstGeom>
          <a:solidFill>
            <a:srgbClr val="0A7870"/>
          </a:solidFill>
          <a:ln w="12700">
            <a:solidFill>
              <a:srgbClr val="0A7870"/>
            </a:solidFill>
            <a:prstDash val="solid"/>
          </a:ln>
        </p:spPr>
      </p:sp>
      <p:sp>
        <p:nvSpPr>
          <p:cNvPr id="24" name="Text 22"/>
          <p:cNvSpPr/>
          <p:nvPr/>
        </p:nvSpPr>
        <p:spPr>
          <a:xfrm>
            <a:off x="3950208" y="1664208"/>
            <a:ext cx="173736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5" name="Text 23"/>
          <p:cNvSpPr/>
          <p:nvPr/>
        </p:nvSpPr>
        <p:spPr>
          <a:xfrm>
            <a:off x="4023360" y="2157984"/>
            <a:ext cx="1591056" cy="274320"/>
          </a:xfrm>
          <a:prstGeom prst="rect">
            <a:avLst/>
          </a:prstGeom>
          <a:noFill/>
          <a:ln/>
        </p:spPr>
        <p:txBody>
          <a:bodyPr wrap="square" lIns="0" tIns="0" rIns="0" bIns="0" rtlCol="0" anchor="ctr"/>
          <a:lstStyle/>
          <a:p>
            <a:pPr algn="ctr" indent="0" marL="0">
              <a:buNone/>
            </a:pPr>
            <a:r>
              <a:rPr lang="en-US" sz="1100" b="1" dirty="0">
                <a:solidFill>
                  <a:srgbClr val="0C2048"/>
                </a:solidFill>
                <a:latin typeface="Arial" pitchFamily="34" charset="0"/>
                <a:ea typeface="Arial" pitchFamily="34" charset="-122"/>
                <a:cs typeface="Arial" pitchFamily="34" charset="-120"/>
              </a:rPr>
              <a:t>VerifyUG</a:t>
            </a:r>
            <a:endParaRPr lang="en-US" sz="1100" dirty="0"/>
          </a:p>
        </p:txBody>
      </p:sp>
      <p:sp>
        <p:nvSpPr>
          <p:cNvPr id="26" name="Text 24"/>
          <p:cNvSpPr/>
          <p:nvPr/>
        </p:nvSpPr>
        <p:spPr>
          <a:xfrm>
            <a:off x="4023360" y="2450592"/>
            <a:ext cx="1591056" cy="274320"/>
          </a:xfrm>
          <a:prstGeom prst="rect">
            <a:avLst/>
          </a:prstGeom>
          <a:noFill/>
          <a:ln/>
        </p:spPr>
        <p:txBody>
          <a:bodyPr wrap="square" lIns="0" tIns="0" rIns="0" bIns="0" rtlCol="0" anchor="ctr"/>
          <a:lstStyle/>
          <a:p>
            <a:pPr algn="ctr" indent="0" marL="0">
              <a:buNone/>
            </a:pPr>
            <a:r>
              <a:rPr lang="en-US" sz="900" dirty="0">
                <a:solidFill>
                  <a:srgbClr val="5A5848"/>
                </a:solidFill>
                <a:latin typeface="Arial" pitchFamily="34" charset="0"/>
                <a:ea typeface="Arial" pitchFamily="34" charset="-122"/>
                <a:cs typeface="Arial" pitchFamily="34" charset="-120"/>
              </a:rPr>
              <a:t>Anti-counterfeit QR</a:t>
            </a:r>
            <a:endParaRPr lang="en-US" sz="900" dirty="0"/>
          </a:p>
        </p:txBody>
      </p:sp>
      <p:sp>
        <p:nvSpPr>
          <p:cNvPr id="27" name="Text 25"/>
          <p:cNvSpPr/>
          <p:nvPr/>
        </p:nvSpPr>
        <p:spPr>
          <a:xfrm>
            <a:off x="4023360" y="2743200"/>
            <a:ext cx="1591056" cy="256032"/>
          </a:xfrm>
          <a:prstGeom prst="rect">
            <a:avLst/>
          </a:prstGeom>
          <a:noFill/>
          <a:ln/>
        </p:spPr>
        <p:txBody>
          <a:bodyPr wrap="square" lIns="0" tIns="0" rIns="0" bIns="0" rtlCol="0" anchor="ctr"/>
          <a:lstStyle/>
          <a:p>
            <a:pPr algn="ctr" indent="0" marL="0">
              <a:buNone/>
            </a:pPr>
            <a:r>
              <a:rPr lang="en-US" sz="900" b="1" dirty="0">
                <a:solidFill>
                  <a:srgbClr val="0A7870"/>
                </a:solidFill>
                <a:latin typeface="Arial" pitchFamily="34" charset="0"/>
                <a:ea typeface="Arial" pitchFamily="34" charset="-122"/>
                <a:cs typeface="Arial" pitchFamily="34" charset="-120"/>
              </a:rPr>
              <a:t>UGX 50–100M/mo</a:t>
            </a:r>
            <a:endParaRPr lang="en-US" sz="900" dirty="0"/>
          </a:p>
        </p:txBody>
      </p:sp>
      <p:sp>
        <p:nvSpPr>
          <p:cNvPr id="28" name="Shape 26"/>
          <p:cNvSpPr/>
          <p:nvPr/>
        </p:nvSpPr>
        <p:spPr>
          <a:xfrm>
            <a:off x="256032" y="3255264"/>
            <a:ext cx="1737360" cy="153619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9" name="Shape 27"/>
          <p:cNvSpPr/>
          <p:nvPr/>
        </p:nvSpPr>
        <p:spPr>
          <a:xfrm>
            <a:off x="256032" y="3255264"/>
            <a:ext cx="1737360" cy="45720"/>
          </a:xfrm>
          <a:prstGeom prst="rect">
            <a:avLst/>
          </a:prstGeom>
          <a:solidFill>
            <a:srgbClr val="0A7870"/>
          </a:solidFill>
          <a:ln w="12700">
            <a:solidFill>
              <a:srgbClr val="0A7870"/>
            </a:solidFill>
            <a:prstDash val="solid"/>
          </a:ln>
        </p:spPr>
      </p:sp>
      <p:sp>
        <p:nvSpPr>
          <p:cNvPr id="30" name="Text 28"/>
          <p:cNvSpPr/>
          <p:nvPr/>
        </p:nvSpPr>
        <p:spPr>
          <a:xfrm>
            <a:off x="256032" y="3346704"/>
            <a:ext cx="173736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1" name="Text 29"/>
          <p:cNvSpPr/>
          <p:nvPr/>
        </p:nvSpPr>
        <p:spPr>
          <a:xfrm>
            <a:off x="329184" y="3840480"/>
            <a:ext cx="1591056" cy="274320"/>
          </a:xfrm>
          <a:prstGeom prst="rect">
            <a:avLst/>
          </a:prstGeom>
          <a:noFill/>
          <a:ln/>
        </p:spPr>
        <p:txBody>
          <a:bodyPr wrap="square" lIns="0" tIns="0" rIns="0" bIns="0" rtlCol="0" anchor="ctr"/>
          <a:lstStyle/>
          <a:p>
            <a:pPr algn="ctr" indent="0" marL="0">
              <a:buNone/>
            </a:pPr>
            <a:r>
              <a:rPr lang="en-US" sz="1100" b="1" dirty="0">
                <a:solidFill>
                  <a:srgbClr val="0C2048"/>
                </a:solidFill>
                <a:latin typeface="Arial" pitchFamily="34" charset="0"/>
                <a:ea typeface="Arial" pitchFamily="34" charset="-122"/>
                <a:cs typeface="Arial" pitchFamily="34" charset="-120"/>
              </a:rPr>
              <a:t>GuardPost</a:t>
            </a:r>
            <a:endParaRPr lang="en-US" sz="1100" dirty="0"/>
          </a:p>
        </p:txBody>
      </p:sp>
      <p:sp>
        <p:nvSpPr>
          <p:cNvPr id="32" name="Text 30"/>
          <p:cNvSpPr/>
          <p:nvPr/>
        </p:nvSpPr>
        <p:spPr>
          <a:xfrm>
            <a:off x="329184" y="4133088"/>
            <a:ext cx="1591056" cy="274320"/>
          </a:xfrm>
          <a:prstGeom prst="rect">
            <a:avLst/>
          </a:prstGeom>
          <a:noFill/>
          <a:ln/>
        </p:spPr>
        <p:txBody>
          <a:bodyPr wrap="square" lIns="0" tIns="0" rIns="0" bIns="0" rtlCol="0" anchor="ctr"/>
          <a:lstStyle/>
          <a:p>
            <a:pPr algn="ctr" indent="0" marL="0">
              <a:buNone/>
            </a:pPr>
            <a:r>
              <a:rPr lang="en-US" sz="900" dirty="0">
                <a:solidFill>
                  <a:srgbClr val="5A5848"/>
                </a:solidFill>
                <a:latin typeface="Arial" pitchFamily="34" charset="0"/>
                <a:ea typeface="Arial" pitchFamily="34" charset="-122"/>
                <a:cs typeface="Arial" pitchFamily="34" charset="-120"/>
              </a:rPr>
              <a:t>Warehouse fraud</a:t>
            </a:r>
            <a:endParaRPr lang="en-US" sz="900" dirty="0"/>
          </a:p>
        </p:txBody>
      </p:sp>
      <p:sp>
        <p:nvSpPr>
          <p:cNvPr id="33" name="Text 31"/>
          <p:cNvSpPr/>
          <p:nvPr/>
        </p:nvSpPr>
        <p:spPr>
          <a:xfrm>
            <a:off x="329184" y="4425696"/>
            <a:ext cx="1591056" cy="256032"/>
          </a:xfrm>
          <a:prstGeom prst="rect">
            <a:avLst/>
          </a:prstGeom>
          <a:noFill/>
          <a:ln/>
        </p:spPr>
        <p:txBody>
          <a:bodyPr wrap="square" lIns="0" tIns="0" rIns="0" bIns="0" rtlCol="0" anchor="ctr"/>
          <a:lstStyle/>
          <a:p>
            <a:pPr algn="ctr" indent="0" marL="0">
              <a:buNone/>
            </a:pPr>
            <a:r>
              <a:rPr lang="en-US" sz="900" b="1" dirty="0">
                <a:solidFill>
                  <a:srgbClr val="0A7870"/>
                </a:solidFill>
                <a:latin typeface="Arial" pitchFamily="34" charset="0"/>
                <a:ea typeface="Arial" pitchFamily="34" charset="-122"/>
                <a:cs typeface="Arial" pitchFamily="34" charset="-120"/>
              </a:rPr>
              <a:t>UGX 3–8M/mo</a:t>
            </a:r>
            <a:endParaRPr lang="en-US" sz="900" dirty="0"/>
          </a:p>
        </p:txBody>
      </p:sp>
      <p:sp>
        <p:nvSpPr>
          <p:cNvPr id="34" name="Shape 32"/>
          <p:cNvSpPr/>
          <p:nvPr/>
        </p:nvSpPr>
        <p:spPr>
          <a:xfrm>
            <a:off x="2103120" y="3255264"/>
            <a:ext cx="1737360" cy="153619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5" name="Shape 33"/>
          <p:cNvSpPr/>
          <p:nvPr/>
        </p:nvSpPr>
        <p:spPr>
          <a:xfrm>
            <a:off x="2103120" y="3255264"/>
            <a:ext cx="1737360" cy="45720"/>
          </a:xfrm>
          <a:prstGeom prst="rect">
            <a:avLst/>
          </a:prstGeom>
          <a:solidFill>
            <a:srgbClr val="0A7870"/>
          </a:solidFill>
          <a:ln w="12700">
            <a:solidFill>
              <a:srgbClr val="0A7870"/>
            </a:solidFill>
            <a:prstDash val="solid"/>
          </a:ln>
        </p:spPr>
      </p:sp>
      <p:sp>
        <p:nvSpPr>
          <p:cNvPr id="36" name="Text 34"/>
          <p:cNvSpPr/>
          <p:nvPr/>
        </p:nvSpPr>
        <p:spPr>
          <a:xfrm>
            <a:off x="2103120" y="3346704"/>
            <a:ext cx="173736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7" name="Text 35"/>
          <p:cNvSpPr/>
          <p:nvPr/>
        </p:nvSpPr>
        <p:spPr>
          <a:xfrm>
            <a:off x="2176272" y="3840480"/>
            <a:ext cx="1591056" cy="274320"/>
          </a:xfrm>
          <a:prstGeom prst="rect">
            <a:avLst/>
          </a:prstGeom>
          <a:noFill/>
          <a:ln/>
        </p:spPr>
        <p:txBody>
          <a:bodyPr wrap="square" lIns="0" tIns="0" rIns="0" bIns="0" rtlCol="0" anchor="ctr"/>
          <a:lstStyle/>
          <a:p>
            <a:pPr algn="ctr" indent="0" marL="0">
              <a:buNone/>
            </a:pPr>
            <a:r>
              <a:rPr lang="en-US" sz="1100" b="1" dirty="0">
                <a:solidFill>
                  <a:srgbClr val="0C2048"/>
                </a:solidFill>
                <a:latin typeface="Arial" pitchFamily="34" charset="0"/>
                <a:ea typeface="Arial" pitchFamily="34" charset="-122"/>
                <a:cs typeface="Arial" pitchFamily="34" charset="-120"/>
              </a:rPr>
              <a:t>PayrollGuard</a:t>
            </a:r>
            <a:endParaRPr lang="en-US" sz="1100" dirty="0"/>
          </a:p>
        </p:txBody>
      </p:sp>
      <p:sp>
        <p:nvSpPr>
          <p:cNvPr id="38" name="Text 36"/>
          <p:cNvSpPr/>
          <p:nvPr/>
        </p:nvSpPr>
        <p:spPr>
          <a:xfrm>
            <a:off x="2176272" y="4133088"/>
            <a:ext cx="1591056" cy="274320"/>
          </a:xfrm>
          <a:prstGeom prst="rect">
            <a:avLst/>
          </a:prstGeom>
          <a:noFill/>
          <a:ln/>
        </p:spPr>
        <p:txBody>
          <a:bodyPr wrap="square" lIns="0" tIns="0" rIns="0" bIns="0" rtlCol="0" anchor="ctr"/>
          <a:lstStyle/>
          <a:p>
            <a:pPr algn="ctr" indent="0" marL="0">
              <a:buNone/>
            </a:pPr>
            <a:r>
              <a:rPr lang="en-US" sz="900" dirty="0">
                <a:solidFill>
                  <a:srgbClr val="5A5848"/>
                </a:solidFill>
                <a:latin typeface="Arial" pitchFamily="34" charset="0"/>
                <a:ea typeface="Arial" pitchFamily="34" charset="-122"/>
                <a:cs typeface="Arial" pitchFamily="34" charset="-120"/>
              </a:rPr>
              <a:t>PAYE/NSSF auto</a:t>
            </a:r>
            <a:endParaRPr lang="en-US" sz="900" dirty="0"/>
          </a:p>
        </p:txBody>
      </p:sp>
      <p:sp>
        <p:nvSpPr>
          <p:cNvPr id="39" name="Text 37"/>
          <p:cNvSpPr/>
          <p:nvPr/>
        </p:nvSpPr>
        <p:spPr>
          <a:xfrm>
            <a:off x="2176272" y="4425696"/>
            <a:ext cx="1591056" cy="256032"/>
          </a:xfrm>
          <a:prstGeom prst="rect">
            <a:avLst/>
          </a:prstGeom>
          <a:noFill/>
          <a:ln/>
        </p:spPr>
        <p:txBody>
          <a:bodyPr wrap="square" lIns="0" tIns="0" rIns="0" bIns="0" rtlCol="0" anchor="ctr"/>
          <a:lstStyle/>
          <a:p>
            <a:pPr algn="ctr" indent="0" marL="0">
              <a:buNone/>
            </a:pPr>
            <a:r>
              <a:rPr lang="en-US" sz="900" b="1" dirty="0">
                <a:solidFill>
                  <a:srgbClr val="0A7870"/>
                </a:solidFill>
                <a:latin typeface="Arial" pitchFamily="34" charset="0"/>
                <a:ea typeface="Arial" pitchFamily="34" charset="-122"/>
                <a:cs typeface="Arial" pitchFamily="34" charset="-120"/>
              </a:rPr>
              <a:t>UGX 2–4M/mo</a:t>
            </a:r>
            <a:endParaRPr lang="en-US" sz="900" dirty="0"/>
          </a:p>
        </p:txBody>
      </p:sp>
      <p:sp>
        <p:nvSpPr>
          <p:cNvPr id="40" name="Shape 38"/>
          <p:cNvSpPr/>
          <p:nvPr/>
        </p:nvSpPr>
        <p:spPr>
          <a:xfrm>
            <a:off x="3950208" y="3255264"/>
            <a:ext cx="1737360" cy="153619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1" name="Shape 39"/>
          <p:cNvSpPr/>
          <p:nvPr/>
        </p:nvSpPr>
        <p:spPr>
          <a:xfrm>
            <a:off x="3950208" y="3255264"/>
            <a:ext cx="1737360" cy="45720"/>
          </a:xfrm>
          <a:prstGeom prst="rect">
            <a:avLst/>
          </a:prstGeom>
          <a:solidFill>
            <a:srgbClr val="0A7870"/>
          </a:solidFill>
          <a:ln w="12700">
            <a:solidFill>
              <a:srgbClr val="0A7870"/>
            </a:solidFill>
            <a:prstDash val="solid"/>
          </a:ln>
        </p:spPr>
      </p:sp>
      <p:sp>
        <p:nvSpPr>
          <p:cNvPr id="42" name="Text 40"/>
          <p:cNvSpPr/>
          <p:nvPr/>
        </p:nvSpPr>
        <p:spPr>
          <a:xfrm>
            <a:off x="3950208" y="3346704"/>
            <a:ext cx="173736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43" name="Text 41"/>
          <p:cNvSpPr/>
          <p:nvPr/>
        </p:nvSpPr>
        <p:spPr>
          <a:xfrm>
            <a:off x="4023360" y="3840480"/>
            <a:ext cx="1591056" cy="274320"/>
          </a:xfrm>
          <a:prstGeom prst="rect">
            <a:avLst/>
          </a:prstGeom>
          <a:noFill/>
          <a:ln/>
        </p:spPr>
        <p:txBody>
          <a:bodyPr wrap="square" lIns="0" tIns="0" rIns="0" bIns="0" rtlCol="0" anchor="ctr"/>
          <a:lstStyle/>
          <a:p>
            <a:pPr algn="ctr" indent="0" marL="0">
              <a:buNone/>
            </a:pPr>
            <a:r>
              <a:rPr lang="en-US" sz="1100" b="1" dirty="0">
                <a:solidFill>
                  <a:srgbClr val="0C2048"/>
                </a:solidFill>
                <a:latin typeface="Arial" pitchFamily="34" charset="0"/>
                <a:ea typeface="Arial" pitchFamily="34" charset="-122"/>
                <a:cs typeface="Arial" pitchFamily="34" charset="-120"/>
              </a:rPr>
              <a:t>DeliverUG</a:t>
            </a:r>
            <a:endParaRPr lang="en-US" sz="1100" dirty="0"/>
          </a:p>
        </p:txBody>
      </p:sp>
      <p:sp>
        <p:nvSpPr>
          <p:cNvPr id="44" name="Text 42"/>
          <p:cNvSpPr/>
          <p:nvPr/>
        </p:nvSpPr>
        <p:spPr>
          <a:xfrm>
            <a:off x="4023360" y="4133088"/>
            <a:ext cx="1591056" cy="274320"/>
          </a:xfrm>
          <a:prstGeom prst="rect">
            <a:avLst/>
          </a:prstGeom>
          <a:noFill/>
          <a:ln/>
        </p:spPr>
        <p:txBody>
          <a:bodyPr wrap="square" lIns="0" tIns="0" rIns="0" bIns="0" rtlCol="0" anchor="ctr"/>
          <a:lstStyle/>
          <a:p>
            <a:pPr algn="ctr" indent="0" marL="0">
              <a:buNone/>
            </a:pPr>
            <a:r>
              <a:rPr lang="en-US" sz="900" dirty="0">
                <a:solidFill>
                  <a:srgbClr val="5A5848"/>
                </a:solidFill>
                <a:latin typeface="Arial" pitchFamily="34" charset="0"/>
                <a:ea typeface="Arial" pitchFamily="34" charset="-122"/>
                <a:cs typeface="Arial" pitchFamily="34" charset="-120"/>
              </a:rPr>
              <a:t>Last mile GPS</a:t>
            </a:r>
            <a:endParaRPr lang="en-US" sz="900" dirty="0"/>
          </a:p>
        </p:txBody>
      </p:sp>
      <p:sp>
        <p:nvSpPr>
          <p:cNvPr id="45" name="Text 43"/>
          <p:cNvSpPr/>
          <p:nvPr/>
        </p:nvSpPr>
        <p:spPr>
          <a:xfrm>
            <a:off x="4023360" y="4425696"/>
            <a:ext cx="1591056" cy="256032"/>
          </a:xfrm>
          <a:prstGeom prst="rect">
            <a:avLst/>
          </a:prstGeom>
          <a:noFill/>
          <a:ln/>
        </p:spPr>
        <p:txBody>
          <a:bodyPr wrap="square" lIns="0" tIns="0" rIns="0" bIns="0" rtlCol="0" anchor="ctr"/>
          <a:lstStyle/>
          <a:p>
            <a:pPr algn="ctr" indent="0" marL="0">
              <a:buNone/>
            </a:pPr>
            <a:r>
              <a:rPr lang="en-US" sz="900" b="1" dirty="0">
                <a:solidFill>
                  <a:srgbClr val="0A7870"/>
                </a:solidFill>
                <a:latin typeface="Arial" pitchFamily="34" charset="0"/>
                <a:ea typeface="Arial" pitchFamily="34" charset="-122"/>
                <a:cs typeface="Arial" pitchFamily="34" charset="-120"/>
              </a:rPr>
              <a:t>UGX 1–3M/mo</a:t>
            </a:r>
            <a:endParaRPr lang="en-US" sz="900" dirty="0"/>
          </a:p>
        </p:txBody>
      </p:sp>
      <p:sp>
        <p:nvSpPr>
          <p:cNvPr id="46" name="Shape 44"/>
          <p:cNvSpPr/>
          <p:nvPr/>
        </p:nvSpPr>
        <p:spPr>
          <a:xfrm>
            <a:off x="256032" y="4937760"/>
            <a:ext cx="1737360" cy="153619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7" name="Shape 45"/>
          <p:cNvSpPr/>
          <p:nvPr/>
        </p:nvSpPr>
        <p:spPr>
          <a:xfrm>
            <a:off x="256032" y="4937760"/>
            <a:ext cx="1737360" cy="45720"/>
          </a:xfrm>
          <a:prstGeom prst="rect">
            <a:avLst/>
          </a:prstGeom>
          <a:solidFill>
            <a:srgbClr val="0A7870"/>
          </a:solidFill>
          <a:ln w="12700">
            <a:solidFill>
              <a:srgbClr val="0A7870"/>
            </a:solidFill>
            <a:prstDash val="solid"/>
          </a:ln>
        </p:spPr>
      </p:sp>
      <p:sp>
        <p:nvSpPr>
          <p:cNvPr id="48" name="Text 46"/>
          <p:cNvSpPr/>
          <p:nvPr/>
        </p:nvSpPr>
        <p:spPr>
          <a:xfrm>
            <a:off x="256032" y="5029200"/>
            <a:ext cx="173736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49" name="Text 47"/>
          <p:cNvSpPr/>
          <p:nvPr/>
        </p:nvSpPr>
        <p:spPr>
          <a:xfrm>
            <a:off x="329184" y="5522976"/>
            <a:ext cx="1591056" cy="274320"/>
          </a:xfrm>
          <a:prstGeom prst="rect">
            <a:avLst/>
          </a:prstGeom>
          <a:noFill/>
          <a:ln/>
        </p:spPr>
        <p:txBody>
          <a:bodyPr wrap="square" lIns="0" tIns="0" rIns="0" bIns="0" rtlCol="0" anchor="ctr"/>
          <a:lstStyle/>
          <a:p>
            <a:pPr algn="ctr" indent="0" marL="0">
              <a:buNone/>
            </a:pPr>
            <a:r>
              <a:rPr lang="en-US" sz="1100" b="1" dirty="0">
                <a:solidFill>
                  <a:srgbClr val="0C2048"/>
                </a:solidFill>
                <a:latin typeface="Arial" pitchFamily="34" charset="0"/>
                <a:ea typeface="Arial" pitchFamily="34" charset="-122"/>
                <a:cs typeface="Arial" pitchFamily="34" charset="-120"/>
              </a:rPr>
              <a:t>ProcureGuard</a:t>
            </a:r>
            <a:endParaRPr lang="en-US" sz="1100" dirty="0"/>
          </a:p>
        </p:txBody>
      </p:sp>
      <p:sp>
        <p:nvSpPr>
          <p:cNvPr id="50" name="Text 48"/>
          <p:cNvSpPr/>
          <p:nvPr/>
        </p:nvSpPr>
        <p:spPr>
          <a:xfrm>
            <a:off x="329184" y="5815584"/>
            <a:ext cx="1591056" cy="274320"/>
          </a:xfrm>
          <a:prstGeom prst="rect">
            <a:avLst/>
          </a:prstGeom>
          <a:noFill/>
          <a:ln/>
        </p:spPr>
        <p:txBody>
          <a:bodyPr wrap="square" lIns="0" tIns="0" rIns="0" bIns="0" rtlCol="0" anchor="ctr"/>
          <a:lstStyle/>
          <a:p>
            <a:pPr algn="ctr" indent="0" marL="0">
              <a:buNone/>
            </a:pPr>
            <a:r>
              <a:rPr lang="en-US" sz="900" dirty="0">
                <a:solidFill>
                  <a:srgbClr val="5A5848"/>
                </a:solidFill>
                <a:latin typeface="Arial" pitchFamily="34" charset="0"/>
                <a:ea typeface="Arial" pitchFamily="34" charset="-122"/>
                <a:cs typeface="Arial" pitchFamily="34" charset="-120"/>
              </a:rPr>
              <a:t>Procurement AI</a:t>
            </a:r>
            <a:endParaRPr lang="en-US" sz="900" dirty="0"/>
          </a:p>
        </p:txBody>
      </p:sp>
      <p:sp>
        <p:nvSpPr>
          <p:cNvPr id="51" name="Text 49"/>
          <p:cNvSpPr/>
          <p:nvPr/>
        </p:nvSpPr>
        <p:spPr>
          <a:xfrm>
            <a:off x="329184" y="6108192"/>
            <a:ext cx="1591056" cy="256032"/>
          </a:xfrm>
          <a:prstGeom prst="rect">
            <a:avLst/>
          </a:prstGeom>
          <a:noFill/>
          <a:ln/>
        </p:spPr>
        <p:txBody>
          <a:bodyPr wrap="square" lIns="0" tIns="0" rIns="0" bIns="0" rtlCol="0" anchor="ctr"/>
          <a:lstStyle/>
          <a:p>
            <a:pPr algn="ctr" indent="0" marL="0">
              <a:buNone/>
            </a:pPr>
            <a:r>
              <a:rPr lang="en-US" sz="900" b="1" dirty="0">
                <a:solidFill>
                  <a:srgbClr val="0A7870"/>
                </a:solidFill>
                <a:latin typeface="Arial" pitchFamily="34" charset="0"/>
                <a:ea typeface="Arial" pitchFamily="34" charset="-122"/>
                <a:cs typeface="Arial" pitchFamily="34" charset="-120"/>
              </a:rPr>
              <a:t>UGX 2–5M/mo</a:t>
            </a:r>
            <a:endParaRPr lang="en-US" sz="900" dirty="0"/>
          </a:p>
        </p:txBody>
      </p:sp>
      <p:sp>
        <p:nvSpPr>
          <p:cNvPr id="52" name="Shape 50"/>
          <p:cNvSpPr/>
          <p:nvPr/>
        </p:nvSpPr>
        <p:spPr>
          <a:xfrm>
            <a:off x="2103120" y="4937760"/>
            <a:ext cx="1737360" cy="153619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53" name="Shape 51"/>
          <p:cNvSpPr/>
          <p:nvPr/>
        </p:nvSpPr>
        <p:spPr>
          <a:xfrm>
            <a:off x="2103120" y="4937760"/>
            <a:ext cx="1737360" cy="45720"/>
          </a:xfrm>
          <a:prstGeom prst="rect">
            <a:avLst/>
          </a:prstGeom>
          <a:solidFill>
            <a:srgbClr val="0A7870"/>
          </a:solidFill>
          <a:ln w="12700">
            <a:solidFill>
              <a:srgbClr val="0A7870"/>
            </a:solidFill>
            <a:prstDash val="solid"/>
          </a:ln>
        </p:spPr>
      </p:sp>
      <p:sp>
        <p:nvSpPr>
          <p:cNvPr id="54" name="Text 52"/>
          <p:cNvSpPr/>
          <p:nvPr/>
        </p:nvSpPr>
        <p:spPr>
          <a:xfrm>
            <a:off x="2103120" y="5029200"/>
            <a:ext cx="173736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55" name="Text 53"/>
          <p:cNvSpPr/>
          <p:nvPr/>
        </p:nvSpPr>
        <p:spPr>
          <a:xfrm>
            <a:off x="2176272" y="5522976"/>
            <a:ext cx="1591056" cy="274320"/>
          </a:xfrm>
          <a:prstGeom prst="rect">
            <a:avLst/>
          </a:prstGeom>
          <a:noFill/>
          <a:ln/>
        </p:spPr>
        <p:txBody>
          <a:bodyPr wrap="square" lIns="0" tIns="0" rIns="0" bIns="0" rtlCol="0" anchor="ctr"/>
          <a:lstStyle/>
          <a:p>
            <a:pPr algn="ctr" indent="0" marL="0">
              <a:buNone/>
            </a:pPr>
            <a:r>
              <a:rPr lang="en-US" sz="1100" b="1" dirty="0">
                <a:solidFill>
                  <a:srgbClr val="0C2048"/>
                </a:solidFill>
                <a:latin typeface="Arial" pitchFamily="34" charset="0"/>
                <a:ea typeface="Arial" pitchFamily="34" charset="-122"/>
                <a:cs typeface="Arial" pitchFamily="34" charset="-120"/>
              </a:rPr>
              <a:t>RetailPulse</a:t>
            </a:r>
            <a:endParaRPr lang="en-US" sz="1100" dirty="0"/>
          </a:p>
        </p:txBody>
      </p:sp>
      <p:sp>
        <p:nvSpPr>
          <p:cNvPr id="56" name="Text 54"/>
          <p:cNvSpPr/>
          <p:nvPr/>
        </p:nvSpPr>
        <p:spPr>
          <a:xfrm>
            <a:off x="2176272" y="5815584"/>
            <a:ext cx="1591056" cy="274320"/>
          </a:xfrm>
          <a:prstGeom prst="rect">
            <a:avLst/>
          </a:prstGeom>
          <a:noFill/>
          <a:ln/>
        </p:spPr>
        <p:txBody>
          <a:bodyPr wrap="square" lIns="0" tIns="0" rIns="0" bIns="0" rtlCol="0" anchor="ctr"/>
          <a:lstStyle/>
          <a:p>
            <a:pPr algn="ctr" indent="0" marL="0">
              <a:buNone/>
            </a:pPr>
            <a:r>
              <a:rPr lang="en-US" sz="900" dirty="0">
                <a:solidFill>
                  <a:srgbClr val="5A5848"/>
                </a:solidFill>
                <a:latin typeface="Arial" pitchFamily="34" charset="0"/>
                <a:ea typeface="Arial" pitchFamily="34" charset="-122"/>
                <a:cs typeface="Arial" pitchFamily="34" charset="-120"/>
              </a:rPr>
              <a:t>Retail intelligence</a:t>
            </a:r>
            <a:endParaRPr lang="en-US" sz="900" dirty="0"/>
          </a:p>
        </p:txBody>
      </p:sp>
      <p:sp>
        <p:nvSpPr>
          <p:cNvPr id="57" name="Text 55"/>
          <p:cNvSpPr/>
          <p:nvPr/>
        </p:nvSpPr>
        <p:spPr>
          <a:xfrm>
            <a:off x="2176272" y="6108192"/>
            <a:ext cx="1591056" cy="256032"/>
          </a:xfrm>
          <a:prstGeom prst="rect">
            <a:avLst/>
          </a:prstGeom>
          <a:noFill/>
          <a:ln/>
        </p:spPr>
        <p:txBody>
          <a:bodyPr wrap="square" lIns="0" tIns="0" rIns="0" bIns="0" rtlCol="0" anchor="ctr"/>
          <a:lstStyle/>
          <a:p>
            <a:pPr algn="ctr" indent="0" marL="0">
              <a:buNone/>
            </a:pPr>
            <a:r>
              <a:rPr lang="en-US" sz="900" b="1" dirty="0">
                <a:solidFill>
                  <a:srgbClr val="0A7870"/>
                </a:solidFill>
                <a:latin typeface="Arial" pitchFamily="34" charset="0"/>
                <a:ea typeface="Arial" pitchFamily="34" charset="-122"/>
                <a:cs typeface="Arial" pitchFamily="34" charset="-120"/>
              </a:rPr>
              <a:t>UGX 5–20M/mo</a:t>
            </a:r>
            <a:endParaRPr lang="en-US" sz="900" dirty="0"/>
          </a:p>
        </p:txBody>
      </p:sp>
      <p:sp>
        <p:nvSpPr>
          <p:cNvPr id="58" name="Shape 56"/>
          <p:cNvSpPr/>
          <p:nvPr/>
        </p:nvSpPr>
        <p:spPr>
          <a:xfrm>
            <a:off x="3950208" y="4937760"/>
            <a:ext cx="1737360" cy="1536192"/>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59" name="Shape 57"/>
          <p:cNvSpPr/>
          <p:nvPr/>
        </p:nvSpPr>
        <p:spPr>
          <a:xfrm>
            <a:off x="3950208" y="4937760"/>
            <a:ext cx="1737360" cy="45720"/>
          </a:xfrm>
          <a:prstGeom prst="rect">
            <a:avLst/>
          </a:prstGeom>
          <a:solidFill>
            <a:srgbClr val="0A7870"/>
          </a:solidFill>
          <a:ln w="12700">
            <a:solidFill>
              <a:srgbClr val="0A7870"/>
            </a:solidFill>
            <a:prstDash val="solid"/>
          </a:ln>
        </p:spPr>
      </p:sp>
      <p:sp>
        <p:nvSpPr>
          <p:cNvPr id="60" name="Text 58"/>
          <p:cNvSpPr/>
          <p:nvPr/>
        </p:nvSpPr>
        <p:spPr>
          <a:xfrm>
            <a:off x="3950208" y="5029200"/>
            <a:ext cx="173736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61" name="Text 59"/>
          <p:cNvSpPr/>
          <p:nvPr/>
        </p:nvSpPr>
        <p:spPr>
          <a:xfrm>
            <a:off x="4023360" y="5522976"/>
            <a:ext cx="1591056" cy="274320"/>
          </a:xfrm>
          <a:prstGeom prst="rect">
            <a:avLst/>
          </a:prstGeom>
          <a:noFill/>
          <a:ln/>
        </p:spPr>
        <p:txBody>
          <a:bodyPr wrap="square" lIns="0" tIns="0" rIns="0" bIns="0" rtlCol="0" anchor="ctr"/>
          <a:lstStyle/>
          <a:p>
            <a:pPr algn="ctr" indent="0" marL="0">
              <a:buNone/>
            </a:pPr>
            <a:r>
              <a:rPr lang="en-US" sz="1100" b="1" dirty="0">
                <a:solidFill>
                  <a:srgbClr val="0C2048"/>
                </a:solidFill>
                <a:latin typeface="Arial" pitchFamily="34" charset="0"/>
                <a:ea typeface="Arial" pitchFamily="34" charset="-122"/>
                <a:cs typeface="Arial" pitchFamily="34" charset="-120"/>
              </a:rPr>
              <a:t>PowerCost</a:t>
            </a:r>
            <a:endParaRPr lang="en-US" sz="1100" dirty="0"/>
          </a:p>
        </p:txBody>
      </p:sp>
      <p:sp>
        <p:nvSpPr>
          <p:cNvPr id="62" name="Text 60"/>
          <p:cNvSpPr/>
          <p:nvPr/>
        </p:nvSpPr>
        <p:spPr>
          <a:xfrm>
            <a:off x="4023360" y="5815584"/>
            <a:ext cx="1591056" cy="274320"/>
          </a:xfrm>
          <a:prstGeom prst="rect">
            <a:avLst/>
          </a:prstGeom>
          <a:noFill/>
          <a:ln/>
        </p:spPr>
        <p:txBody>
          <a:bodyPr wrap="square" lIns="0" tIns="0" rIns="0" bIns="0" rtlCol="0" anchor="ctr"/>
          <a:lstStyle/>
          <a:p>
            <a:pPr algn="ctr" indent="0" marL="0">
              <a:buNone/>
            </a:pPr>
            <a:r>
              <a:rPr lang="en-US" sz="900" dirty="0">
                <a:solidFill>
                  <a:srgbClr val="5A5848"/>
                </a:solidFill>
                <a:latin typeface="Arial" pitchFamily="34" charset="0"/>
                <a:ea typeface="Arial" pitchFamily="34" charset="-122"/>
                <a:cs typeface="Arial" pitchFamily="34" charset="-120"/>
              </a:rPr>
              <a:t>Energy downtime</a:t>
            </a:r>
            <a:endParaRPr lang="en-US" sz="900" dirty="0"/>
          </a:p>
        </p:txBody>
      </p:sp>
      <p:sp>
        <p:nvSpPr>
          <p:cNvPr id="63" name="Text 61"/>
          <p:cNvSpPr/>
          <p:nvPr/>
        </p:nvSpPr>
        <p:spPr>
          <a:xfrm>
            <a:off x="4023360" y="6108192"/>
            <a:ext cx="1591056" cy="256032"/>
          </a:xfrm>
          <a:prstGeom prst="rect">
            <a:avLst/>
          </a:prstGeom>
          <a:noFill/>
          <a:ln/>
        </p:spPr>
        <p:txBody>
          <a:bodyPr wrap="square" lIns="0" tIns="0" rIns="0" bIns="0" rtlCol="0" anchor="ctr"/>
          <a:lstStyle/>
          <a:p>
            <a:pPr algn="ctr" indent="0" marL="0">
              <a:buNone/>
            </a:pPr>
            <a:r>
              <a:rPr lang="en-US" sz="900" b="1" dirty="0">
                <a:solidFill>
                  <a:srgbClr val="0A7870"/>
                </a:solidFill>
                <a:latin typeface="Arial" pitchFamily="34" charset="0"/>
                <a:ea typeface="Arial" pitchFamily="34" charset="-122"/>
                <a:cs typeface="Arial" pitchFamily="34" charset="-120"/>
              </a:rPr>
              <a:t>UGX 1–2M/mo</a:t>
            </a:r>
            <a:endParaRPr lang="en-US" sz="900" dirty="0"/>
          </a:p>
        </p:txBody>
      </p:sp>
      <p:sp>
        <p:nvSpPr>
          <p:cNvPr id="64" name="Shape 62"/>
          <p:cNvSpPr/>
          <p:nvPr/>
        </p:nvSpPr>
        <p:spPr>
          <a:xfrm>
            <a:off x="6126480" y="1572768"/>
            <a:ext cx="5760720" cy="15087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5" name="Shape 63"/>
          <p:cNvSpPr/>
          <p:nvPr/>
        </p:nvSpPr>
        <p:spPr>
          <a:xfrm>
            <a:off x="6126480" y="1572768"/>
            <a:ext cx="54864" cy="1508760"/>
          </a:xfrm>
          <a:prstGeom prst="rect">
            <a:avLst/>
          </a:prstGeom>
          <a:solidFill>
            <a:srgbClr val="E8C040"/>
          </a:solidFill>
          <a:ln w="12700">
            <a:solidFill>
              <a:srgbClr val="E8C040"/>
            </a:solidFill>
            <a:prstDash val="solid"/>
          </a:ln>
        </p:spPr>
      </p:sp>
      <p:sp>
        <p:nvSpPr>
          <p:cNvPr id="66" name="Text 64"/>
          <p:cNvSpPr/>
          <p:nvPr/>
        </p:nvSpPr>
        <p:spPr>
          <a:xfrm>
            <a:off x="6236208" y="1847088"/>
            <a:ext cx="548640" cy="82296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67" name="Text 65"/>
          <p:cNvSpPr/>
          <p:nvPr/>
        </p:nvSpPr>
        <p:spPr>
          <a:xfrm>
            <a:off x="6876288" y="1755648"/>
            <a:ext cx="4809744" cy="384048"/>
          </a:xfrm>
          <a:prstGeom prst="rect">
            <a:avLst/>
          </a:prstGeom>
          <a:noFill/>
          <a:ln/>
        </p:spPr>
        <p:txBody>
          <a:bodyPr wrap="square" lIns="0" tIns="0" rIns="0" bIns="0" rtlCol="0" anchor="ctr"/>
          <a:lstStyle/>
          <a:p>
            <a:pPr indent="0" marL="0">
              <a:buNone/>
            </a:pPr>
            <a:r>
              <a:rPr lang="en-US" sz="1300" b="1" dirty="0">
                <a:solidFill>
                  <a:srgbClr val="0C2048"/>
                </a:solidFill>
                <a:latin typeface="Arial" pitchFamily="34" charset="0"/>
                <a:ea typeface="Arial" pitchFamily="34" charset="-122"/>
                <a:cs typeface="Arial" pitchFamily="34" charset="-120"/>
              </a:rPr>
              <a:t>EFRIS Bridge</a:t>
            </a:r>
            <a:endParaRPr lang="en-US" sz="1300" dirty="0"/>
          </a:p>
        </p:txBody>
      </p:sp>
      <p:sp>
        <p:nvSpPr>
          <p:cNvPr id="68" name="Text 66"/>
          <p:cNvSpPr/>
          <p:nvPr/>
        </p:nvSpPr>
        <p:spPr>
          <a:xfrm>
            <a:off x="6876288" y="2176272"/>
            <a:ext cx="4809744" cy="640080"/>
          </a:xfrm>
          <a:prstGeom prst="rect">
            <a:avLst/>
          </a:prstGeom>
          <a:noFill/>
          <a:ln/>
        </p:spPr>
        <p:txBody>
          <a:bodyPr wrap="square" lIns="0" tIns="0" rIns="0" bIns="0" rtlCol="0" anchor="ctr"/>
          <a:lstStyle/>
          <a:p>
            <a:pPr indent="0" marL="0">
              <a:buNone/>
            </a:pPr>
            <a:r>
              <a:rPr lang="en-US" sz="1050" dirty="0">
                <a:solidFill>
                  <a:srgbClr val="5A5848"/>
                </a:solidFill>
                <a:latin typeface="Arial" pitchFamily="34" charset="0"/>
                <a:ea typeface="Arial" pitchFamily="34" charset="-122"/>
                <a:cs typeface="Arial" pitchFamily="34" charset="-120"/>
              </a:rPr>
              <a:t>USSD/WhatsApp informal tax · 14,820 enrolled · UGX 3.8B new tax/mo</a:t>
            </a:r>
            <a:endParaRPr lang="en-US" sz="1050" dirty="0"/>
          </a:p>
        </p:txBody>
      </p:sp>
      <p:sp>
        <p:nvSpPr>
          <p:cNvPr id="69" name="Shape 67"/>
          <p:cNvSpPr/>
          <p:nvPr/>
        </p:nvSpPr>
        <p:spPr>
          <a:xfrm>
            <a:off x="6126480" y="3236976"/>
            <a:ext cx="5760720" cy="15087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70" name="Shape 68"/>
          <p:cNvSpPr/>
          <p:nvPr/>
        </p:nvSpPr>
        <p:spPr>
          <a:xfrm>
            <a:off x="6126480" y="3236976"/>
            <a:ext cx="54864" cy="1508760"/>
          </a:xfrm>
          <a:prstGeom prst="rect">
            <a:avLst/>
          </a:prstGeom>
          <a:solidFill>
            <a:srgbClr val="E8C040"/>
          </a:solidFill>
          <a:ln w="12700">
            <a:solidFill>
              <a:srgbClr val="E8C040"/>
            </a:solidFill>
            <a:prstDash val="solid"/>
          </a:ln>
        </p:spPr>
      </p:sp>
      <p:sp>
        <p:nvSpPr>
          <p:cNvPr id="71" name="Text 69"/>
          <p:cNvSpPr/>
          <p:nvPr/>
        </p:nvSpPr>
        <p:spPr>
          <a:xfrm>
            <a:off x="6236208" y="3511296"/>
            <a:ext cx="548640" cy="82296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72" name="Text 70"/>
          <p:cNvSpPr/>
          <p:nvPr/>
        </p:nvSpPr>
        <p:spPr>
          <a:xfrm>
            <a:off x="6876288" y="3419856"/>
            <a:ext cx="4809744" cy="384048"/>
          </a:xfrm>
          <a:prstGeom prst="rect">
            <a:avLst/>
          </a:prstGeom>
          <a:noFill/>
          <a:ln/>
        </p:spPr>
        <p:txBody>
          <a:bodyPr wrap="square" lIns="0" tIns="0" rIns="0" bIns="0" rtlCol="0" anchor="ctr"/>
          <a:lstStyle/>
          <a:p>
            <a:pPr indent="0" marL="0">
              <a:buNone/>
            </a:pPr>
            <a:r>
              <a:rPr lang="en-US" sz="1300" b="1" dirty="0">
                <a:solidFill>
                  <a:srgbClr val="0C2048"/>
                </a:solidFill>
                <a:latin typeface="Arial" pitchFamily="34" charset="0"/>
                <a:ea typeface="Arial" pitchFamily="34" charset="-122"/>
                <a:cs typeface="Arial" pitchFamily="34" charset="-120"/>
              </a:rPr>
              <a:t>EFRIS Intelligence + TaxLink Connect</a:t>
            </a:r>
            <a:endParaRPr lang="en-US" sz="1300" dirty="0"/>
          </a:p>
        </p:txBody>
      </p:sp>
      <p:sp>
        <p:nvSpPr>
          <p:cNvPr id="73" name="Text 71"/>
          <p:cNvSpPr/>
          <p:nvPr/>
        </p:nvSpPr>
        <p:spPr>
          <a:xfrm>
            <a:off x="6876288" y="3840480"/>
            <a:ext cx="4809744" cy="640080"/>
          </a:xfrm>
          <a:prstGeom prst="rect">
            <a:avLst/>
          </a:prstGeom>
          <a:noFill/>
          <a:ln/>
        </p:spPr>
        <p:txBody>
          <a:bodyPr wrap="square" lIns="0" tIns="0" rIns="0" bIns="0" rtlCol="0" anchor="ctr"/>
          <a:lstStyle/>
          <a:p>
            <a:pPr indent="0" marL="0">
              <a:buNone/>
            </a:pPr>
            <a:r>
              <a:rPr lang="en-US" sz="1050" dirty="0">
                <a:solidFill>
                  <a:srgbClr val="5A5848"/>
                </a:solidFill>
                <a:latin typeface="Arial" pitchFamily="34" charset="0"/>
                <a:ea typeface="Arial" pitchFamily="34" charset="-122"/>
                <a:cs typeface="Arial" pitchFamily="34" charset="-120"/>
              </a:rPr>
              <a:t>AI anomaly detection · Compliance analytics · EFRIS middleware</a:t>
            </a:r>
            <a:endParaRPr lang="en-US" sz="1050" dirty="0"/>
          </a:p>
        </p:txBody>
      </p:sp>
      <p:sp>
        <p:nvSpPr>
          <p:cNvPr id="74" name="Shape 72"/>
          <p:cNvSpPr/>
          <p:nvPr/>
        </p:nvSpPr>
        <p:spPr>
          <a:xfrm>
            <a:off x="6126480" y="4901184"/>
            <a:ext cx="5760720" cy="15087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75" name="Shape 73"/>
          <p:cNvSpPr/>
          <p:nvPr/>
        </p:nvSpPr>
        <p:spPr>
          <a:xfrm>
            <a:off x="6126480" y="4901184"/>
            <a:ext cx="54864" cy="1508760"/>
          </a:xfrm>
          <a:prstGeom prst="rect">
            <a:avLst/>
          </a:prstGeom>
          <a:solidFill>
            <a:srgbClr val="E8C040"/>
          </a:solidFill>
          <a:ln w="12700">
            <a:solidFill>
              <a:srgbClr val="E8C040"/>
            </a:solidFill>
            <a:prstDash val="solid"/>
          </a:ln>
        </p:spPr>
      </p:sp>
      <p:sp>
        <p:nvSpPr>
          <p:cNvPr id="76" name="Text 74"/>
          <p:cNvSpPr/>
          <p:nvPr/>
        </p:nvSpPr>
        <p:spPr>
          <a:xfrm>
            <a:off x="6236208" y="5175504"/>
            <a:ext cx="548640" cy="82296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77" name="Text 75"/>
          <p:cNvSpPr/>
          <p:nvPr/>
        </p:nvSpPr>
        <p:spPr>
          <a:xfrm>
            <a:off x="6876288" y="5084064"/>
            <a:ext cx="4809744" cy="384048"/>
          </a:xfrm>
          <a:prstGeom prst="rect">
            <a:avLst/>
          </a:prstGeom>
          <a:noFill/>
          <a:ln/>
        </p:spPr>
        <p:txBody>
          <a:bodyPr wrap="square" lIns="0" tIns="0" rIns="0" bIns="0" rtlCol="0" anchor="ctr"/>
          <a:lstStyle/>
          <a:p>
            <a:pPr indent="0" marL="0">
              <a:buNone/>
            </a:pPr>
            <a:r>
              <a:rPr lang="en-US" sz="1300" b="1" dirty="0">
                <a:solidFill>
                  <a:srgbClr val="0C2048"/>
                </a:solidFill>
                <a:latin typeface="Arial" pitchFamily="34" charset="0"/>
                <a:ea typeface="Arial" pitchFamily="34" charset="-122"/>
                <a:cs typeface="Arial" pitchFamily="34" charset="-120"/>
              </a:rPr>
              <a:t>DebtWatch + FiscalAI + Customs Intelligence</a:t>
            </a:r>
            <a:endParaRPr lang="en-US" sz="1300" dirty="0"/>
          </a:p>
        </p:txBody>
      </p:sp>
      <p:sp>
        <p:nvSpPr>
          <p:cNvPr id="78" name="Text 76"/>
          <p:cNvSpPr/>
          <p:nvPr/>
        </p:nvSpPr>
        <p:spPr>
          <a:xfrm>
            <a:off x="6876288" y="5504688"/>
            <a:ext cx="4809744" cy="640080"/>
          </a:xfrm>
          <a:prstGeom prst="rect">
            <a:avLst/>
          </a:prstGeom>
          <a:noFill/>
          <a:ln/>
        </p:spPr>
        <p:txBody>
          <a:bodyPr wrap="square" lIns="0" tIns="0" rIns="0" bIns="0" rtlCol="0" anchor="ctr"/>
          <a:lstStyle/>
          <a:p>
            <a:pPr indent="0" marL="0">
              <a:buNone/>
            </a:pPr>
            <a:r>
              <a:rPr lang="en-US" sz="1050" dirty="0">
                <a:solidFill>
                  <a:srgbClr val="5A5848"/>
                </a:solidFill>
                <a:latin typeface="Arial" pitchFamily="34" charset="0"/>
                <a:ea typeface="Arial" pitchFamily="34" charset="-122"/>
                <a:cs typeface="Arial" pitchFamily="34" charset="-120"/>
              </a:rPr>
              <a:t>Debt tracker · AI optimisation · Customs mis-invoicing</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2048"/>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4B8A6"/>
          </a:solidFill>
          <a:ln w="12700">
            <a:solidFill>
              <a:srgbClr val="14B8A6"/>
            </a:solidFill>
            <a:prstDash val="solid"/>
          </a:ln>
        </p:spPr>
      </p:sp>
      <p:sp>
        <p:nvSpPr>
          <p:cNvPr id="3" name="Text 1"/>
          <p:cNvSpPr/>
          <p:nvPr/>
        </p:nvSpPr>
        <p:spPr>
          <a:xfrm>
            <a:off x="347472" y="228600"/>
            <a:ext cx="7315200" cy="347472"/>
          </a:xfrm>
          <a:prstGeom prst="rect">
            <a:avLst/>
          </a:prstGeom>
          <a:noFill/>
          <a:ln/>
        </p:spPr>
        <p:txBody>
          <a:bodyPr wrap="square" lIns="0" tIns="0" rIns="0" bIns="0" rtlCol="0" anchor="ctr"/>
          <a:lstStyle/>
          <a:p>
            <a:pPr indent="0" marL="0">
              <a:buNone/>
            </a:pPr>
            <a:r>
              <a:rPr lang="en-US" sz="1100" b="1" spc="300" kern="0" dirty="0">
                <a:solidFill>
                  <a:srgbClr val="14B8A6"/>
                </a:solidFill>
                <a:latin typeface="Arial" pitchFamily="34" charset="0"/>
                <a:ea typeface="Arial" pitchFamily="34" charset="-122"/>
                <a:cs typeface="Arial" pitchFamily="34" charset="-120"/>
              </a:rPr>
              <a:t>Deep Dive — EFRIS Compliance</a:t>
            </a:r>
            <a:endParaRPr lang="en-US" sz="1100" dirty="0"/>
          </a:p>
        </p:txBody>
      </p:sp>
      <p:sp>
        <p:nvSpPr>
          <p:cNvPr id="4" name="Text 2"/>
          <p:cNvSpPr/>
          <p:nvPr/>
        </p:nvSpPr>
        <p:spPr>
          <a:xfrm>
            <a:off x="347472" y="640080"/>
            <a:ext cx="11430000" cy="68580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EFRIS Is Mandatory. But 51% of Businesses Say It Harmed Them.</a:t>
            </a:r>
            <a:endParaRPr lang="en-US" sz="2800" dirty="0"/>
          </a:p>
        </p:txBody>
      </p:sp>
      <p:sp>
        <p:nvSpPr>
          <p:cNvPr id="5" name="Shape 3"/>
          <p:cNvSpPr/>
          <p:nvPr/>
        </p:nvSpPr>
        <p:spPr>
          <a:xfrm>
            <a:off x="274320" y="1508760"/>
            <a:ext cx="5486400" cy="5029200"/>
          </a:xfrm>
          <a:prstGeom prst="rect">
            <a:avLst/>
          </a:prstGeom>
          <a:solidFill>
            <a:srgbClr val="162D5E"/>
          </a:solidFill>
          <a:ln w="12700">
            <a:solidFill>
              <a:srgbClr val="162D5E"/>
            </a:solidFill>
            <a:prstDash val="solid"/>
          </a:ln>
        </p:spPr>
      </p:sp>
      <p:sp>
        <p:nvSpPr>
          <p:cNvPr id="6" name="Text 4"/>
          <p:cNvSpPr/>
          <p:nvPr/>
        </p:nvSpPr>
        <p:spPr>
          <a:xfrm>
            <a:off x="457200" y="1645920"/>
            <a:ext cx="5120640" cy="274320"/>
          </a:xfrm>
          <a:prstGeom prst="rect">
            <a:avLst/>
          </a:prstGeom>
          <a:noFill/>
          <a:ln/>
        </p:spPr>
        <p:txBody>
          <a:bodyPr wrap="square" lIns="0" tIns="0" rIns="0" bIns="0" rtlCol="0" anchor="ctr"/>
          <a:lstStyle/>
          <a:p>
            <a:pPr indent="0" marL="0">
              <a:buNone/>
            </a:pPr>
            <a:r>
              <a:rPr lang="en-US" sz="1000" b="1" spc="200" kern="0" dirty="0">
                <a:solidFill>
                  <a:srgbClr val="C82020"/>
                </a:solidFill>
                <a:latin typeface="Arial" pitchFamily="34" charset="0"/>
                <a:ea typeface="Arial" pitchFamily="34" charset="-122"/>
                <a:cs typeface="Arial" pitchFamily="34" charset="-120"/>
              </a:rPr>
              <a:t>THE DOCUMENTED FAILURE</a:t>
            </a:r>
            <a:endParaRPr lang="en-US" sz="1000" dirty="0"/>
          </a:p>
        </p:txBody>
      </p:sp>
      <p:sp>
        <p:nvSpPr>
          <p:cNvPr id="7" name="Shape 5"/>
          <p:cNvSpPr/>
          <p:nvPr/>
        </p:nvSpPr>
        <p:spPr>
          <a:xfrm>
            <a:off x="457200" y="2103120"/>
            <a:ext cx="54864" cy="457200"/>
          </a:xfrm>
          <a:prstGeom prst="rect">
            <a:avLst/>
          </a:prstGeom>
          <a:solidFill>
            <a:srgbClr val="C82020"/>
          </a:solidFill>
          <a:ln w="12700">
            <a:solidFill>
              <a:srgbClr val="C82020"/>
            </a:solidFill>
            <a:prstDash val="solid"/>
          </a:ln>
        </p:spPr>
      </p:sp>
      <p:sp>
        <p:nvSpPr>
          <p:cNvPr id="8" name="Text 6"/>
          <p:cNvSpPr/>
          <p:nvPr/>
        </p:nvSpPr>
        <p:spPr>
          <a:xfrm>
            <a:off x="603504" y="2121408"/>
            <a:ext cx="1463040" cy="292608"/>
          </a:xfrm>
          <a:prstGeom prst="rect">
            <a:avLst/>
          </a:prstGeom>
          <a:noFill/>
          <a:ln/>
        </p:spPr>
        <p:txBody>
          <a:bodyPr wrap="square" lIns="0" tIns="0" rIns="0" bIns="0" rtlCol="0" anchor="ctr"/>
          <a:lstStyle/>
          <a:p>
            <a:pPr indent="0" marL="0">
              <a:buNone/>
            </a:pPr>
            <a:r>
              <a:rPr lang="en-US" sz="1600" b="1" dirty="0">
                <a:solidFill>
                  <a:srgbClr val="C82020"/>
                </a:solidFill>
                <a:latin typeface="Arial" pitchFamily="34" charset="0"/>
                <a:ea typeface="Arial" pitchFamily="34" charset="-122"/>
                <a:cs typeface="Arial" pitchFamily="34" charset="-120"/>
              </a:rPr>
              <a:t>48.5%</a:t>
            </a:r>
            <a:endParaRPr lang="en-US" sz="1600" dirty="0"/>
          </a:p>
        </p:txBody>
      </p:sp>
      <p:sp>
        <p:nvSpPr>
          <p:cNvPr id="9" name="Text 7"/>
          <p:cNvSpPr/>
          <p:nvPr/>
        </p:nvSpPr>
        <p:spPr>
          <a:xfrm>
            <a:off x="603504" y="2414016"/>
            <a:ext cx="4937760" cy="237744"/>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Compliance rate — flat for 5 months despite growing registrations</a:t>
            </a:r>
            <a:endParaRPr lang="en-US" sz="950" dirty="0"/>
          </a:p>
        </p:txBody>
      </p:sp>
      <p:sp>
        <p:nvSpPr>
          <p:cNvPr id="10" name="Shape 8"/>
          <p:cNvSpPr/>
          <p:nvPr/>
        </p:nvSpPr>
        <p:spPr>
          <a:xfrm>
            <a:off x="457200" y="2816352"/>
            <a:ext cx="54864" cy="457200"/>
          </a:xfrm>
          <a:prstGeom prst="rect">
            <a:avLst/>
          </a:prstGeom>
          <a:solidFill>
            <a:srgbClr val="C82020"/>
          </a:solidFill>
          <a:ln w="12700">
            <a:solidFill>
              <a:srgbClr val="C82020"/>
            </a:solidFill>
            <a:prstDash val="solid"/>
          </a:ln>
        </p:spPr>
      </p:sp>
      <p:sp>
        <p:nvSpPr>
          <p:cNvPr id="11" name="Text 9"/>
          <p:cNvSpPr/>
          <p:nvPr/>
        </p:nvSpPr>
        <p:spPr>
          <a:xfrm>
            <a:off x="603504" y="2834640"/>
            <a:ext cx="1463040" cy="292608"/>
          </a:xfrm>
          <a:prstGeom prst="rect">
            <a:avLst/>
          </a:prstGeom>
          <a:noFill/>
          <a:ln/>
        </p:spPr>
        <p:txBody>
          <a:bodyPr wrap="square" lIns="0" tIns="0" rIns="0" bIns="0" rtlCol="0" anchor="ctr"/>
          <a:lstStyle/>
          <a:p>
            <a:pPr indent="0" marL="0">
              <a:buNone/>
            </a:pPr>
            <a:r>
              <a:rPr lang="en-US" sz="1600" b="1" dirty="0">
                <a:solidFill>
                  <a:srgbClr val="C82020"/>
                </a:solidFill>
                <a:latin typeface="Arial" pitchFamily="34" charset="0"/>
                <a:ea typeface="Arial" pitchFamily="34" charset="-122"/>
                <a:cs typeface="Arial" pitchFamily="34" charset="-120"/>
              </a:rPr>
              <a:t>51%</a:t>
            </a:r>
            <a:endParaRPr lang="en-US" sz="1600" dirty="0"/>
          </a:p>
        </p:txBody>
      </p:sp>
      <p:sp>
        <p:nvSpPr>
          <p:cNvPr id="12" name="Text 10"/>
          <p:cNvSpPr/>
          <p:nvPr/>
        </p:nvSpPr>
        <p:spPr>
          <a:xfrm>
            <a:off x="603504" y="3127248"/>
            <a:ext cx="4937760" cy="237744"/>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Businesses reporting negative impact (EPRC Q2 2024)</a:t>
            </a:r>
            <a:endParaRPr lang="en-US" sz="950" dirty="0"/>
          </a:p>
        </p:txBody>
      </p:sp>
      <p:sp>
        <p:nvSpPr>
          <p:cNvPr id="13" name="Shape 11"/>
          <p:cNvSpPr/>
          <p:nvPr/>
        </p:nvSpPr>
        <p:spPr>
          <a:xfrm>
            <a:off x="457200" y="3529584"/>
            <a:ext cx="54864" cy="457200"/>
          </a:xfrm>
          <a:prstGeom prst="rect">
            <a:avLst/>
          </a:prstGeom>
          <a:solidFill>
            <a:srgbClr val="C82020"/>
          </a:solidFill>
          <a:ln w="12700">
            <a:solidFill>
              <a:srgbClr val="C82020"/>
            </a:solidFill>
            <a:prstDash val="solid"/>
          </a:ln>
        </p:spPr>
      </p:sp>
      <p:sp>
        <p:nvSpPr>
          <p:cNvPr id="14" name="Text 12"/>
          <p:cNvSpPr/>
          <p:nvPr/>
        </p:nvSpPr>
        <p:spPr>
          <a:xfrm>
            <a:off x="603504" y="3547872"/>
            <a:ext cx="1463040" cy="292608"/>
          </a:xfrm>
          <a:prstGeom prst="rect">
            <a:avLst/>
          </a:prstGeom>
          <a:noFill/>
          <a:ln/>
        </p:spPr>
        <p:txBody>
          <a:bodyPr wrap="square" lIns="0" tIns="0" rIns="0" bIns="0" rtlCol="0" anchor="ctr"/>
          <a:lstStyle/>
          <a:p>
            <a:pPr indent="0" marL="0">
              <a:buNone/>
            </a:pPr>
            <a:r>
              <a:rPr lang="en-US" sz="1600" b="1" dirty="0">
                <a:solidFill>
                  <a:srgbClr val="C82020"/>
                </a:solidFill>
                <a:latin typeface="Arial" pitchFamily="34" charset="0"/>
                <a:ea typeface="Arial" pitchFamily="34" charset="-122"/>
                <a:cs typeface="Arial" pitchFamily="34" charset="-120"/>
              </a:rPr>
              <a:t>65.5%</a:t>
            </a:r>
            <a:endParaRPr lang="en-US" sz="1600" dirty="0"/>
          </a:p>
        </p:txBody>
      </p:sp>
      <p:sp>
        <p:nvSpPr>
          <p:cNvPr id="15" name="Text 13"/>
          <p:cNvSpPr/>
          <p:nvPr/>
        </p:nvSpPr>
        <p:spPr>
          <a:xfrm>
            <a:off x="603504" y="3840480"/>
            <a:ext cx="4937760" cy="237744"/>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Said compliance costs increased significantly</a:t>
            </a:r>
            <a:endParaRPr lang="en-US" sz="950" dirty="0"/>
          </a:p>
        </p:txBody>
      </p:sp>
      <p:sp>
        <p:nvSpPr>
          <p:cNvPr id="16" name="Shape 14"/>
          <p:cNvSpPr/>
          <p:nvPr/>
        </p:nvSpPr>
        <p:spPr>
          <a:xfrm>
            <a:off x="457200" y="4242816"/>
            <a:ext cx="54864" cy="457200"/>
          </a:xfrm>
          <a:prstGeom prst="rect">
            <a:avLst/>
          </a:prstGeom>
          <a:solidFill>
            <a:srgbClr val="C82020"/>
          </a:solidFill>
          <a:ln w="12700">
            <a:solidFill>
              <a:srgbClr val="C82020"/>
            </a:solidFill>
            <a:prstDash val="solid"/>
          </a:ln>
        </p:spPr>
      </p:sp>
      <p:sp>
        <p:nvSpPr>
          <p:cNvPr id="17" name="Text 15"/>
          <p:cNvSpPr/>
          <p:nvPr/>
        </p:nvSpPr>
        <p:spPr>
          <a:xfrm>
            <a:off x="603504" y="4261104"/>
            <a:ext cx="1463040" cy="292608"/>
          </a:xfrm>
          <a:prstGeom prst="rect">
            <a:avLst/>
          </a:prstGeom>
          <a:noFill/>
          <a:ln/>
        </p:spPr>
        <p:txBody>
          <a:bodyPr wrap="square" lIns="0" tIns="0" rIns="0" bIns="0" rtlCol="0" anchor="ctr"/>
          <a:lstStyle/>
          <a:p>
            <a:pPr indent="0" marL="0">
              <a:buNone/>
            </a:pPr>
            <a:r>
              <a:rPr lang="en-US" sz="1600" b="1" dirty="0">
                <a:solidFill>
                  <a:srgbClr val="C82020"/>
                </a:solidFill>
                <a:latin typeface="Arial" pitchFamily="34" charset="0"/>
                <a:ea typeface="Arial" pitchFamily="34" charset="-122"/>
                <a:cs typeface="Arial" pitchFamily="34" charset="-120"/>
              </a:rPr>
              <a:t>5 days</a:t>
            </a:r>
            <a:endParaRPr lang="en-US" sz="1600" dirty="0"/>
          </a:p>
        </p:txBody>
      </p:sp>
      <p:sp>
        <p:nvSpPr>
          <p:cNvPr id="18" name="Text 16"/>
          <p:cNvSpPr/>
          <p:nvPr/>
        </p:nvSpPr>
        <p:spPr>
          <a:xfrm>
            <a:off x="603504" y="4553712"/>
            <a:ext cx="4937760" cy="237744"/>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Kampala CBD shut down in April 2024 EFRIS protests</a:t>
            </a:r>
            <a:endParaRPr lang="en-US" sz="950" dirty="0"/>
          </a:p>
        </p:txBody>
      </p:sp>
      <p:sp>
        <p:nvSpPr>
          <p:cNvPr id="19" name="Shape 17"/>
          <p:cNvSpPr/>
          <p:nvPr/>
        </p:nvSpPr>
        <p:spPr>
          <a:xfrm>
            <a:off x="457200" y="4956048"/>
            <a:ext cx="54864" cy="457200"/>
          </a:xfrm>
          <a:prstGeom prst="rect">
            <a:avLst/>
          </a:prstGeom>
          <a:solidFill>
            <a:srgbClr val="C82020"/>
          </a:solidFill>
          <a:ln w="12700">
            <a:solidFill>
              <a:srgbClr val="C82020"/>
            </a:solidFill>
            <a:prstDash val="solid"/>
          </a:ln>
        </p:spPr>
      </p:sp>
      <p:sp>
        <p:nvSpPr>
          <p:cNvPr id="20" name="Text 18"/>
          <p:cNvSpPr/>
          <p:nvPr/>
        </p:nvSpPr>
        <p:spPr>
          <a:xfrm>
            <a:off x="603504" y="4974336"/>
            <a:ext cx="1463040" cy="292608"/>
          </a:xfrm>
          <a:prstGeom prst="rect">
            <a:avLst/>
          </a:prstGeom>
          <a:noFill/>
          <a:ln/>
        </p:spPr>
        <p:txBody>
          <a:bodyPr wrap="square" lIns="0" tIns="0" rIns="0" bIns="0" rtlCol="0" anchor="ctr"/>
          <a:lstStyle/>
          <a:p>
            <a:pPr indent="0" marL="0">
              <a:buNone/>
            </a:pPr>
            <a:r>
              <a:rPr lang="en-US" sz="1600" b="1" dirty="0">
                <a:solidFill>
                  <a:srgbClr val="C82020"/>
                </a:solidFill>
                <a:latin typeface="Arial" pitchFamily="34" charset="0"/>
                <a:ea typeface="Arial" pitchFamily="34" charset="-122"/>
                <a:cs typeface="Arial" pitchFamily="34" charset="-120"/>
              </a:rPr>
              <a:t>UGX 500K–2M</a:t>
            </a:r>
            <a:endParaRPr lang="en-US" sz="1600" dirty="0"/>
          </a:p>
        </p:txBody>
      </p:sp>
      <p:sp>
        <p:nvSpPr>
          <p:cNvPr id="21" name="Text 19"/>
          <p:cNvSpPr/>
          <p:nvPr/>
        </p:nvSpPr>
        <p:spPr>
          <a:xfrm>
            <a:off x="603504" y="5266944"/>
            <a:ext cx="4937760" cy="237744"/>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EFD hardware cost — unaffordable for 80% of businesses</a:t>
            </a:r>
            <a:endParaRPr lang="en-US" sz="950" dirty="0"/>
          </a:p>
        </p:txBody>
      </p:sp>
      <p:sp>
        <p:nvSpPr>
          <p:cNvPr id="22" name="Shape 20"/>
          <p:cNvSpPr/>
          <p:nvPr/>
        </p:nvSpPr>
        <p:spPr>
          <a:xfrm>
            <a:off x="457200" y="5669280"/>
            <a:ext cx="54864" cy="457200"/>
          </a:xfrm>
          <a:prstGeom prst="rect">
            <a:avLst/>
          </a:prstGeom>
          <a:solidFill>
            <a:srgbClr val="C82020"/>
          </a:solidFill>
          <a:ln w="12700">
            <a:solidFill>
              <a:srgbClr val="C82020"/>
            </a:solidFill>
            <a:prstDash val="solid"/>
          </a:ln>
        </p:spPr>
      </p:sp>
      <p:sp>
        <p:nvSpPr>
          <p:cNvPr id="23" name="Text 21"/>
          <p:cNvSpPr/>
          <p:nvPr/>
        </p:nvSpPr>
        <p:spPr>
          <a:xfrm>
            <a:off x="603504" y="5687568"/>
            <a:ext cx="1463040" cy="292608"/>
          </a:xfrm>
          <a:prstGeom prst="rect">
            <a:avLst/>
          </a:prstGeom>
          <a:noFill/>
          <a:ln/>
        </p:spPr>
        <p:txBody>
          <a:bodyPr wrap="square" lIns="0" tIns="0" rIns="0" bIns="0" rtlCol="0" anchor="ctr"/>
          <a:lstStyle/>
          <a:p>
            <a:pPr indent="0" marL="0">
              <a:buNone/>
            </a:pPr>
            <a:r>
              <a:rPr lang="en-US" sz="1600" b="1" dirty="0">
                <a:solidFill>
                  <a:srgbClr val="C82020"/>
                </a:solidFill>
                <a:latin typeface="Arial" pitchFamily="34" charset="0"/>
                <a:ea typeface="Arial" pitchFamily="34" charset="-122"/>
                <a:cs typeface="Arial" pitchFamily="34" charset="-120"/>
              </a:rPr>
              <a:t>80%</a:t>
            </a:r>
            <a:endParaRPr lang="en-US" sz="1600" dirty="0"/>
          </a:p>
        </p:txBody>
      </p:sp>
      <p:sp>
        <p:nvSpPr>
          <p:cNvPr id="24" name="Text 22"/>
          <p:cNvSpPr/>
          <p:nvPr/>
        </p:nvSpPr>
        <p:spPr>
          <a:xfrm>
            <a:off x="603504" y="5980176"/>
            <a:ext cx="4937760" cy="237744"/>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Of economy still completely outside the EFRIS tax net</a:t>
            </a:r>
            <a:endParaRPr lang="en-US" sz="950" dirty="0"/>
          </a:p>
        </p:txBody>
      </p:sp>
      <p:sp>
        <p:nvSpPr>
          <p:cNvPr id="25" name="Shape 23"/>
          <p:cNvSpPr/>
          <p:nvPr/>
        </p:nvSpPr>
        <p:spPr>
          <a:xfrm>
            <a:off x="6080760" y="1508760"/>
            <a:ext cx="5806440" cy="5029200"/>
          </a:xfrm>
          <a:prstGeom prst="rect">
            <a:avLst/>
          </a:prstGeom>
          <a:solidFill>
            <a:srgbClr val="001020"/>
          </a:solidFill>
          <a:ln w="12700">
            <a:solidFill>
              <a:srgbClr val="14B8A6"/>
            </a:solidFill>
            <a:prstDash val="solid"/>
          </a:ln>
        </p:spPr>
      </p:sp>
      <p:sp>
        <p:nvSpPr>
          <p:cNvPr id="26" name="Text 24"/>
          <p:cNvSpPr/>
          <p:nvPr/>
        </p:nvSpPr>
        <p:spPr>
          <a:xfrm>
            <a:off x="6263640" y="1645920"/>
            <a:ext cx="5440680" cy="274320"/>
          </a:xfrm>
          <a:prstGeom prst="rect">
            <a:avLst/>
          </a:prstGeom>
          <a:noFill/>
          <a:ln/>
        </p:spPr>
        <p:txBody>
          <a:bodyPr wrap="square" lIns="0" tIns="0" rIns="0" bIns="0" rtlCol="0" anchor="ctr"/>
          <a:lstStyle/>
          <a:p>
            <a:pPr indent="0" marL="0">
              <a:buNone/>
            </a:pPr>
            <a:r>
              <a:rPr lang="en-US" sz="1000" b="1" spc="200" kern="0" dirty="0">
                <a:solidFill>
                  <a:srgbClr val="14B8A6"/>
                </a:solidFill>
                <a:latin typeface="Arial" pitchFamily="34" charset="0"/>
                <a:ea typeface="Arial" pitchFamily="34" charset="-122"/>
                <a:cs typeface="Arial" pitchFamily="34" charset="-120"/>
              </a:rPr>
              <a:t>OUR THREE-PART SOLUTION</a:t>
            </a:r>
            <a:endParaRPr lang="en-US" sz="1000" dirty="0"/>
          </a:p>
        </p:txBody>
      </p:sp>
      <p:sp>
        <p:nvSpPr>
          <p:cNvPr id="27" name="Shape 25"/>
          <p:cNvSpPr/>
          <p:nvPr/>
        </p:nvSpPr>
        <p:spPr>
          <a:xfrm>
            <a:off x="6263640" y="2029968"/>
            <a:ext cx="5440680" cy="1353312"/>
          </a:xfrm>
          <a:prstGeom prst="rect">
            <a:avLst/>
          </a:prstGeom>
          <a:solidFill>
            <a:srgbClr val="162D5E"/>
          </a:solidFill>
          <a:ln w="12700">
            <a:solidFill>
              <a:srgbClr val="162D5E"/>
            </a:solidFill>
            <a:prstDash val="solid"/>
          </a:ln>
        </p:spPr>
      </p:sp>
      <p:sp>
        <p:nvSpPr>
          <p:cNvPr id="28" name="Shape 26"/>
          <p:cNvSpPr/>
          <p:nvPr/>
        </p:nvSpPr>
        <p:spPr>
          <a:xfrm>
            <a:off x="6263640" y="2029968"/>
            <a:ext cx="54864" cy="1353312"/>
          </a:xfrm>
          <a:prstGeom prst="rect">
            <a:avLst/>
          </a:prstGeom>
          <a:solidFill>
            <a:srgbClr val="14B8A6"/>
          </a:solidFill>
          <a:ln w="12700">
            <a:solidFill>
              <a:srgbClr val="14B8A6"/>
            </a:solidFill>
            <a:prstDash val="solid"/>
          </a:ln>
        </p:spPr>
      </p:sp>
      <p:sp>
        <p:nvSpPr>
          <p:cNvPr id="29" name="Shape 27"/>
          <p:cNvSpPr/>
          <p:nvPr/>
        </p:nvSpPr>
        <p:spPr>
          <a:xfrm>
            <a:off x="6318504" y="2139696"/>
            <a:ext cx="384048" cy="384048"/>
          </a:xfrm>
          <a:prstGeom prst="rect">
            <a:avLst/>
          </a:prstGeom>
          <a:solidFill>
            <a:srgbClr val="14B8A6"/>
          </a:solidFill>
          <a:ln w="12700">
            <a:solidFill>
              <a:srgbClr val="14B8A6"/>
            </a:solidFill>
            <a:prstDash val="solid"/>
          </a:ln>
        </p:spPr>
      </p:sp>
      <p:sp>
        <p:nvSpPr>
          <p:cNvPr id="30" name="Text 28"/>
          <p:cNvSpPr/>
          <p:nvPr/>
        </p:nvSpPr>
        <p:spPr>
          <a:xfrm>
            <a:off x="6318504" y="2139696"/>
            <a:ext cx="384048" cy="384048"/>
          </a:xfrm>
          <a:prstGeom prst="rect">
            <a:avLst/>
          </a:prstGeom>
          <a:noFill/>
          <a:ln/>
        </p:spPr>
        <p:txBody>
          <a:bodyPr wrap="square" lIns="0" tIns="0" rIns="0" bIns="0" rtlCol="0" anchor="ctr"/>
          <a:lstStyle/>
          <a:p>
            <a:pPr algn="ctr" indent="0" marL="0">
              <a:buNone/>
            </a:pPr>
            <a:r>
              <a:rPr lang="en-US" sz="1400" b="1" dirty="0">
                <a:solidFill>
                  <a:srgbClr val="0C2048"/>
                </a:solidFill>
                <a:latin typeface="Arial" pitchFamily="34" charset="0"/>
                <a:ea typeface="Arial" pitchFamily="34" charset="-122"/>
                <a:cs typeface="Arial" pitchFamily="34" charset="-120"/>
              </a:rPr>
              <a:t>A</a:t>
            </a:r>
            <a:endParaRPr lang="en-US" sz="1400" dirty="0"/>
          </a:p>
        </p:txBody>
      </p:sp>
      <p:sp>
        <p:nvSpPr>
          <p:cNvPr id="31" name="Text 29"/>
          <p:cNvSpPr/>
          <p:nvPr/>
        </p:nvSpPr>
        <p:spPr>
          <a:xfrm>
            <a:off x="6784848" y="2103120"/>
            <a:ext cx="4828032" cy="292608"/>
          </a:xfrm>
          <a:prstGeom prst="rect">
            <a:avLst/>
          </a:prstGeom>
          <a:noFill/>
          <a:ln/>
        </p:spPr>
        <p:txBody>
          <a:bodyPr wrap="square" lIns="0" tIns="0" rIns="0" bIns="0" rtlCol="0" anchor="ctr"/>
          <a:lstStyle/>
          <a:p>
            <a:pPr indent="0" marL="0">
              <a:buNone/>
            </a:pPr>
            <a:r>
              <a:rPr lang="en-US" sz="1200" b="1" dirty="0">
                <a:solidFill>
                  <a:srgbClr val="14B8A6"/>
                </a:solidFill>
                <a:latin typeface="Arial" pitchFamily="34" charset="0"/>
                <a:ea typeface="Arial" pitchFamily="34" charset="-122"/>
                <a:cs typeface="Arial" pitchFamily="34" charset="-120"/>
              </a:rPr>
              <a:t>TaxLink  ·  For formal businesses</a:t>
            </a:r>
            <a:endParaRPr lang="en-US" sz="1200" dirty="0"/>
          </a:p>
        </p:txBody>
      </p:sp>
      <p:sp>
        <p:nvSpPr>
          <p:cNvPr id="32" name="Text 30"/>
          <p:cNvSpPr/>
          <p:nvPr/>
        </p:nvSpPr>
        <p:spPr>
          <a:xfrm>
            <a:off x="6784848" y="2432304"/>
            <a:ext cx="4828032" cy="77724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Connects any accounting software (QuickBooks, Tally, Excel) directly to URA EFRIS API. Zero manual steps. Auto-sync every 5 minutes. URA-endorsed integration partner.</a:t>
            </a:r>
            <a:endParaRPr lang="en-US" sz="1000" dirty="0"/>
          </a:p>
        </p:txBody>
      </p:sp>
      <p:sp>
        <p:nvSpPr>
          <p:cNvPr id="33" name="Shape 31"/>
          <p:cNvSpPr/>
          <p:nvPr/>
        </p:nvSpPr>
        <p:spPr>
          <a:xfrm>
            <a:off x="6263640" y="3538728"/>
            <a:ext cx="5440680" cy="1353312"/>
          </a:xfrm>
          <a:prstGeom prst="rect">
            <a:avLst/>
          </a:prstGeom>
          <a:solidFill>
            <a:srgbClr val="162D5E"/>
          </a:solidFill>
          <a:ln w="12700">
            <a:solidFill>
              <a:srgbClr val="162D5E"/>
            </a:solidFill>
            <a:prstDash val="solid"/>
          </a:ln>
        </p:spPr>
      </p:sp>
      <p:sp>
        <p:nvSpPr>
          <p:cNvPr id="34" name="Shape 32"/>
          <p:cNvSpPr/>
          <p:nvPr/>
        </p:nvSpPr>
        <p:spPr>
          <a:xfrm>
            <a:off x="6263640" y="3538728"/>
            <a:ext cx="54864" cy="1353312"/>
          </a:xfrm>
          <a:prstGeom prst="rect">
            <a:avLst/>
          </a:prstGeom>
          <a:solidFill>
            <a:srgbClr val="E8C040"/>
          </a:solidFill>
          <a:ln w="12700">
            <a:solidFill>
              <a:srgbClr val="E8C040"/>
            </a:solidFill>
            <a:prstDash val="solid"/>
          </a:ln>
        </p:spPr>
      </p:sp>
      <p:sp>
        <p:nvSpPr>
          <p:cNvPr id="35" name="Shape 33"/>
          <p:cNvSpPr/>
          <p:nvPr/>
        </p:nvSpPr>
        <p:spPr>
          <a:xfrm>
            <a:off x="6318504" y="3648456"/>
            <a:ext cx="384048" cy="384048"/>
          </a:xfrm>
          <a:prstGeom prst="rect">
            <a:avLst/>
          </a:prstGeom>
          <a:solidFill>
            <a:srgbClr val="E8C040"/>
          </a:solidFill>
          <a:ln w="12700">
            <a:solidFill>
              <a:srgbClr val="E8C040"/>
            </a:solidFill>
            <a:prstDash val="solid"/>
          </a:ln>
        </p:spPr>
      </p:sp>
      <p:sp>
        <p:nvSpPr>
          <p:cNvPr id="36" name="Text 34"/>
          <p:cNvSpPr/>
          <p:nvPr/>
        </p:nvSpPr>
        <p:spPr>
          <a:xfrm>
            <a:off x="6318504" y="3648456"/>
            <a:ext cx="384048" cy="384048"/>
          </a:xfrm>
          <a:prstGeom prst="rect">
            <a:avLst/>
          </a:prstGeom>
          <a:noFill/>
          <a:ln/>
        </p:spPr>
        <p:txBody>
          <a:bodyPr wrap="square" lIns="0" tIns="0" rIns="0" bIns="0" rtlCol="0" anchor="ctr"/>
          <a:lstStyle/>
          <a:p>
            <a:pPr algn="ctr" indent="0" marL="0">
              <a:buNone/>
            </a:pPr>
            <a:r>
              <a:rPr lang="en-US" sz="1400" b="1" dirty="0">
                <a:solidFill>
                  <a:srgbClr val="0C2048"/>
                </a:solidFill>
                <a:latin typeface="Arial" pitchFamily="34" charset="0"/>
                <a:ea typeface="Arial" pitchFamily="34" charset="-122"/>
                <a:cs typeface="Arial" pitchFamily="34" charset="-120"/>
              </a:rPr>
              <a:t>B</a:t>
            </a:r>
            <a:endParaRPr lang="en-US" sz="1400" dirty="0"/>
          </a:p>
        </p:txBody>
      </p:sp>
      <p:sp>
        <p:nvSpPr>
          <p:cNvPr id="37" name="Text 35"/>
          <p:cNvSpPr/>
          <p:nvPr/>
        </p:nvSpPr>
        <p:spPr>
          <a:xfrm>
            <a:off x="6784848" y="3611880"/>
            <a:ext cx="4828032" cy="292608"/>
          </a:xfrm>
          <a:prstGeom prst="rect">
            <a:avLst/>
          </a:prstGeom>
          <a:noFill/>
          <a:ln/>
        </p:spPr>
        <p:txBody>
          <a:bodyPr wrap="square" lIns="0" tIns="0" rIns="0" bIns="0" rtlCol="0" anchor="ctr"/>
          <a:lstStyle/>
          <a:p>
            <a:pPr indent="0" marL="0">
              <a:buNone/>
            </a:pPr>
            <a:r>
              <a:rPr lang="en-US" sz="1200" b="1" dirty="0">
                <a:solidFill>
                  <a:srgbClr val="E8C040"/>
                </a:solidFill>
                <a:latin typeface="Arial" pitchFamily="34" charset="0"/>
                <a:ea typeface="Arial" pitchFamily="34" charset="-122"/>
                <a:cs typeface="Arial" pitchFamily="34" charset="-120"/>
              </a:rPr>
              <a:t>EFRIS Bridge  ·  For informal traders</a:t>
            </a:r>
            <a:endParaRPr lang="en-US" sz="1200" dirty="0"/>
          </a:p>
        </p:txBody>
      </p:sp>
      <p:sp>
        <p:nvSpPr>
          <p:cNvPr id="38" name="Text 36"/>
          <p:cNvSpPr/>
          <p:nvPr/>
        </p:nvSpPr>
        <p:spPr>
          <a:xfrm>
            <a:off x="6784848" y="3941064"/>
            <a:ext cx="4828032" cy="77724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USSD *284# or WhatsApp. Any phone. No internet needed. 14,820 businesses enrolled. UGX 3.8B new tax captured monthly. Growing 30%/month.</a:t>
            </a:r>
            <a:endParaRPr lang="en-US" sz="1000" dirty="0"/>
          </a:p>
        </p:txBody>
      </p:sp>
      <p:sp>
        <p:nvSpPr>
          <p:cNvPr id="39" name="Shape 37"/>
          <p:cNvSpPr/>
          <p:nvPr/>
        </p:nvSpPr>
        <p:spPr>
          <a:xfrm>
            <a:off x="6263640" y="5047488"/>
            <a:ext cx="5440680" cy="1353312"/>
          </a:xfrm>
          <a:prstGeom prst="rect">
            <a:avLst/>
          </a:prstGeom>
          <a:solidFill>
            <a:srgbClr val="162D5E"/>
          </a:solidFill>
          <a:ln w="12700">
            <a:solidFill>
              <a:srgbClr val="162D5E"/>
            </a:solidFill>
            <a:prstDash val="solid"/>
          </a:ln>
        </p:spPr>
      </p:sp>
      <p:sp>
        <p:nvSpPr>
          <p:cNvPr id="40" name="Shape 38"/>
          <p:cNvSpPr/>
          <p:nvPr/>
        </p:nvSpPr>
        <p:spPr>
          <a:xfrm>
            <a:off x="6263640" y="5047488"/>
            <a:ext cx="54864" cy="1353312"/>
          </a:xfrm>
          <a:prstGeom prst="rect">
            <a:avLst/>
          </a:prstGeom>
          <a:solidFill>
            <a:srgbClr val="22C55E"/>
          </a:solidFill>
          <a:ln w="12700">
            <a:solidFill>
              <a:srgbClr val="22C55E"/>
            </a:solidFill>
            <a:prstDash val="solid"/>
          </a:ln>
        </p:spPr>
      </p:sp>
      <p:sp>
        <p:nvSpPr>
          <p:cNvPr id="41" name="Shape 39"/>
          <p:cNvSpPr/>
          <p:nvPr/>
        </p:nvSpPr>
        <p:spPr>
          <a:xfrm>
            <a:off x="6318504" y="5157216"/>
            <a:ext cx="384048" cy="384048"/>
          </a:xfrm>
          <a:prstGeom prst="rect">
            <a:avLst/>
          </a:prstGeom>
          <a:solidFill>
            <a:srgbClr val="22C55E"/>
          </a:solidFill>
          <a:ln w="12700">
            <a:solidFill>
              <a:srgbClr val="22C55E"/>
            </a:solidFill>
            <a:prstDash val="solid"/>
          </a:ln>
        </p:spPr>
      </p:sp>
      <p:sp>
        <p:nvSpPr>
          <p:cNvPr id="42" name="Text 40"/>
          <p:cNvSpPr/>
          <p:nvPr/>
        </p:nvSpPr>
        <p:spPr>
          <a:xfrm>
            <a:off x="6318504" y="5157216"/>
            <a:ext cx="384048" cy="384048"/>
          </a:xfrm>
          <a:prstGeom prst="rect">
            <a:avLst/>
          </a:prstGeom>
          <a:noFill/>
          <a:ln/>
        </p:spPr>
        <p:txBody>
          <a:bodyPr wrap="square" lIns="0" tIns="0" rIns="0" bIns="0" rtlCol="0" anchor="ctr"/>
          <a:lstStyle/>
          <a:p>
            <a:pPr algn="ctr" indent="0" marL="0">
              <a:buNone/>
            </a:pPr>
            <a:r>
              <a:rPr lang="en-US" sz="1400" b="1" dirty="0">
                <a:solidFill>
                  <a:srgbClr val="0C2048"/>
                </a:solidFill>
                <a:latin typeface="Arial" pitchFamily="34" charset="0"/>
                <a:ea typeface="Arial" pitchFamily="34" charset="-122"/>
                <a:cs typeface="Arial" pitchFamily="34" charset="-120"/>
              </a:rPr>
              <a:t>C</a:t>
            </a:r>
            <a:endParaRPr lang="en-US" sz="1400" dirty="0"/>
          </a:p>
        </p:txBody>
      </p:sp>
      <p:sp>
        <p:nvSpPr>
          <p:cNvPr id="43" name="Text 41"/>
          <p:cNvSpPr/>
          <p:nvPr/>
        </p:nvSpPr>
        <p:spPr>
          <a:xfrm>
            <a:off x="6784848" y="5120640"/>
            <a:ext cx="4828032" cy="292608"/>
          </a:xfrm>
          <a:prstGeom prst="rect">
            <a:avLst/>
          </a:prstGeom>
          <a:noFill/>
          <a:ln/>
        </p:spPr>
        <p:txBody>
          <a:bodyPr wrap="square" lIns="0" tIns="0" rIns="0" bIns="0" rtlCol="0" anchor="ctr"/>
          <a:lstStyle/>
          <a:p>
            <a:pPr indent="0" marL="0">
              <a:buNone/>
            </a:pPr>
            <a:r>
              <a:rPr lang="en-US" sz="1200" b="1" dirty="0">
                <a:solidFill>
                  <a:srgbClr val="22C55E"/>
                </a:solidFill>
                <a:latin typeface="Arial" pitchFamily="34" charset="0"/>
                <a:ea typeface="Arial" pitchFamily="34" charset="-122"/>
                <a:cs typeface="Arial" pitchFamily="34" charset="-120"/>
              </a:rPr>
              <a:t>EFRIS Intelligence  ·  For URA itself</a:t>
            </a:r>
            <a:endParaRPr lang="en-US" sz="1200" dirty="0"/>
          </a:p>
        </p:txBody>
      </p:sp>
      <p:sp>
        <p:nvSpPr>
          <p:cNvPr id="44" name="Text 42"/>
          <p:cNvSpPr/>
          <p:nvPr/>
        </p:nvSpPr>
        <p:spPr>
          <a:xfrm>
            <a:off x="6784848" y="5449824"/>
            <a:ext cx="4828032" cy="77724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AI anomaly detection identifies businesses whose EFRIS declarations don't match their economic activity. 10.2x better audit ROI than random inspections.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2020"/>
          </a:solidFill>
          <a:ln w="12700">
            <a:solidFill>
              <a:srgbClr val="C82020"/>
            </a:solidFill>
            <a:prstDash val="solid"/>
          </a:ln>
        </p:spPr>
      </p:sp>
      <p:sp>
        <p:nvSpPr>
          <p:cNvPr id="3" name="Shape 1"/>
          <p:cNvSpPr/>
          <p:nvPr/>
        </p:nvSpPr>
        <p:spPr>
          <a:xfrm>
            <a:off x="0" y="0"/>
            <a:ext cx="12161520" cy="1005840"/>
          </a:xfrm>
          <a:prstGeom prst="rect">
            <a:avLst/>
          </a:prstGeom>
          <a:solidFill>
            <a:srgbClr val="0C2048"/>
          </a:solidFill>
          <a:ln w="12700">
            <a:solidFill>
              <a:srgbClr val="0C2048"/>
            </a:solidFill>
            <a:prstDash val="solid"/>
          </a:ln>
        </p:spPr>
      </p:sp>
      <p:sp>
        <p:nvSpPr>
          <p:cNvPr id="4" name="Text 2"/>
          <p:cNvSpPr/>
          <p:nvPr/>
        </p:nvSpPr>
        <p:spPr>
          <a:xfrm>
            <a:off x="347472" y="146304"/>
            <a:ext cx="4572000" cy="274320"/>
          </a:xfrm>
          <a:prstGeom prst="rect">
            <a:avLst/>
          </a:prstGeom>
          <a:noFill/>
          <a:ln/>
        </p:spPr>
        <p:txBody>
          <a:bodyPr wrap="square" lIns="0" tIns="0" rIns="0" bIns="0" rtlCol="0" anchor="ctr"/>
          <a:lstStyle/>
          <a:p>
            <a:pPr indent="0" marL="0">
              <a:buNone/>
            </a:pPr>
            <a:r>
              <a:rPr lang="en-US" sz="1000" b="1" spc="400" kern="0" dirty="0">
                <a:solidFill>
                  <a:srgbClr val="E8C040"/>
                </a:solidFill>
                <a:latin typeface="Arial" pitchFamily="34" charset="0"/>
                <a:ea typeface="Arial" pitchFamily="34" charset="-122"/>
                <a:cs typeface="Arial" pitchFamily="34" charset="-120"/>
              </a:rPr>
              <a:t>GUARDPOST · WAREHOUSE FRAUD DETECTION</a:t>
            </a:r>
            <a:endParaRPr lang="en-US" sz="1000" dirty="0"/>
          </a:p>
        </p:txBody>
      </p:sp>
      <p:sp>
        <p:nvSpPr>
          <p:cNvPr id="5" name="Text 3"/>
          <p:cNvSpPr/>
          <p:nvPr/>
        </p:nvSpPr>
        <p:spPr>
          <a:xfrm>
            <a:off x="347472" y="384048"/>
            <a:ext cx="11430000" cy="502920"/>
          </a:xfrm>
          <a:prstGeom prst="rect">
            <a:avLst/>
          </a:prstGeom>
          <a:noFill/>
          <a:ln/>
        </p:spPr>
        <p:txBody>
          <a:bodyPr wrap="square" lIns="0" tIns="0" rIns="0" bIns="0" rtlCol="0" anchor="ctr"/>
          <a:lstStyle/>
          <a:p>
            <a:pPr indent="0" marL="0">
              <a:buNone/>
            </a:pPr>
            <a:r>
              <a:rPr lang="en-US" sz="1700" i="1" dirty="0">
                <a:solidFill>
                  <a:srgbClr val="FFFFFF"/>
                </a:solidFill>
                <a:latin typeface="Arial" pitchFamily="34" charset="0"/>
                <a:ea typeface="Arial" pitchFamily="34" charset="-122"/>
                <a:cs typeface="Arial" pitchFamily="34" charset="-120"/>
              </a:rPr>
              <a:t>"Your managers stole UGX 5 billion. We would have stopped it on night one."</a:t>
            </a:r>
            <a:endParaRPr lang="en-US" sz="1700" dirty="0"/>
          </a:p>
        </p:txBody>
      </p:sp>
      <p:sp>
        <p:nvSpPr>
          <p:cNvPr id="6" name="Shape 4"/>
          <p:cNvSpPr/>
          <p:nvPr/>
        </p:nvSpPr>
        <p:spPr>
          <a:xfrm>
            <a:off x="274320" y="1143000"/>
            <a:ext cx="5303520" cy="5394960"/>
          </a:xfrm>
          <a:prstGeom prst="rect">
            <a:avLst/>
          </a:prstGeom>
          <a:solidFill>
            <a:srgbClr val="FDF0EE"/>
          </a:solidFill>
          <a:ln w="12700">
            <a:solidFill>
              <a:srgbClr val="C82020"/>
            </a:solidFill>
            <a:prstDash val="solid"/>
          </a:ln>
        </p:spPr>
      </p:sp>
      <p:sp>
        <p:nvSpPr>
          <p:cNvPr id="7" name="Shape 5"/>
          <p:cNvSpPr/>
          <p:nvPr/>
        </p:nvSpPr>
        <p:spPr>
          <a:xfrm>
            <a:off x="274320" y="1143000"/>
            <a:ext cx="5303520" cy="54864"/>
          </a:xfrm>
          <a:prstGeom prst="rect">
            <a:avLst/>
          </a:prstGeom>
          <a:solidFill>
            <a:srgbClr val="C82020"/>
          </a:solidFill>
          <a:ln w="12700">
            <a:solidFill>
              <a:srgbClr val="C82020"/>
            </a:solidFill>
            <a:prstDash val="solid"/>
          </a:ln>
        </p:spPr>
      </p:sp>
      <p:sp>
        <p:nvSpPr>
          <p:cNvPr id="8" name="Text 6"/>
          <p:cNvSpPr/>
          <p:nvPr/>
        </p:nvSpPr>
        <p:spPr>
          <a:xfrm>
            <a:off x="457200" y="1261872"/>
            <a:ext cx="4937760" cy="274320"/>
          </a:xfrm>
          <a:prstGeom prst="rect">
            <a:avLst/>
          </a:prstGeom>
          <a:noFill/>
          <a:ln/>
        </p:spPr>
        <p:txBody>
          <a:bodyPr wrap="square" lIns="0" tIns="0" rIns="0" bIns="0" rtlCol="0" anchor="ctr"/>
          <a:lstStyle/>
          <a:p>
            <a:pPr indent="0" marL="0">
              <a:buNone/>
            </a:pPr>
            <a:r>
              <a:rPr lang="en-US" sz="1100" b="1" spc="200" kern="0" dirty="0">
                <a:solidFill>
                  <a:srgbClr val="C82020"/>
                </a:solidFill>
                <a:latin typeface="Arial" pitchFamily="34" charset="0"/>
                <a:ea typeface="Arial" pitchFamily="34" charset="-122"/>
                <a:cs typeface="Arial" pitchFamily="34" charset="-120"/>
              </a:rPr>
              <a:t>NILE BREWERIES — MARCH 2025</a:t>
            </a:r>
            <a:endParaRPr lang="en-US" sz="1100" dirty="0"/>
          </a:p>
        </p:txBody>
      </p:sp>
      <p:sp>
        <p:nvSpPr>
          <p:cNvPr id="9" name="Shape 7"/>
          <p:cNvSpPr/>
          <p:nvPr/>
        </p:nvSpPr>
        <p:spPr>
          <a:xfrm>
            <a:off x="457200" y="1755648"/>
            <a:ext cx="274320" cy="274320"/>
          </a:xfrm>
          <a:prstGeom prst="rect">
            <a:avLst/>
          </a:prstGeom>
          <a:solidFill>
            <a:srgbClr val="FFCCCC"/>
          </a:solidFill>
          <a:ln w="12700">
            <a:solidFill>
              <a:srgbClr val="FFCCCC"/>
            </a:solidFill>
            <a:prstDash val="solid"/>
          </a:ln>
        </p:spPr>
      </p:sp>
      <p:sp>
        <p:nvSpPr>
          <p:cNvPr id="10" name="Text 8"/>
          <p:cNvSpPr/>
          <p:nvPr/>
        </p:nvSpPr>
        <p:spPr>
          <a:xfrm>
            <a:off x="457200" y="1755648"/>
            <a:ext cx="274320" cy="274320"/>
          </a:xfrm>
          <a:prstGeom prst="rect">
            <a:avLst/>
          </a:prstGeom>
          <a:noFill/>
          <a:ln/>
        </p:spPr>
        <p:txBody>
          <a:bodyPr wrap="square" lIns="0" tIns="0" rIns="0" bIns="0" rtlCol="0" anchor="ctr"/>
          <a:lstStyle/>
          <a:p>
            <a:pPr algn="ctr" indent="0" marL="0">
              <a:buNone/>
            </a:pPr>
            <a:r>
              <a:rPr lang="en-US" sz="1000" b="1" dirty="0">
                <a:solidFill>
                  <a:srgbClr val="C82020"/>
                </a:solidFill>
                <a:latin typeface="Arial" pitchFamily="34" charset="0"/>
                <a:ea typeface="Arial" pitchFamily="34" charset="-122"/>
                <a:cs typeface="Arial" pitchFamily="34" charset="-120"/>
              </a:rPr>
              <a:t>1</a:t>
            </a:r>
            <a:endParaRPr lang="en-US" sz="1000" dirty="0"/>
          </a:p>
        </p:txBody>
      </p:sp>
      <p:sp>
        <p:nvSpPr>
          <p:cNvPr id="11" name="Text 9"/>
          <p:cNvSpPr/>
          <p:nvPr/>
        </p:nvSpPr>
        <p:spPr>
          <a:xfrm>
            <a:off x="868680" y="1773936"/>
            <a:ext cx="4480560" cy="292608"/>
          </a:xfrm>
          <a:prstGeom prst="rect">
            <a:avLst/>
          </a:prstGeom>
          <a:noFill/>
          <a:ln/>
        </p:spPr>
        <p:txBody>
          <a:bodyPr wrap="square" lIns="0" tIns="0" rIns="0" bIns="0" rtlCol="0" anchor="ctr"/>
          <a:lstStyle/>
          <a:p>
            <a:pPr indent="0" marL="0">
              <a:buNone/>
            </a:pPr>
            <a:r>
              <a:rPr lang="en-US" sz="1100" dirty="0">
                <a:solidFill>
                  <a:srgbClr val="1C1C18"/>
                </a:solidFill>
                <a:latin typeface="Arial" pitchFamily="34" charset="0"/>
                <a:ea typeface="Arial" pitchFamily="34" charset="-122"/>
                <a:cs typeface="Arial" pitchFamily="34" charset="-120"/>
              </a:rPr>
              <a:t>3 warehouse managers at Namanve created false delivery documentation</a:t>
            </a:r>
            <a:endParaRPr lang="en-US" sz="1100" dirty="0"/>
          </a:p>
        </p:txBody>
      </p:sp>
      <p:sp>
        <p:nvSpPr>
          <p:cNvPr id="12" name="Shape 10"/>
          <p:cNvSpPr/>
          <p:nvPr/>
        </p:nvSpPr>
        <p:spPr>
          <a:xfrm>
            <a:off x="457200" y="2450592"/>
            <a:ext cx="274320" cy="274320"/>
          </a:xfrm>
          <a:prstGeom prst="rect">
            <a:avLst/>
          </a:prstGeom>
          <a:solidFill>
            <a:srgbClr val="FFCCCC"/>
          </a:solidFill>
          <a:ln w="12700">
            <a:solidFill>
              <a:srgbClr val="FFCCCC"/>
            </a:solidFill>
            <a:prstDash val="solid"/>
          </a:ln>
        </p:spPr>
      </p:sp>
      <p:sp>
        <p:nvSpPr>
          <p:cNvPr id="13" name="Text 11"/>
          <p:cNvSpPr/>
          <p:nvPr/>
        </p:nvSpPr>
        <p:spPr>
          <a:xfrm>
            <a:off x="457200" y="2450592"/>
            <a:ext cx="274320" cy="274320"/>
          </a:xfrm>
          <a:prstGeom prst="rect">
            <a:avLst/>
          </a:prstGeom>
          <a:noFill/>
          <a:ln/>
        </p:spPr>
        <p:txBody>
          <a:bodyPr wrap="square" lIns="0" tIns="0" rIns="0" bIns="0" rtlCol="0" anchor="ctr"/>
          <a:lstStyle/>
          <a:p>
            <a:pPr algn="ctr" indent="0" marL="0">
              <a:buNone/>
            </a:pPr>
            <a:r>
              <a:rPr lang="en-US" sz="1000" b="1" dirty="0">
                <a:solidFill>
                  <a:srgbClr val="C82020"/>
                </a:solidFill>
                <a:latin typeface="Arial" pitchFamily="34" charset="0"/>
                <a:ea typeface="Arial" pitchFamily="34" charset="-122"/>
                <a:cs typeface="Arial" pitchFamily="34" charset="-120"/>
              </a:rPr>
              <a:t>2</a:t>
            </a:r>
            <a:endParaRPr lang="en-US" sz="1000" dirty="0"/>
          </a:p>
        </p:txBody>
      </p:sp>
      <p:sp>
        <p:nvSpPr>
          <p:cNvPr id="14" name="Text 12"/>
          <p:cNvSpPr/>
          <p:nvPr/>
        </p:nvSpPr>
        <p:spPr>
          <a:xfrm>
            <a:off x="868680" y="2468880"/>
            <a:ext cx="4480560" cy="292608"/>
          </a:xfrm>
          <a:prstGeom prst="rect">
            <a:avLst/>
          </a:prstGeom>
          <a:noFill/>
          <a:ln/>
        </p:spPr>
        <p:txBody>
          <a:bodyPr wrap="square" lIns="0" tIns="0" rIns="0" bIns="0" rtlCol="0" anchor="ctr"/>
          <a:lstStyle/>
          <a:p>
            <a:pPr indent="0" marL="0">
              <a:buNone/>
            </a:pPr>
            <a:r>
              <a:rPr lang="en-US" sz="1100" dirty="0">
                <a:solidFill>
                  <a:srgbClr val="1C1C18"/>
                </a:solidFill>
                <a:latin typeface="Arial" pitchFamily="34" charset="0"/>
                <a:ea typeface="Arial" pitchFamily="34" charset="-122"/>
                <a:cs typeface="Arial" pitchFamily="34" charset="-120"/>
              </a:rPr>
              <a:t>Loaded trucks with unrecorded crates after hours</a:t>
            </a:r>
            <a:endParaRPr lang="en-US" sz="1100" dirty="0"/>
          </a:p>
        </p:txBody>
      </p:sp>
      <p:sp>
        <p:nvSpPr>
          <p:cNvPr id="15" name="Shape 13"/>
          <p:cNvSpPr/>
          <p:nvPr/>
        </p:nvSpPr>
        <p:spPr>
          <a:xfrm>
            <a:off x="457200" y="3145536"/>
            <a:ext cx="274320" cy="274320"/>
          </a:xfrm>
          <a:prstGeom prst="rect">
            <a:avLst/>
          </a:prstGeom>
          <a:solidFill>
            <a:srgbClr val="FFCCCC"/>
          </a:solidFill>
          <a:ln w="12700">
            <a:solidFill>
              <a:srgbClr val="FFCCCC"/>
            </a:solidFill>
            <a:prstDash val="solid"/>
          </a:ln>
        </p:spPr>
      </p:sp>
      <p:sp>
        <p:nvSpPr>
          <p:cNvPr id="16" name="Text 14"/>
          <p:cNvSpPr/>
          <p:nvPr/>
        </p:nvSpPr>
        <p:spPr>
          <a:xfrm>
            <a:off x="457200" y="3145536"/>
            <a:ext cx="274320" cy="274320"/>
          </a:xfrm>
          <a:prstGeom prst="rect">
            <a:avLst/>
          </a:prstGeom>
          <a:noFill/>
          <a:ln/>
        </p:spPr>
        <p:txBody>
          <a:bodyPr wrap="square" lIns="0" tIns="0" rIns="0" bIns="0" rtlCol="0" anchor="ctr"/>
          <a:lstStyle/>
          <a:p>
            <a:pPr algn="ctr" indent="0" marL="0">
              <a:buNone/>
            </a:pPr>
            <a:r>
              <a:rPr lang="en-US" sz="1000" b="1" dirty="0">
                <a:solidFill>
                  <a:srgbClr val="C82020"/>
                </a:solidFill>
                <a:latin typeface="Arial" pitchFamily="34" charset="0"/>
                <a:ea typeface="Arial" pitchFamily="34" charset="-122"/>
                <a:cs typeface="Arial" pitchFamily="34" charset="-120"/>
              </a:rPr>
              <a:t>3</a:t>
            </a:r>
            <a:endParaRPr lang="en-US" sz="1000" dirty="0"/>
          </a:p>
        </p:txBody>
      </p:sp>
      <p:sp>
        <p:nvSpPr>
          <p:cNvPr id="17" name="Text 15"/>
          <p:cNvSpPr/>
          <p:nvPr/>
        </p:nvSpPr>
        <p:spPr>
          <a:xfrm>
            <a:off x="868680" y="3163824"/>
            <a:ext cx="4480560" cy="292608"/>
          </a:xfrm>
          <a:prstGeom prst="rect">
            <a:avLst/>
          </a:prstGeom>
          <a:noFill/>
          <a:ln/>
        </p:spPr>
        <p:txBody>
          <a:bodyPr wrap="square" lIns="0" tIns="0" rIns="0" bIns="0" rtlCol="0" anchor="ctr"/>
          <a:lstStyle/>
          <a:p>
            <a:pPr indent="0" marL="0">
              <a:buNone/>
            </a:pPr>
            <a:r>
              <a:rPr lang="en-US" sz="1100" dirty="0">
                <a:solidFill>
                  <a:srgbClr val="1C1C18"/>
                </a:solidFill>
                <a:latin typeface="Arial" pitchFamily="34" charset="0"/>
                <a:ea typeface="Arial" pitchFamily="34" charset="-122"/>
                <a:cs typeface="Arial" pitchFamily="34" charset="-120"/>
              </a:rPr>
              <a:t>Sold beer at 30–40% below market to black market buyers</a:t>
            </a:r>
            <a:endParaRPr lang="en-US" sz="1100" dirty="0"/>
          </a:p>
        </p:txBody>
      </p:sp>
      <p:sp>
        <p:nvSpPr>
          <p:cNvPr id="18" name="Shape 16"/>
          <p:cNvSpPr/>
          <p:nvPr/>
        </p:nvSpPr>
        <p:spPr>
          <a:xfrm>
            <a:off x="457200" y="3840480"/>
            <a:ext cx="274320" cy="274320"/>
          </a:xfrm>
          <a:prstGeom prst="rect">
            <a:avLst/>
          </a:prstGeom>
          <a:solidFill>
            <a:srgbClr val="FFCCCC"/>
          </a:solidFill>
          <a:ln w="12700">
            <a:solidFill>
              <a:srgbClr val="FFCCCC"/>
            </a:solidFill>
            <a:prstDash val="solid"/>
          </a:ln>
        </p:spPr>
      </p:sp>
      <p:sp>
        <p:nvSpPr>
          <p:cNvPr id="19" name="Text 17"/>
          <p:cNvSpPr/>
          <p:nvPr/>
        </p:nvSpPr>
        <p:spPr>
          <a:xfrm>
            <a:off x="457200" y="3840480"/>
            <a:ext cx="274320" cy="274320"/>
          </a:xfrm>
          <a:prstGeom prst="rect">
            <a:avLst/>
          </a:prstGeom>
          <a:noFill/>
          <a:ln/>
        </p:spPr>
        <p:txBody>
          <a:bodyPr wrap="square" lIns="0" tIns="0" rIns="0" bIns="0" rtlCol="0" anchor="ctr"/>
          <a:lstStyle/>
          <a:p>
            <a:pPr algn="ctr" indent="0" marL="0">
              <a:buNone/>
            </a:pPr>
            <a:r>
              <a:rPr lang="en-US" sz="1000" b="1" dirty="0">
                <a:solidFill>
                  <a:srgbClr val="C82020"/>
                </a:solidFill>
                <a:latin typeface="Arial" pitchFamily="34" charset="0"/>
                <a:ea typeface="Arial" pitchFamily="34" charset="-122"/>
                <a:cs typeface="Arial" pitchFamily="34" charset="-120"/>
              </a:rPr>
              <a:t>4</a:t>
            </a:r>
            <a:endParaRPr lang="en-US" sz="1000" dirty="0"/>
          </a:p>
        </p:txBody>
      </p:sp>
      <p:sp>
        <p:nvSpPr>
          <p:cNvPr id="20" name="Text 18"/>
          <p:cNvSpPr/>
          <p:nvPr/>
        </p:nvSpPr>
        <p:spPr>
          <a:xfrm>
            <a:off x="868680" y="3858768"/>
            <a:ext cx="4480560" cy="292608"/>
          </a:xfrm>
          <a:prstGeom prst="rect">
            <a:avLst/>
          </a:prstGeom>
          <a:noFill/>
          <a:ln/>
        </p:spPr>
        <p:txBody>
          <a:bodyPr wrap="square" lIns="0" tIns="0" rIns="0" bIns="0" rtlCol="0" anchor="ctr"/>
          <a:lstStyle/>
          <a:p>
            <a:pPr indent="0" marL="0">
              <a:buNone/>
            </a:pPr>
            <a:r>
              <a:rPr lang="en-US" sz="1100" dirty="0">
                <a:solidFill>
                  <a:srgbClr val="1C1C18"/>
                </a:solidFill>
                <a:latin typeface="Arial" pitchFamily="34" charset="0"/>
                <a:ea typeface="Arial" pitchFamily="34" charset="-122"/>
                <a:cs typeface="Arial" pitchFamily="34" charset="-120"/>
              </a:rPr>
              <a:t>Ran undetected for months</a:t>
            </a:r>
            <a:endParaRPr lang="en-US" sz="1100" dirty="0"/>
          </a:p>
        </p:txBody>
      </p:sp>
      <p:sp>
        <p:nvSpPr>
          <p:cNvPr id="21" name="Shape 19"/>
          <p:cNvSpPr/>
          <p:nvPr/>
        </p:nvSpPr>
        <p:spPr>
          <a:xfrm>
            <a:off x="457200" y="4535424"/>
            <a:ext cx="274320" cy="274320"/>
          </a:xfrm>
          <a:prstGeom prst="rect">
            <a:avLst/>
          </a:prstGeom>
          <a:solidFill>
            <a:srgbClr val="C82020"/>
          </a:solidFill>
          <a:ln w="12700">
            <a:solidFill>
              <a:srgbClr val="C82020"/>
            </a:solidFill>
            <a:prstDash val="solid"/>
          </a:ln>
        </p:spPr>
      </p:sp>
      <p:sp>
        <p:nvSpPr>
          <p:cNvPr id="22" name="Text 20"/>
          <p:cNvSpPr/>
          <p:nvPr/>
        </p:nvSpPr>
        <p:spPr>
          <a:xfrm>
            <a:off x="457200" y="453542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23" name="Text 21"/>
          <p:cNvSpPr/>
          <p:nvPr/>
        </p:nvSpPr>
        <p:spPr>
          <a:xfrm>
            <a:off x="868680" y="4553712"/>
            <a:ext cx="4480560" cy="292608"/>
          </a:xfrm>
          <a:prstGeom prst="rect">
            <a:avLst/>
          </a:prstGeom>
          <a:noFill/>
          <a:ln/>
        </p:spPr>
        <p:txBody>
          <a:bodyPr wrap="square" lIns="0" tIns="0" rIns="0" bIns="0" rtlCol="0" anchor="ctr"/>
          <a:lstStyle/>
          <a:p>
            <a:pPr indent="0" marL="0">
              <a:buNone/>
            </a:pPr>
            <a:r>
              <a:rPr lang="en-US" sz="1300" b="1" dirty="0">
                <a:solidFill>
                  <a:srgbClr val="C82020"/>
                </a:solidFill>
                <a:latin typeface="Arial" pitchFamily="34" charset="0"/>
                <a:ea typeface="Arial" pitchFamily="34" charset="-122"/>
                <a:cs typeface="Arial" pitchFamily="34" charset="-120"/>
              </a:rPr>
              <a:t>Total loss: UGX 5 BILLION</a:t>
            </a:r>
            <a:endParaRPr lang="en-US" sz="1300" dirty="0"/>
          </a:p>
        </p:txBody>
      </p:sp>
      <p:sp>
        <p:nvSpPr>
          <p:cNvPr id="24" name="Shape 22"/>
          <p:cNvSpPr/>
          <p:nvPr/>
        </p:nvSpPr>
        <p:spPr>
          <a:xfrm>
            <a:off x="457200" y="5230368"/>
            <a:ext cx="274320" cy="274320"/>
          </a:xfrm>
          <a:prstGeom prst="rect">
            <a:avLst/>
          </a:prstGeom>
          <a:solidFill>
            <a:srgbClr val="FFCCCC"/>
          </a:solidFill>
          <a:ln w="12700">
            <a:solidFill>
              <a:srgbClr val="FFCCCC"/>
            </a:solidFill>
            <a:prstDash val="solid"/>
          </a:ln>
        </p:spPr>
      </p:sp>
      <p:sp>
        <p:nvSpPr>
          <p:cNvPr id="25" name="Text 23"/>
          <p:cNvSpPr/>
          <p:nvPr/>
        </p:nvSpPr>
        <p:spPr>
          <a:xfrm>
            <a:off x="457200" y="5230368"/>
            <a:ext cx="274320" cy="274320"/>
          </a:xfrm>
          <a:prstGeom prst="rect">
            <a:avLst/>
          </a:prstGeom>
          <a:noFill/>
          <a:ln/>
        </p:spPr>
        <p:txBody>
          <a:bodyPr wrap="square" lIns="0" tIns="0" rIns="0" bIns="0" rtlCol="0" anchor="ctr"/>
          <a:lstStyle/>
          <a:p>
            <a:pPr algn="ctr" indent="0" marL="0">
              <a:buNone/>
            </a:pPr>
            <a:r>
              <a:rPr lang="en-US" sz="1000" b="1" dirty="0">
                <a:solidFill>
                  <a:srgbClr val="C82020"/>
                </a:solidFill>
                <a:latin typeface="Arial" pitchFamily="34" charset="0"/>
                <a:ea typeface="Arial" pitchFamily="34" charset="-122"/>
                <a:cs typeface="Arial" pitchFamily="34" charset="-120"/>
              </a:rPr>
              <a:t>!</a:t>
            </a:r>
            <a:endParaRPr lang="en-US" sz="1000" dirty="0"/>
          </a:p>
        </p:txBody>
      </p:sp>
      <p:sp>
        <p:nvSpPr>
          <p:cNvPr id="26" name="Text 24"/>
          <p:cNvSpPr/>
          <p:nvPr/>
        </p:nvSpPr>
        <p:spPr>
          <a:xfrm>
            <a:off x="868680" y="5248656"/>
            <a:ext cx="4480560" cy="292608"/>
          </a:xfrm>
          <a:prstGeom prst="rect">
            <a:avLst/>
          </a:prstGeom>
          <a:noFill/>
          <a:ln/>
        </p:spPr>
        <p:txBody>
          <a:bodyPr wrap="square" lIns="0" tIns="0" rIns="0" bIns="0" rtlCol="0" anchor="ctr"/>
          <a:lstStyle/>
          <a:p>
            <a:pPr indent="0" marL="0">
              <a:buNone/>
            </a:pPr>
            <a:r>
              <a:rPr lang="en-US" sz="1100" dirty="0">
                <a:solidFill>
                  <a:srgbClr val="1C1C18"/>
                </a:solidFill>
                <a:latin typeface="Arial" pitchFamily="34" charset="0"/>
                <a:ea typeface="Arial" pitchFamily="34" charset="-122"/>
                <a:cs typeface="Arial" pitchFamily="34" charset="-120"/>
              </a:rPr>
              <a:t>Discovered only when financial discrepancy too large to ignore</a:t>
            </a:r>
            <a:endParaRPr lang="en-US" sz="1100" dirty="0"/>
          </a:p>
        </p:txBody>
      </p:sp>
      <p:sp>
        <p:nvSpPr>
          <p:cNvPr id="27" name="Shape 25"/>
          <p:cNvSpPr/>
          <p:nvPr/>
        </p:nvSpPr>
        <p:spPr>
          <a:xfrm>
            <a:off x="5943600" y="1143000"/>
            <a:ext cx="5943600" cy="53949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5943600" y="1143000"/>
            <a:ext cx="5943600" cy="54864"/>
          </a:xfrm>
          <a:prstGeom prst="rect">
            <a:avLst/>
          </a:prstGeom>
          <a:solidFill>
            <a:srgbClr val="0C2048"/>
          </a:solidFill>
          <a:ln w="12700">
            <a:solidFill>
              <a:srgbClr val="0C2048"/>
            </a:solidFill>
            <a:prstDash val="solid"/>
          </a:ln>
        </p:spPr>
      </p:sp>
      <p:sp>
        <p:nvSpPr>
          <p:cNvPr id="29" name="Text 27"/>
          <p:cNvSpPr/>
          <p:nvPr/>
        </p:nvSpPr>
        <p:spPr>
          <a:xfrm>
            <a:off x="6126480" y="1261872"/>
            <a:ext cx="5577840" cy="274320"/>
          </a:xfrm>
          <a:prstGeom prst="rect">
            <a:avLst/>
          </a:prstGeom>
          <a:noFill/>
          <a:ln/>
        </p:spPr>
        <p:txBody>
          <a:bodyPr wrap="square" lIns="0" tIns="0" rIns="0" bIns="0" rtlCol="0" anchor="ctr"/>
          <a:lstStyle/>
          <a:p>
            <a:pPr indent="0" marL="0">
              <a:buNone/>
            </a:pPr>
            <a:r>
              <a:rPr lang="en-US" sz="1100" b="1" spc="200" kern="0" dirty="0">
                <a:solidFill>
                  <a:srgbClr val="0C2048"/>
                </a:solidFill>
                <a:latin typeface="Arial" pitchFamily="34" charset="0"/>
                <a:ea typeface="Arial" pitchFamily="34" charset="-122"/>
                <a:cs typeface="Arial" pitchFamily="34" charset="-120"/>
              </a:rPr>
              <a:t>GUARDPOST — HOW IT STOPS THIS</a:t>
            </a:r>
            <a:endParaRPr lang="en-US" sz="1100" dirty="0"/>
          </a:p>
        </p:txBody>
      </p:sp>
      <p:sp>
        <p:nvSpPr>
          <p:cNvPr id="30" name="Shape 28"/>
          <p:cNvSpPr/>
          <p:nvPr/>
        </p:nvSpPr>
        <p:spPr>
          <a:xfrm>
            <a:off x="6126480" y="1664208"/>
            <a:ext cx="475488" cy="475488"/>
          </a:xfrm>
          <a:prstGeom prst="rect">
            <a:avLst/>
          </a:prstGeom>
          <a:solidFill>
            <a:srgbClr val="0A7870"/>
          </a:solidFill>
          <a:ln w="12700">
            <a:solidFill>
              <a:srgbClr val="0A7870"/>
            </a:solidFill>
            <a:prstDash val="solid"/>
          </a:ln>
        </p:spPr>
      </p:sp>
      <p:sp>
        <p:nvSpPr>
          <p:cNvPr id="31" name="Text 29"/>
          <p:cNvSpPr/>
          <p:nvPr/>
        </p:nvSpPr>
        <p:spPr>
          <a:xfrm>
            <a:off x="6126480" y="16642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32" name="Text 30"/>
          <p:cNvSpPr/>
          <p:nvPr/>
        </p:nvSpPr>
        <p:spPr>
          <a:xfrm>
            <a:off x="6711696" y="1700784"/>
            <a:ext cx="4937760" cy="310896"/>
          </a:xfrm>
          <a:prstGeom prst="rect">
            <a:avLst/>
          </a:prstGeom>
          <a:noFill/>
          <a:ln/>
        </p:spPr>
        <p:txBody>
          <a:bodyPr wrap="square" lIns="0" tIns="0" rIns="0" bIns="0" rtlCol="0" anchor="ctr"/>
          <a:lstStyle/>
          <a:p>
            <a:pPr indent="0" marL="0">
              <a:buNone/>
            </a:pPr>
            <a:r>
              <a:rPr lang="en-US" sz="1300" b="1" dirty="0">
                <a:solidFill>
                  <a:srgbClr val="0C2048"/>
                </a:solidFill>
                <a:latin typeface="Arial" pitchFamily="34" charset="0"/>
                <a:ea typeface="Arial" pitchFamily="34" charset="-122"/>
                <a:cs typeface="Arial" pitchFamily="34" charset="-120"/>
              </a:rPr>
              <a:t>3-Way Load Match</a:t>
            </a:r>
            <a:endParaRPr lang="en-US" sz="1300" dirty="0"/>
          </a:p>
        </p:txBody>
      </p:sp>
      <p:sp>
        <p:nvSpPr>
          <p:cNvPr id="33" name="Text 31"/>
          <p:cNvSpPr/>
          <p:nvPr/>
        </p:nvSpPr>
        <p:spPr>
          <a:xfrm>
            <a:off x="6711696" y="2048256"/>
            <a:ext cx="4937760" cy="822960"/>
          </a:xfrm>
          <a:prstGeom prst="rect">
            <a:avLst/>
          </a:prstGeom>
          <a:noFill/>
          <a:ln/>
        </p:spPr>
        <p:txBody>
          <a:bodyPr wrap="square" lIns="0" tIns="0" rIns="0" bIns="0" rtlCol="0" anchor="ctr"/>
          <a:lstStyle/>
          <a:p>
            <a:pPr indent="0" marL="0">
              <a:buNone/>
            </a:pPr>
            <a:r>
              <a:rPr lang="en-US" sz="1050" dirty="0">
                <a:solidFill>
                  <a:srgbClr val="5A5848"/>
                </a:solidFill>
                <a:latin typeface="Arial" pitchFamily="34" charset="0"/>
                <a:ea typeface="Arial" pitchFamily="34" charset="-122"/>
                <a:cs typeface="Arial" pitchFamily="34" charset="-120"/>
              </a:rPr>
              <a:t>Every crate scanned on loading. Invoice = loaded = delivered must match. Any mismatch → instant SMS to Warehouse Manager &amp; Security.</a:t>
            </a:r>
            <a:endParaRPr lang="en-US" sz="1050" dirty="0"/>
          </a:p>
        </p:txBody>
      </p:sp>
      <p:sp>
        <p:nvSpPr>
          <p:cNvPr id="34" name="Shape 32"/>
          <p:cNvSpPr/>
          <p:nvPr/>
        </p:nvSpPr>
        <p:spPr>
          <a:xfrm>
            <a:off x="6126480" y="3218688"/>
            <a:ext cx="475488" cy="475488"/>
          </a:xfrm>
          <a:prstGeom prst="rect">
            <a:avLst/>
          </a:prstGeom>
          <a:solidFill>
            <a:srgbClr val="0C2048"/>
          </a:solidFill>
          <a:ln w="12700">
            <a:solidFill>
              <a:srgbClr val="0C2048"/>
            </a:solidFill>
            <a:prstDash val="solid"/>
          </a:ln>
        </p:spPr>
      </p:sp>
      <p:sp>
        <p:nvSpPr>
          <p:cNvPr id="35" name="Text 33"/>
          <p:cNvSpPr/>
          <p:nvPr/>
        </p:nvSpPr>
        <p:spPr>
          <a:xfrm>
            <a:off x="6126480" y="321868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36" name="Text 34"/>
          <p:cNvSpPr/>
          <p:nvPr/>
        </p:nvSpPr>
        <p:spPr>
          <a:xfrm>
            <a:off x="6711696" y="3255264"/>
            <a:ext cx="4937760" cy="310896"/>
          </a:xfrm>
          <a:prstGeom prst="rect">
            <a:avLst/>
          </a:prstGeom>
          <a:noFill/>
          <a:ln/>
        </p:spPr>
        <p:txBody>
          <a:bodyPr wrap="square" lIns="0" tIns="0" rIns="0" bIns="0" rtlCol="0" anchor="ctr"/>
          <a:lstStyle/>
          <a:p>
            <a:pPr indent="0" marL="0">
              <a:buNone/>
            </a:pPr>
            <a:r>
              <a:rPr lang="en-US" sz="1300" b="1" dirty="0">
                <a:solidFill>
                  <a:srgbClr val="0C2048"/>
                </a:solidFill>
                <a:latin typeface="Arial" pitchFamily="34" charset="0"/>
                <a:ea typeface="Arial" pitchFamily="34" charset="-122"/>
                <a:cs typeface="Arial" pitchFamily="34" charset="-120"/>
              </a:rPr>
              <a:t>GPS Truck Tracking</a:t>
            </a:r>
            <a:endParaRPr lang="en-US" sz="1300" dirty="0"/>
          </a:p>
        </p:txBody>
      </p:sp>
      <p:sp>
        <p:nvSpPr>
          <p:cNvPr id="37" name="Text 35"/>
          <p:cNvSpPr/>
          <p:nvPr/>
        </p:nvSpPr>
        <p:spPr>
          <a:xfrm>
            <a:off x="6711696" y="3602736"/>
            <a:ext cx="4937760" cy="822960"/>
          </a:xfrm>
          <a:prstGeom prst="rect">
            <a:avLst/>
          </a:prstGeom>
          <a:noFill/>
          <a:ln/>
        </p:spPr>
        <p:txBody>
          <a:bodyPr wrap="square" lIns="0" tIns="0" rIns="0" bIns="0" rtlCol="0" anchor="ctr"/>
          <a:lstStyle/>
          <a:p>
            <a:pPr indent="0" marL="0">
              <a:buNone/>
            </a:pPr>
            <a:r>
              <a:rPr lang="en-US" sz="1050" dirty="0">
                <a:solidFill>
                  <a:srgbClr val="5A5848"/>
                </a:solidFill>
                <a:latin typeface="Arial" pitchFamily="34" charset="0"/>
                <a:ea typeface="Arial" pitchFamily="34" charset="-122"/>
                <a:cs typeface="Arial" pitchFamily="34" charset="-120"/>
              </a:rPr>
              <a:t>Every truck GPS-tracked from gate to delivery. Route deviation → instant alert. Signal loss within 10 minutes → alert.</a:t>
            </a:r>
            <a:endParaRPr lang="en-US" sz="1050" dirty="0"/>
          </a:p>
        </p:txBody>
      </p:sp>
      <p:sp>
        <p:nvSpPr>
          <p:cNvPr id="38" name="Shape 36"/>
          <p:cNvSpPr/>
          <p:nvPr/>
        </p:nvSpPr>
        <p:spPr>
          <a:xfrm>
            <a:off x="6126480" y="4773168"/>
            <a:ext cx="475488" cy="475488"/>
          </a:xfrm>
          <a:prstGeom prst="rect">
            <a:avLst/>
          </a:prstGeom>
          <a:solidFill>
            <a:srgbClr val="C82020"/>
          </a:solidFill>
          <a:ln w="12700">
            <a:solidFill>
              <a:srgbClr val="C82020"/>
            </a:solidFill>
            <a:prstDash val="solid"/>
          </a:ln>
        </p:spPr>
      </p:sp>
      <p:sp>
        <p:nvSpPr>
          <p:cNvPr id="39" name="Text 37"/>
          <p:cNvSpPr/>
          <p:nvPr/>
        </p:nvSpPr>
        <p:spPr>
          <a:xfrm>
            <a:off x="6126480" y="477316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40" name="Text 38"/>
          <p:cNvSpPr/>
          <p:nvPr/>
        </p:nvSpPr>
        <p:spPr>
          <a:xfrm>
            <a:off x="6711696" y="4809744"/>
            <a:ext cx="4937760" cy="310896"/>
          </a:xfrm>
          <a:prstGeom prst="rect">
            <a:avLst/>
          </a:prstGeom>
          <a:noFill/>
          <a:ln/>
        </p:spPr>
        <p:txBody>
          <a:bodyPr wrap="square" lIns="0" tIns="0" rIns="0" bIns="0" rtlCol="0" anchor="ctr"/>
          <a:lstStyle/>
          <a:p>
            <a:pPr indent="0" marL="0">
              <a:buNone/>
            </a:pPr>
            <a:r>
              <a:rPr lang="en-US" sz="1300" b="1" dirty="0">
                <a:solidFill>
                  <a:srgbClr val="0C2048"/>
                </a:solidFill>
                <a:latin typeface="Arial" pitchFamily="34" charset="0"/>
                <a:ea typeface="Arial" pitchFamily="34" charset="-122"/>
                <a:cs typeface="Arial" pitchFamily="34" charset="-120"/>
              </a:rPr>
              <a:t>After-Hours Detection</a:t>
            </a:r>
            <a:endParaRPr lang="en-US" sz="1300" dirty="0"/>
          </a:p>
        </p:txBody>
      </p:sp>
      <p:sp>
        <p:nvSpPr>
          <p:cNvPr id="41" name="Text 39"/>
          <p:cNvSpPr/>
          <p:nvPr/>
        </p:nvSpPr>
        <p:spPr>
          <a:xfrm>
            <a:off x="6711696" y="5157216"/>
            <a:ext cx="4937760" cy="822960"/>
          </a:xfrm>
          <a:prstGeom prst="rect">
            <a:avLst/>
          </a:prstGeom>
          <a:noFill/>
          <a:ln/>
        </p:spPr>
        <p:txBody>
          <a:bodyPr wrap="square" lIns="0" tIns="0" rIns="0" bIns="0" rtlCol="0" anchor="ctr"/>
          <a:lstStyle/>
          <a:p>
            <a:pPr indent="0" marL="0">
              <a:buNone/>
            </a:pPr>
            <a:r>
              <a:rPr lang="en-US" sz="1050" dirty="0">
                <a:solidFill>
                  <a:srgbClr val="5A5848"/>
                </a:solidFill>
                <a:latin typeface="Arial" pitchFamily="34" charset="0"/>
                <a:ea typeface="Arial" pitchFamily="34" charset="-122"/>
                <a:cs typeface="Arial" pitchFamily="34" charset="-120"/>
              </a:rPr>
              <a:t>Loading activity outside 6AM–9PM → automatic alert to Plant Manager. The March 2025 fraud would have been caught on night one.</a:t>
            </a:r>
            <a:endParaRPr lang="en-US" sz="1050" dirty="0"/>
          </a:p>
        </p:txBody>
      </p:sp>
      <p:sp>
        <p:nvSpPr>
          <p:cNvPr id="42" name="Shape 40"/>
          <p:cNvSpPr/>
          <p:nvPr/>
        </p:nvSpPr>
        <p:spPr>
          <a:xfrm>
            <a:off x="6126480" y="6400800"/>
            <a:ext cx="5577840" cy="347472"/>
          </a:xfrm>
          <a:prstGeom prst="rect">
            <a:avLst/>
          </a:prstGeom>
          <a:solidFill>
            <a:srgbClr val="0C2048"/>
          </a:solidFill>
          <a:ln w="12700">
            <a:solidFill>
              <a:srgbClr val="0C2048"/>
            </a:solidFill>
            <a:prstDash val="solid"/>
          </a:ln>
        </p:spPr>
      </p:sp>
      <p:sp>
        <p:nvSpPr>
          <p:cNvPr id="43" name="Text 41"/>
          <p:cNvSpPr/>
          <p:nvPr/>
        </p:nvSpPr>
        <p:spPr>
          <a:xfrm>
            <a:off x="6126480" y="6236208"/>
            <a:ext cx="55778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Revenue: UGX 3–8M/month per manufacturer  ·  Payback vs fraud: Day 1  ·  Demo ready today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2048"/>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C040"/>
          </a:solidFill>
          <a:ln w="12700">
            <a:solidFill>
              <a:srgbClr val="E8C040"/>
            </a:solidFill>
            <a:prstDash val="solid"/>
          </a:ln>
        </p:spPr>
      </p:sp>
      <p:sp>
        <p:nvSpPr>
          <p:cNvPr id="3" name="Text 1"/>
          <p:cNvSpPr/>
          <p:nvPr/>
        </p:nvSpPr>
        <p:spPr>
          <a:xfrm>
            <a:off x="347472" y="228600"/>
            <a:ext cx="7315200" cy="347472"/>
          </a:xfrm>
          <a:prstGeom prst="rect">
            <a:avLst/>
          </a:prstGeom>
          <a:noFill/>
          <a:ln/>
        </p:spPr>
        <p:txBody>
          <a:bodyPr wrap="square" lIns="0" tIns="0" rIns="0" bIns="0" rtlCol="0" anchor="ctr"/>
          <a:lstStyle/>
          <a:p>
            <a:pPr indent="0" marL="0">
              <a:buNone/>
            </a:pPr>
            <a:r>
              <a:rPr lang="en-US" sz="1100" b="1" spc="300" kern="0" dirty="0">
                <a:solidFill>
                  <a:srgbClr val="E8C040"/>
                </a:solidFill>
                <a:latin typeface="Arial" pitchFamily="34" charset="0"/>
                <a:ea typeface="Arial" pitchFamily="34" charset="-122"/>
                <a:cs typeface="Arial" pitchFamily="34" charset="-120"/>
              </a:rPr>
              <a:t>VerifyUG · Product Authentication</a:t>
            </a:r>
            <a:endParaRPr lang="en-US" sz="1100" dirty="0"/>
          </a:p>
        </p:txBody>
      </p:sp>
      <p:sp>
        <p:nvSpPr>
          <p:cNvPr id="4" name="Text 2"/>
          <p:cNvSpPr/>
          <p:nvPr/>
        </p:nvSpPr>
        <p:spPr>
          <a:xfrm>
            <a:off x="347472" y="658368"/>
            <a:ext cx="9144000" cy="1234440"/>
          </a:xfrm>
          <a:prstGeom prst="rect">
            <a:avLst/>
          </a:prstGeom>
          <a:noFill/>
          <a:ln/>
        </p:spPr>
        <p:txBody>
          <a:bodyPr wrap="square" lIns="0" tIns="0" rIns="0" bIns="0" rtlCol="0" anchor="ctr"/>
          <a:lstStyle/>
          <a:p>
            <a:pPr indent="0" marL="0">
              <a:lnSpc>
                <a:spcPct val="120000"/>
              </a:lnSpc>
              <a:buNone/>
            </a:pPr>
            <a:r>
              <a:rPr lang="en-US" sz="3000" b="1" dirty="0">
                <a:solidFill>
                  <a:srgbClr val="FFFFFF"/>
                </a:solidFill>
                <a:latin typeface="Arial" pitchFamily="34" charset="0"/>
                <a:ea typeface="Arial" pitchFamily="34" charset="-122"/>
                <a:cs typeface="Arial" pitchFamily="34" charset="-120"/>
              </a:rPr>
              <a:t>65% of Alcohol in Uganda Is Counterfeit.</a:t>
            </a:r>
            <a:endParaRPr lang="en-US" sz="3000" dirty="0"/>
          </a:p>
          <a:p>
            <a:pPr indent="0" marL="0">
              <a:lnSpc>
                <a:spcPct val="120000"/>
              </a:lnSpc>
              <a:buNone/>
            </a:pPr>
            <a:r>
              <a:rPr lang="en-US" sz="3000" b="1" dirty="0">
                <a:solidFill>
                  <a:srgbClr val="FFFFFF"/>
                </a:solidFill>
                <a:latin typeface="Arial" pitchFamily="34" charset="0"/>
                <a:ea typeface="Arial" pitchFamily="34" charset="-122"/>
                <a:cs typeface="Arial" pitchFamily="34" charset="-120"/>
              </a:rPr>
              <a:t>One QR Code Fixes That.</a:t>
            </a:r>
            <a:endParaRPr lang="en-US" sz="3000" dirty="0"/>
          </a:p>
        </p:txBody>
      </p:sp>
      <p:sp>
        <p:nvSpPr>
          <p:cNvPr id="5" name="Shape 3"/>
          <p:cNvSpPr/>
          <p:nvPr/>
        </p:nvSpPr>
        <p:spPr>
          <a:xfrm>
            <a:off x="274320" y="2103120"/>
            <a:ext cx="2743200" cy="2011680"/>
          </a:xfrm>
          <a:prstGeom prst="rect">
            <a:avLst/>
          </a:prstGeom>
          <a:solidFill>
            <a:srgbClr val="162D5E"/>
          </a:solidFill>
          <a:ln w="12700">
            <a:solidFill>
              <a:srgbClr val="E8C04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74320" y="2103120"/>
            <a:ext cx="2743200" cy="54864"/>
          </a:xfrm>
          <a:prstGeom prst="rect">
            <a:avLst/>
          </a:prstGeom>
          <a:solidFill>
            <a:srgbClr val="E8C040"/>
          </a:solidFill>
          <a:ln w="12700">
            <a:solidFill>
              <a:srgbClr val="E8C040"/>
            </a:solidFill>
            <a:prstDash val="solid"/>
          </a:ln>
        </p:spPr>
      </p:sp>
      <p:sp>
        <p:nvSpPr>
          <p:cNvPr id="7" name="Shape 5"/>
          <p:cNvSpPr/>
          <p:nvPr/>
        </p:nvSpPr>
        <p:spPr>
          <a:xfrm>
            <a:off x="384048" y="2231136"/>
            <a:ext cx="438912" cy="438912"/>
          </a:xfrm>
          <a:prstGeom prst="rect">
            <a:avLst/>
          </a:prstGeom>
          <a:solidFill>
            <a:srgbClr val="E8C040"/>
          </a:solidFill>
          <a:ln w="12700">
            <a:solidFill>
              <a:srgbClr val="E8C040"/>
            </a:solidFill>
            <a:prstDash val="solid"/>
          </a:ln>
        </p:spPr>
      </p:sp>
      <p:sp>
        <p:nvSpPr>
          <p:cNvPr id="8" name="Text 6"/>
          <p:cNvSpPr/>
          <p:nvPr/>
        </p:nvSpPr>
        <p:spPr>
          <a:xfrm>
            <a:off x="384048" y="2231136"/>
            <a:ext cx="438912" cy="438912"/>
          </a:xfrm>
          <a:prstGeom prst="rect">
            <a:avLst/>
          </a:prstGeom>
          <a:noFill/>
          <a:ln/>
        </p:spPr>
        <p:txBody>
          <a:bodyPr wrap="square" lIns="0" tIns="0" rIns="0" bIns="0" rtlCol="0" anchor="ctr"/>
          <a:lstStyle/>
          <a:p>
            <a:pPr algn="ctr" indent="0" marL="0">
              <a:buNone/>
            </a:pPr>
            <a:r>
              <a:rPr lang="en-US" sz="1600" b="1" dirty="0">
                <a:solidFill>
                  <a:srgbClr val="0C2048"/>
                </a:solidFill>
                <a:latin typeface="Arial" pitchFamily="34" charset="0"/>
                <a:ea typeface="Arial" pitchFamily="34" charset="-122"/>
                <a:cs typeface="Arial" pitchFamily="34" charset="-120"/>
              </a:rPr>
              <a:t>1</a:t>
            </a:r>
            <a:endParaRPr lang="en-US" sz="1600" dirty="0"/>
          </a:p>
        </p:txBody>
      </p:sp>
      <p:sp>
        <p:nvSpPr>
          <p:cNvPr id="9" name="Text 7"/>
          <p:cNvSpPr/>
          <p:nvPr/>
        </p:nvSpPr>
        <p:spPr>
          <a:xfrm>
            <a:off x="932688" y="2249424"/>
            <a:ext cx="1920240" cy="329184"/>
          </a:xfrm>
          <a:prstGeom prst="rect">
            <a:avLst/>
          </a:prstGeom>
          <a:noFill/>
          <a:ln/>
        </p:spPr>
        <p:txBody>
          <a:bodyPr wrap="square" lIns="0" tIns="0" rIns="0" bIns="0" rtlCol="0" anchor="ctr"/>
          <a:lstStyle/>
          <a:p>
            <a:pPr indent="0" marL="0">
              <a:buNone/>
            </a:pPr>
            <a:r>
              <a:rPr lang="en-US" sz="1400" b="1" dirty="0">
                <a:solidFill>
                  <a:srgbClr val="E8C040"/>
                </a:solidFill>
                <a:latin typeface="Arial" pitchFamily="34" charset="0"/>
                <a:ea typeface="Arial" pitchFamily="34" charset="-122"/>
                <a:cs typeface="Arial" pitchFamily="34" charset="-120"/>
              </a:rPr>
              <a:t>Factory</a:t>
            </a:r>
            <a:endParaRPr lang="en-US" sz="1400" dirty="0"/>
          </a:p>
        </p:txBody>
      </p:sp>
      <p:sp>
        <p:nvSpPr>
          <p:cNvPr id="10" name="Text 8"/>
          <p:cNvSpPr/>
          <p:nvPr/>
        </p:nvSpPr>
        <p:spPr>
          <a:xfrm>
            <a:off x="384048" y="2788920"/>
            <a:ext cx="2523744" cy="109728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QR code printed on every unit at production</a:t>
            </a:r>
            <a:endParaRPr lang="en-US" sz="1100" dirty="0"/>
          </a:p>
        </p:txBody>
      </p:sp>
      <p:sp>
        <p:nvSpPr>
          <p:cNvPr id="11" name="Shape 9"/>
          <p:cNvSpPr/>
          <p:nvPr/>
        </p:nvSpPr>
        <p:spPr>
          <a:xfrm>
            <a:off x="3017520" y="2971800"/>
            <a:ext cx="164592" cy="36576"/>
          </a:xfrm>
          <a:prstGeom prst="rect">
            <a:avLst/>
          </a:prstGeom>
          <a:solidFill>
            <a:srgbClr val="94A3B8"/>
          </a:solidFill>
          <a:ln w="12700">
            <a:solidFill>
              <a:srgbClr val="94A3B8"/>
            </a:solidFill>
            <a:prstDash val="solid"/>
          </a:ln>
        </p:spPr>
      </p:sp>
      <p:sp>
        <p:nvSpPr>
          <p:cNvPr id="12" name="Shape 10"/>
          <p:cNvSpPr/>
          <p:nvPr/>
        </p:nvSpPr>
        <p:spPr>
          <a:xfrm>
            <a:off x="3200400" y="2103120"/>
            <a:ext cx="2743200" cy="2011680"/>
          </a:xfrm>
          <a:prstGeom prst="rect">
            <a:avLst/>
          </a:prstGeom>
          <a:solidFill>
            <a:srgbClr val="162D5E"/>
          </a:solidFill>
          <a:ln w="12700">
            <a:solidFill>
              <a:srgbClr val="14B8A6"/>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3200400" y="2103120"/>
            <a:ext cx="2743200" cy="54864"/>
          </a:xfrm>
          <a:prstGeom prst="rect">
            <a:avLst/>
          </a:prstGeom>
          <a:solidFill>
            <a:srgbClr val="14B8A6"/>
          </a:solidFill>
          <a:ln w="12700">
            <a:solidFill>
              <a:srgbClr val="14B8A6"/>
            </a:solidFill>
            <a:prstDash val="solid"/>
          </a:ln>
        </p:spPr>
      </p:sp>
      <p:sp>
        <p:nvSpPr>
          <p:cNvPr id="14" name="Shape 12"/>
          <p:cNvSpPr/>
          <p:nvPr/>
        </p:nvSpPr>
        <p:spPr>
          <a:xfrm>
            <a:off x="3310128" y="2231136"/>
            <a:ext cx="438912" cy="438912"/>
          </a:xfrm>
          <a:prstGeom prst="rect">
            <a:avLst/>
          </a:prstGeom>
          <a:solidFill>
            <a:srgbClr val="14B8A6"/>
          </a:solidFill>
          <a:ln w="12700">
            <a:solidFill>
              <a:srgbClr val="14B8A6"/>
            </a:solidFill>
            <a:prstDash val="solid"/>
          </a:ln>
        </p:spPr>
      </p:sp>
      <p:sp>
        <p:nvSpPr>
          <p:cNvPr id="15" name="Text 13"/>
          <p:cNvSpPr/>
          <p:nvPr/>
        </p:nvSpPr>
        <p:spPr>
          <a:xfrm>
            <a:off x="3310128" y="2231136"/>
            <a:ext cx="438912" cy="438912"/>
          </a:xfrm>
          <a:prstGeom prst="rect">
            <a:avLst/>
          </a:prstGeom>
          <a:noFill/>
          <a:ln/>
        </p:spPr>
        <p:txBody>
          <a:bodyPr wrap="square" lIns="0" tIns="0" rIns="0" bIns="0" rtlCol="0" anchor="ctr"/>
          <a:lstStyle/>
          <a:p>
            <a:pPr algn="ctr" indent="0" marL="0">
              <a:buNone/>
            </a:pPr>
            <a:r>
              <a:rPr lang="en-US" sz="1600" b="1" dirty="0">
                <a:solidFill>
                  <a:srgbClr val="0C2048"/>
                </a:solidFill>
                <a:latin typeface="Arial" pitchFamily="34" charset="0"/>
                <a:ea typeface="Arial" pitchFamily="34" charset="-122"/>
                <a:cs typeface="Arial" pitchFamily="34" charset="-120"/>
              </a:rPr>
              <a:t>2</a:t>
            </a:r>
            <a:endParaRPr lang="en-US" sz="1600" dirty="0"/>
          </a:p>
        </p:txBody>
      </p:sp>
      <p:sp>
        <p:nvSpPr>
          <p:cNvPr id="16" name="Text 14"/>
          <p:cNvSpPr/>
          <p:nvPr/>
        </p:nvSpPr>
        <p:spPr>
          <a:xfrm>
            <a:off x="3858768" y="2249424"/>
            <a:ext cx="1920240" cy="329184"/>
          </a:xfrm>
          <a:prstGeom prst="rect">
            <a:avLst/>
          </a:prstGeom>
          <a:noFill/>
          <a:ln/>
        </p:spPr>
        <p:txBody>
          <a:bodyPr wrap="square" lIns="0" tIns="0" rIns="0" bIns="0" rtlCol="0" anchor="ctr"/>
          <a:lstStyle/>
          <a:p>
            <a:pPr indent="0" marL="0">
              <a:buNone/>
            </a:pPr>
            <a:r>
              <a:rPr lang="en-US" sz="1400" b="1" dirty="0">
                <a:solidFill>
                  <a:srgbClr val="14B8A6"/>
                </a:solidFill>
                <a:latin typeface="Arial" pitchFamily="34" charset="0"/>
                <a:ea typeface="Arial" pitchFamily="34" charset="-122"/>
                <a:cs typeface="Arial" pitchFamily="34" charset="-120"/>
              </a:rPr>
              <a:t>Scan</a:t>
            </a:r>
            <a:endParaRPr lang="en-US" sz="1400" dirty="0"/>
          </a:p>
        </p:txBody>
      </p:sp>
      <p:sp>
        <p:nvSpPr>
          <p:cNvPr id="17" name="Text 15"/>
          <p:cNvSpPr/>
          <p:nvPr/>
        </p:nvSpPr>
        <p:spPr>
          <a:xfrm>
            <a:off x="3310128" y="2788920"/>
            <a:ext cx="2523744" cy="109728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Retailer / consumer scans with any phone camera</a:t>
            </a:r>
            <a:endParaRPr lang="en-US" sz="1100" dirty="0"/>
          </a:p>
        </p:txBody>
      </p:sp>
      <p:sp>
        <p:nvSpPr>
          <p:cNvPr id="18" name="Shape 16"/>
          <p:cNvSpPr/>
          <p:nvPr/>
        </p:nvSpPr>
        <p:spPr>
          <a:xfrm>
            <a:off x="5943600" y="2971800"/>
            <a:ext cx="164592" cy="36576"/>
          </a:xfrm>
          <a:prstGeom prst="rect">
            <a:avLst/>
          </a:prstGeom>
          <a:solidFill>
            <a:srgbClr val="94A3B8"/>
          </a:solidFill>
          <a:ln w="12700">
            <a:solidFill>
              <a:srgbClr val="94A3B8"/>
            </a:solidFill>
            <a:prstDash val="solid"/>
          </a:ln>
        </p:spPr>
      </p:sp>
      <p:sp>
        <p:nvSpPr>
          <p:cNvPr id="19" name="Shape 17"/>
          <p:cNvSpPr/>
          <p:nvPr/>
        </p:nvSpPr>
        <p:spPr>
          <a:xfrm>
            <a:off x="6126480" y="2103120"/>
            <a:ext cx="2743200" cy="2011680"/>
          </a:xfrm>
          <a:prstGeom prst="rect">
            <a:avLst/>
          </a:prstGeom>
          <a:solidFill>
            <a:srgbClr val="162D5E"/>
          </a:solidFill>
          <a:ln w="12700">
            <a:solidFill>
              <a:srgbClr val="22C55E"/>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6126480" y="2103120"/>
            <a:ext cx="2743200" cy="54864"/>
          </a:xfrm>
          <a:prstGeom prst="rect">
            <a:avLst/>
          </a:prstGeom>
          <a:solidFill>
            <a:srgbClr val="22C55E"/>
          </a:solidFill>
          <a:ln w="12700">
            <a:solidFill>
              <a:srgbClr val="22C55E"/>
            </a:solidFill>
            <a:prstDash val="solid"/>
          </a:ln>
        </p:spPr>
      </p:sp>
      <p:sp>
        <p:nvSpPr>
          <p:cNvPr id="21" name="Shape 19"/>
          <p:cNvSpPr/>
          <p:nvPr/>
        </p:nvSpPr>
        <p:spPr>
          <a:xfrm>
            <a:off x="6236208" y="2231136"/>
            <a:ext cx="438912" cy="438912"/>
          </a:xfrm>
          <a:prstGeom prst="rect">
            <a:avLst/>
          </a:prstGeom>
          <a:solidFill>
            <a:srgbClr val="22C55E"/>
          </a:solidFill>
          <a:ln w="12700">
            <a:solidFill>
              <a:srgbClr val="22C55E"/>
            </a:solidFill>
            <a:prstDash val="solid"/>
          </a:ln>
        </p:spPr>
      </p:sp>
      <p:sp>
        <p:nvSpPr>
          <p:cNvPr id="22" name="Text 20"/>
          <p:cNvSpPr/>
          <p:nvPr/>
        </p:nvSpPr>
        <p:spPr>
          <a:xfrm>
            <a:off x="6236208" y="2231136"/>
            <a:ext cx="438912" cy="438912"/>
          </a:xfrm>
          <a:prstGeom prst="rect">
            <a:avLst/>
          </a:prstGeom>
          <a:noFill/>
          <a:ln/>
        </p:spPr>
        <p:txBody>
          <a:bodyPr wrap="square" lIns="0" tIns="0" rIns="0" bIns="0" rtlCol="0" anchor="ctr"/>
          <a:lstStyle/>
          <a:p>
            <a:pPr algn="ctr" indent="0" marL="0">
              <a:buNone/>
            </a:pPr>
            <a:r>
              <a:rPr lang="en-US" sz="1600" b="1" dirty="0">
                <a:solidFill>
                  <a:srgbClr val="0C2048"/>
                </a:solidFill>
                <a:latin typeface="Arial" pitchFamily="34" charset="0"/>
                <a:ea typeface="Arial" pitchFamily="34" charset="-122"/>
                <a:cs typeface="Arial" pitchFamily="34" charset="-120"/>
              </a:rPr>
              <a:t>3</a:t>
            </a:r>
            <a:endParaRPr lang="en-US" sz="1600" dirty="0"/>
          </a:p>
        </p:txBody>
      </p:sp>
      <p:sp>
        <p:nvSpPr>
          <p:cNvPr id="23" name="Text 21"/>
          <p:cNvSpPr/>
          <p:nvPr/>
        </p:nvSpPr>
        <p:spPr>
          <a:xfrm>
            <a:off x="6784848" y="2249424"/>
            <a:ext cx="1920240" cy="329184"/>
          </a:xfrm>
          <a:prstGeom prst="rect">
            <a:avLst/>
          </a:prstGeom>
          <a:noFill/>
          <a:ln/>
        </p:spPr>
        <p:txBody>
          <a:bodyPr wrap="square" lIns="0" tIns="0" rIns="0" bIns="0" rtlCol="0" anchor="ctr"/>
          <a:lstStyle/>
          <a:p>
            <a:pPr indent="0" marL="0">
              <a:buNone/>
            </a:pPr>
            <a:r>
              <a:rPr lang="en-US" sz="1400" b="1" dirty="0">
                <a:solidFill>
                  <a:srgbClr val="22C55E"/>
                </a:solidFill>
                <a:latin typeface="Arial" pitchFamily="34" charset="0"/>
                <a:ea typeface="Arial" pitchFamily="34" charset="-122"/>
                <a:cs typeface="Arial" pitchFamily="34" charset="-120"/>
              </a:rPr>
              <a:t>2 Seconds</a:t>
            </a:r>
            <a:endParaRPr lang="en-US" sz="1400" dirty="0"/>
          </a:p>
        </p:txBody>
      </p:sp>
      <p:sp>
        <p:nvSpPr>
          <p:cNvPr id="24" name="Text 22"/>
          <p:cNvSpPr/>
          <p:nvPr/>
        </p:nvSpPr>
        <p:spPr>
          <a:xfrm>
            <a:off x="6236208" y="2788920"/>
            <a:ext cx="2523744" cy="109728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Browser opens — GENUINE or FAKE result instantly</a:t>
            </a:r>
            <a:endParaRPr lang="en-US" sz="1100" dirty="0"/>
          </a:p>
        </p:txBody>
      </p:sp>
      <p:sp>
        <p:nvSpPr>
          <p:cNvPr id="25" name="Shape 23"/>
          <p:cNvSpPr/>
          <p:nvPr/>
        </p:nvSpPr>
        <p:spPr>
          <a:xfrm>
            <a:off x="8869680" y="2971800"/>
            <a:ext cx="164592" cy="36576"/>
          </a:xfrm>
          <a:prstGeom prst="rect">
            <a:avLst/>
          </a:prstGeom>
          <a:solidFill>
            <a:srgbClr val="94A3B8"/>
          </a:solidFill>
          <a:ln w="12700">
            <a:solidFill>
              <a:srgbClr val="94A3B8"/>
            </a:solidFill>
            <a:prstDash val="solid"/>
          </a:ln>
        </p:spPr>
      </p:sp>
      <p:sp>
        <p:nvSpPr>
          <p:cNvPr id="26" name="Shape 24"/>
          <p:cNvSpPr/>
          <p:nvPr/>
        </p:nvSpPr>
        <p:spPr>
          <a:xfrm>
            <a:off x="9052560" y="2103120"/>
            <a:ext cx="2743200" cy="2011680"/>
          </a:xfrm>
          <a:prstGeom prst="rect">
            <a:avLst/>
          </a:prstGeom>
          <a:solidFill>
            <a:srgbClr val="162D5E"/>
          </a:solidFill>
          <a:ln w="12700">
            <a:solidFill>
              <a:srgbClr val="E8C040"/>
            </a:solidFill>
            <a:prstDash val="solid"/>
          </a:ln>
          <a:effectLst>
            <a:outerShdw sx="100000" sy="100000" kx="0" ky="0" algn="bl" rotWithShape="0" blurRad="101600" dist="38100" dir="8100000">
              <a:srgbClr val="000000">
                <a:alpha val="12000"/>
              </a:srgbClr>
            </a:outerShdw>
          </a:effectLst>
        </p:spPr>
      </p:sp>
      <p:sp>
        <p:nvSpPr>
          <p:cNvPr id="27" name="Shape 25"/>
          <p:cNvSpPr/>
          <p:nvPr/>
        </p:nvSpPr>
        <p:spPr>
          <a:xfrm>
            <a:off x="9052560" y="2103120"/>
            <a:ext cx="2743200" cy="54864"/>
          </a:xfrm>
          <a:prstGeom prst="rect">
            <a:avLst/>
          </a:prstGeom>
          <a:solidFill>
            <a:srgbClr val="E8C040"/>
          </a:solidFill>
          <a:ln w="12700">
            <a:solidFill>
              <a:srgbClr val="E8C040"/>
            </a:solidFill>
            <a:prstDash val="solid"/>
          </a:ln>
        </p:spPr>
      </p:sp>
      <p:sp>
        <p:nvSpPr>
          <p:cNvPr id="28" name="Shape 26"/>
          <p:cNvSpPr/>
          <p:nvPr/>
        </p:nvSpPr>
        <p:spPr>
          <a:xfrm>
            <a:off x="9162288" y="2231136"/>
            <a:ext cx="438912" cy="438912"/>
          </a:xfrm>
          <a:prstGeom prst="rect">
            <a:avLst/>
          </a:prstGeom>
          <a:solidFill>
            <a:srgbClr val="E8C040"/>
          </a:solidFill>
          <a:ln w="12700">
            <a:solidFill>
              <a:srgbClr val="E8C040"/>
            </a:solidFill>
            <a:prstDash val="solid"/>
          </a:ln>
        </p:spPr>
      </p:sp>
      <p:sp>
        <p:nvSpPr>
          <p:cNvPr id="29" name="Text 27"/>
          <p:cNvSpPr/>
          <p:nvPr/>
        </p:nvSpPr>
        <p:spPr>
          <a:xfrm>
            <a:off x="9162288" y="2231136"/>
            <a:ext cx="438912" cy="438912"/>
          </a:xfrm>
          <a:prstGeom prst="rect">
            <a:avLst/>
          </a:prstGeom>
          <a:noFill/>
          <a:ln/>
        </p:spPr>
        <p:txBody>
          <a:bodyPr wrap="square" lIns="0" tIns="0" rIns="0" bIns="0" rtlCol="0" anchor="ctr"/>
          <a:lstStyle/>
          <a:p>
            <a:pPr algn="ctr" indent="0" marL="0">
              <a:buNone/>
            </a:pPr>
            <a:r>
              <a:rPr lang="en-US" sz="1600" b="1" dirty="0">
                <a:solidFill>
                  <a:srgbClr val="0C2048"/>
                </a:solidFill>
                <a:latin typeface="Arial" pitchFamily="34" charset="0"/>
                <a:ea typeface="Arial" pitchFamily="34" charset="-122"/>
                <a:cs typeface="Arial" pitchFamily="34" charset="-120"/>
              </a:rPr>
              <a:t>4</a:t>
            </a:r>
            <a:endParaRPr lang="en-US" sz="1600" dirty="0"/>
          </a:p>
        </p:txBody>
      </p:sp>
      <p:sp>
        <p:nvSpPr>
          <p:cNvPr id="30" name="Text 28"/>
          <p:cNvSpPr/>
          <p:nvPr/>
        </p:nvSpPr>
        <p:spPr>
          <a:xfrm>
            <a:off x="9710928" y="2249424"/>
            <a:ext cx="1920240" cy="329184"/>
          </a:xfrm>
          <a:prstGeom prst="rect">
            <a:avLst/>
          </a:prstGeom>
          <a:noFill/>
          <a:ln/>
        </p:spPr>
        <p:txBody>
          <a:bodyPr wrap="square" lIns="0" tIns="0" rIns="0" bIns="0" rtlCol="0" anchor="ctr"/>
          <a:lstStyle/>
          <a:p>
            <a:pPr indent="0" marL="0">
              <a:buNone/>
            </a:pPr>
            <a:r>
              <a:rPr lang="en-US" sz="1400" b="1" dirty="0">
                <a:solidFill>
                  <a:srgbClr val="E8C040"/>
                </a:solidFill>
                <a:latin typeface="Arial" pitchFamily="34" charset="0"/>
                <a:ea typeface="Arial" pitchFamily="34" charset="-122"/>
                <a:cs typeface="Arial" pitchFamily="34" charset="-120"/>
              </a:rPr>
              <a:t>Regulator</a:t>
            </a:r>
            <a:endParaRPr lang="en-US" sz="1400" dirty="0"/>
          </a:p>
        </p:txBody>
      </p:sp>
      <p:sp>
        <p:nvSpPr>
          <p:cNvPr id="31" name="Text 29"/>
          <p:cNvSpPr/>
          <p:nvPr/>
        </p:nvSpPr>
        <p:spPr>
          <a:xfrm>
            <a:off x="9162288" y="2788920"/>
            <a:ext cx="2523744" cy="109728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NDA/UNBS see live counterfeit heatmap by district</a:t>
            </a:r>
            <a:endParaRPr lang="en-US" sz="1100" dirty="0"/>
          </a:p>
        </p:txBody>
      </p:sp>
      <p:sp>
        <p:nvSpPr>
          <p:cNvPr id="32" name="Shape 30"/>
          <p:cNvSpPr/>
          <p:nvPr/>
        </p:nvSpPr>
        <p:spPr>
          <a:xfrm>
            <a:off x="274320" y="4343400"/>
            <a:ext cx="11612880" cy="2240280"/>
          </a:xfrm>
          <a:prstGeom prst="rect">
            <a:avLst/>
          </a:prstGeom>
          <a:solidFill>
            <a:srgbClr val="162D5E"/>
          </a:solidFill>
          <a:ln w="12700">
            <a:solidFill>
              <a:srgbClr val="162D5E"/>
            </a:solidFill>
            <a:prstDash val="solid"/>
          </a:ln>
        </p:spPr>
      </p:sp>
      <p:sp>
        <p:nvSpPr>
          <p:cNvPr id="33" name="Text 31"/>
          <p:cNvSpPr/>
          <p:nvPr/>
        </p:nvSpPr>
        <p:spPr>
          <a:xfrm>
            <a:off x="457200" y="4480560"/>
            <a:ext cx="11247120" cy="292608"/>
          </a:xfrm>
          <a:prstGeom prst="rect">
            <a:avLst/>
          </a:prstGeom>
          <a:noFill/>
          <a:ln/>
        </p:spPr>
        <p:txBody>
          <a:bodyPr wrap="square" lIns="0" tIns="0" rIns="0" bIns="0" rtlCol="0" anchor="ctr"/>
          <a:lstStyle/>
          <a:p>
            <a:pPr indent="0" marL="0">
              <a:buNone/>
            </a:pPr>
            <a:r>
              <a:rPr lang="en-US" sz="1100" b="1" spc="200" kern="0" dirty="0">
                <a:solidFill>
                  <a:srgbClr val="E8C040"/>
                </a:solidFill>
                <a:latin typeface="Arial" pitchFamily="34" charset="0"/>
                <a:ea typeface="Arial" pitchFamily="34" charset="-122"/>
                <a:cs typeface="Arial" pitchFamily="34" charset="-120"/>
              </a:rPr>
              <a:t>REVENUE MODEL — UGX 50–150 PER AUTHENTICATION CODE</a:t>
            </a:r>
            <a:endParaRPr lang="en-US" sz="1100" dirty="0"/>
          </a:p>
        </p:txBody>
      </p:sp>
      <p:sp>
        <p:nvSpPr>
          <p:cNvPr id="34" name="Text 32"/>
          <p:cNvSpPr/>
          <p:nvPr/>
        </p:nvSpPr>
        <p:spPr>
          <a:xfrm>
            <a:off x="457200" y="4846320"/>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KPI Pharmaceuticals</a:t>
            </a:r>
            <a:endParaRPr lang="en-US" sz="1200" dirty="0"/>
          </a:p>
        </p:txBody>
      </p:sp>
      <p:sp>
        <p:nvSpPr>
          <p:cNvPr id="35" name="Text 33"/>
          <p:cNvSpPr/>
          <p:nvPr/>
        </p:nvSpPr>
        <p:spPr>
          <a:xfrm>
            <a:off x="457200" y="5157216"/>
            <a:ext cx="2743200" cy="237744"/>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1M units/month</a:t>
            </a:r>
            <a:endParaRPr lang="en-US" sz="1000" dirty="0"/>
          </a:p>
        </p:txBody>
      </p:sp>
      <p:sp>
        <p:nvSpPr>
          <p:cNvPr id="36" name="Text 34"/>
          <p:cNvSpPr/>
          <p:nvPr/>
        </p:nvSpPr>
        <p:spPr>
          <a:xfrm>
            <a:off x="457200" y="5413248"/>
            <a:ext cx="2743200" cy="274320"/>
          </a:xfrm>
          <a:prstGeom prst="rect">
            <a:avLst/>
          </a:prstGeom>
          <a:noFill/>
          <a:ln/>
        </p:spPr>
        <p:txBody>
          <a:bodyPr wrap="square" lIns="0" tIns="0" rIns="0" bIns="0" rtlCol="0" anchor="ctr"/>
          <a:lstStyle/>
          <a:p>
            <a:pPr indent="0" marL="0">
              <a:buNone/>
            </a:pPr>
            <a:r>
              <a:rPr lang="en-US" sz="1300" b="1" dirty="0">
                <a:solidFill>
                  <a:srgbClr val="E8C040"/>
                </a:solidFill>
                <a:latin typeface="Arial" pitchFamily="34" charset="0"/>
                <a:ea typeface="Arial" pitchFamily="34" charset="-122"/>
                <a:cs typeface="Arial" pitchFamily="34" charset="-120"/>
              </a:rPr>
              <a:t>UGX 50–100M/month</a:t>
            </a:r>
            <a:endParaRPr lang="en-US" sz="1300" dirty="0"/>
          </a:p>
        </p:txBody>
      </p:sp>
      <p:sp>
        <p:nvSpPr>
          <p:cNvPr id="37" name="Text 35"/>
          <p:cNvSpPr/>
          <p:nvPr/>
        </p:nvSpPr>
        <p:spPr>
          <a:xfrm>
            <a:off x="3364992" y="4846320"/>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Nile Breweries</a:t>
            </a:r>
            <a:endParaRPr lang="en-US" sz="1200" dirty="0"/>
          </a:p>
        </p:txBody>
      </p:sp>
      <p:sp>
        <p:nvSpPr>
          <p:cNvPr id="38" name="Text 36"/>
          <p:cNvSpPr/>
          <p:nvPr/>
        </p:nvSpPr>
        <p:spPr>
          <a:xfrm>
            <a:off x="3364992" y="5157216"/>
            <a:ext cx="2743200" cy="237744"/>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2M units/month</a:t>
            </a:r>
            <a:endParaRPr lang="en-US" sz="1000" dirty="0"/>
          </a:p>
        </p:txBody>
      </p:sp>
      <p:sp>
        <p:nvSpPr>
          <p:cNvPr id="39" name="Text 37"/>
          <p:cNvSpPr/>
          <p:nvPr/>
        </p:nvSpPr>
        <p:spPr>
          <a:xfrm>
            <a:off x="3364992" y="5413248"/>
            <a:ext cx="2743200" cy="274320"/>
          </a:xfrm>
          <a:prstGeom prst="rect">
            <a:avLst/>
          </a:prstGeom>
          <a:noFill/>
          <a:ln/>
        </p:spPr>
        <p:txBody>
          <a:bodyPr wrap="square" lIns="0" tIns="0" rIns="0" bIns="0" rtlCol="0" anchor="ctr"/>
          <a:lstStyle/>
          <a:p>
            <a:pPr indent="0" marL="0">
              <a:buNone/>
            </a:pPr>
            <a:r>
              <a:rPr lang="en-US" sz="1300" b="1" dirty="0">
                <a:solidFill>
                  <a:srgbClr val="E8C040"/>
                </a:solidFill>
                <a:latin typeface="Arial" pitchFamily="34" charset="0"/>
                <a:ea typeface="Arial" pitchFamily="34" charset="-122"/>
                <a:cs typeface="Arial" pitchFamily="34" charset="-120"/>
              </a:rPr>
              <a:t>UGX 100–200M/month</a:t>
            </a:r>
            <a:endParaRPr lang="en-US" sz="1300" dirty="0"/>
          </a:p>
        </p:txBody>
      </p:sp>
      <p:sp>
        <p:nvSpPr>
          <p:cNvPr id="40" name="Text 38"/>
          <p:cNvSpPr/>
          <p:nvPr/>
        </p:nvSpPr>
        <p:spPr>
          <a:xfrm>
            <a:off x="6272784" y="4846320"/>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Uganda Breweries</a:t>
            </a:r>
            <a:endParaRPr lang="en-US" sz="1200" dirty="0"/>
          </a:p>
        </p:txBody>
      </p:sp>
      <p:sp>
        <p:nvSpPr>
          <p:cNvPr id="41" name="Text 39"/>
          <p:cNvSpPr/>
          <p:nvPr/>
        </p:nvSpPr>
        <p:spPr>
          <a:xfrm>
            <a:off x="6272784" y="5157216"/>
            <a:ext cx="2743200" cy="237744"/>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1.5M units/month</a:t>
            </a:r>
            <a:endParaRPr lang="en-US" sz="1000" dirty="0"/>
          </a:p>
        </p:txBody>
      </p:sp>
      <p:sp>
        <p:nvSpPr>
          <p:cNvPr id="42" name="Text 40"/>
          <p:cNvSpPr/>
          <p:nvPr/>
        </p:nvSpPr>
        <p:spPr>
          <a:xfrm>
            <a:off x="6272784" y="5413248"/>
            <a:ext cx="2743200" cy="274320"/>
          </a:xfrm>
          <a:prstGeom prst="rect">
            <a:avLst/>
          </a:prstGeom>
          <a:noFill/>
          <a:ln/>
        </p:spPr>
        <p:txBody>
          <a:bodyPr wrap="square" lIns="0" tIns="0" rIns="0" bIns="0" rtlCol="0" anchor="ctr"/>
          <a:lstStyle/>
          <a:p>
            <a:pPr indent="0" marL="0">
              <a:buNone/>
            </a:pPr>
            <a:r>
              <a:rPr lang="en-US" sz="1300" b="1" dirty="0">
                <a:solidFill>
                  <a:srgbClr val="E8C040"/>
                </a:solidFill>
                <a:latin typeface="Arial" pitchFamily="34" charset="0"/>
                <a:ea typeface="Arial" pitchFamily="34" charset="-122"/>
                <a:cs typeface="Arial" pitchFamily="34" charset="-120"/>
              </a:rPr>
              <a:t>UGX 75–150M/month</a:t>
            </a:r>
            <a:endParaRPr lang="en-US" sz="1300" dirty="0"/>
          </a:p>
        </p:txBody>
      </p:sp>
      <p:sp>
        <p:nvSpPr>
          <p:cNvPr id="43" name="Text 41"/>
          <p:cNvSpPr/>
          <p:nvPr/>
        </p:nvSpPr>
        <p:spPr>
          <a:xfrm>
            <a:off x="9180576" y="4846320"/>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Pepsi Uganda</a:t>
            </a:r>
            <a:endParaRPr lang="en-US" sz="1200" dirty="0"/>
          </a:p>
        </p:txBody>
      </p:sp>
      <p:sp>
        <p:nvSpPr>
          <p:cNvPr id="44" name="Text 42"/>
          <p:cNvSpPr/>
          <p:nvPr/>
        </p:nvSpPr>
        <p:spPr>
          <a:xfrm>
            <a:off x="9180576" y="5157216"/>
            <a:ext cx="2743200" cy="237744"/>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800K units/month</a:t>
            </a:r>
            <a:endParaRPr lang="en-US" sz="1000" dirty="0"/>
          </a:p>
        </p:txBody>
      </p:sp>
      <p:sp>
        <p:nvSpPr>
          <p:cNvPr id="45" name="Text 43"/>
          <p:cNvSpPr/>
          <p:nvPr/>
        </p:nvSpPr>
        <p:spPr>
          <a:xfrm>
            <a:off x="9180576" y="5413248"/>
            <a:ext cx="2743200" cy="274320"/>
          </a:xfrm>
          <a:prstGeom prst="rect">
            <a:avLst/>
          </a:prstGeom>
          <a:noFill/>
          <a:ln/>
        </p:spPr>
        <p:txBody>
          <a:bodyPr wrap="square" lIns="0" tIns="0" rIns="0" bIns="0" rtlCol="0" anchor="ctr"/>
          <a:lstStyle/>
          <a:p>
            <a:pPr indent="0" marL="0">
              <a:buNone/>
            </a:pPr>
            <a:r>
              <a:rPr lang="en-US" sz="1300" b="1" dirty="0">
                <a:solidFill>
                  <a:srgbClr val="E8C040"/>
                </a:solidFill>
                <a:latin typeface="Arial" pitchFamily="34" charset="0"/>
                <a:ea typeface="Arial" pitchFamily="34" charset="-122"/>
                <a:cs typeface="Arial" pitchFamily="34" charset="-120"/>
              </a:rPr>
              <a:t>UGX 40–80M/month</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2020"/>
          </a:solidFill>
          <a:ln w="12700">
            <a:solidFill>
              <a:srgbClr val="C82020"/>
            </a:solidFill>
            <a:prstDash val="solid"/>
          </a:ln>
        </p:spPr>
      </p:sp>
      <p:sp>
        <p:nvSpPr>
          <p:cNvPr id="3" name="Shape 1"/>
          <p:cNvSpPr/>
          <p:nvPr/>
        </p:nvSpPr>
        <p:spPr>
          <a:xfrm>
            <a:off x="0" y="0"/>
            <a:ext cx="12161520" cy="1005840"/>
          </a:xfrm>
          <a:prstGeom prst="rect">
            <a:avLst/>
          </a:prstGeom>
          <a:solidFill>
            <a:srgbClr val="0C2048"/>
          </a:solidFill>
          <a:ln w="12700">
            <a:solidFill>
              <a:srgbClr val="0C2048"/>
            </a:solidFill>
            <a:prstDash val="solid"/>
          </a:ln>
        </p:spPr>
      </p:sp>
      <p:sp>
        <p:nvSpPr>
          <p:cNvPr id="4" name="Text 2"/>
          <p:cNvSpPr/>
          <p:nvPr/>
        </p:nvSpPr>
        <p:spPr>
          <a:xfrm>
            <a:off x="347472" y="146304"/>
            <a:ext cx="4572000" cy="274320"/>
          </a:xfrm>
          <a:prstGeom prst="rect">
            <a:avLst/>
          </a:prstGeom>
          <a:noFill/>
          <a:ln/>
        </p:spPr>
        <p:txBody>
          <a:bodyPr wrap="square" lIns="0" tIns="0" rIns="0" bIns="0" rtlCol="0" anchor="ctr"/>
          <a:lstStyle/>
          <a:p>
            <a:pPr indent="0" marL="0">
              <a:buNone/>
            </a:pPr>
            <a:r>
              <a:rPr lang="en-US" sz="1000" b="1" spc="400" kern="0" dirty="0">
                <a:solidFill>
                  <a:srgbClr val="E8C040"/>
                </a:solidFill>
                <a:latin typeface="Arial" pitchFamily="34" charset="0"/>
                <a:ea typeface="Arial" pitchFamily="34" charset="-122"/>
                <a:cs typeface="Arial" pitchFamily="34" charset="-120"/>
              </a:rPr>
              <a:t>DEBTWATCH + FISCALAI</a:t>
            </a:r>
            <a:endParaRPr lang="en-US" sz="1000" dirty="0"/>
          </a:p>
        </p:txBody>
      </p:sp>
      <p:sp>
        <p:nvSpPr>
          <p:cNvPr id="5" name="Text 3"/>
          <p:cNvSpPr/>
          <p:nvPr/>
        </p:nvSpPr>
        <p:spPr>
          <a:xfrm>
            <a:off x="347472" y="402336"/>
            <a:ext cx="11430000" cy="47548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Uganda Owes UGX 116 Trillion. Our AI Knows the Fastest Way Out.</a:t>
            </a:r>
            <a:endParaRPr lang="en-US" sz="2200" dirty="0"/>
          </a:p>
        </p:txBody>
      </p:sp>
      <p:sp>
        <p:nvSpPr>
          <p:cNvPr id="6" name="Shape 4"/>
          <p:cNvSpPr/>
          <p:nvPr/>
        </p:nvSpPr>
        <p:spPr>
          <a:xfrm>
            <a:off x="274320" y="1143000"/>
            <a:ext cx="3840480" cy="5394960"/>
          </a:xfrm>
          <a:prstGeom prst="rect">
            <a:avLst/>
          </a:prstGeom>
          <a:solidFill>
            <a:srgbClr val="FDF0EE"/>
          </a:solidFill>
          <a:ln w="12700">
            <a:solidFill>
              <a:srgbClr val="C82020"/>
            </a:solidFill>
            <a:prstDash val="solid"/>
          </a:ln>
        </p:spPr>
      </p:sp>
      <p:sp>
        <p:nvSpPr>
          <p:cNvPr id="7" name="Text 5"/>
          <p:cNvSpPr/>
          <p:nvPr/>
        </p:nvSpPr>
        <p:spPr>
          <a:xfrm>
            <a:off x="457200" y="1261872"/>
            <a:ext cx="3474720" cy="274320"/>
          </a:xfrm>
          <a:prstGeom prst="rect">
            <a:avLst/>
          </a:prstGeom>
          <a:noFill/>
          <a:ln/>
        </p:spPr>
        <p:txBody>
          <a:bodyPr wrap="square" lIns="0" tIns="0" rIns="0" bIns="0" rtlCol="0" anchor="ctr"/>
          <a:lstStyle/>
          <a:p>
            <a:pPr indent="0" marL="0">
              <a:buNone/>
            </a:pPr>
            <a:r>
              <a:rPr lang="en-US" sz="1000" b="1" spc="200" kern="0" dirty="0">
                <a:solidFill>
                  <a:srgbClr val="C82020"/>
                </a:solidFill>
                <a:latin typeface="Arial" pitchFamily="34" charset="0"/>
                <a:ea typeface="Arial" pitchFamily="34" charset="-122"/>
                <a:cs typeface="Arial" pitchFamily="34" charset="-120"/>
              </a:rPr>
              <a:t>DEBT REALITY</a:t>
            </a:r>
            <a:endParaRPr lang="en-US" sz="1000" dirty="0"/>
          </a:p>
        </p:txBody>
      </p:sp>
      <p:sp>
        <p:nvSpPr>
          <p:cNvPr id="8" name="Text 6"/>
          <p:cNvSpPr/>
          <p:nvPr/>
        </p:nvSpPr>
        <p:spPr>
          <a:xfrm>
            <a:off x="457200" y="1691640"/>
            <a:ext cx="3474720" cy="457200"/>
          </a:xfrm>
          <a:prstGeom prst="rect">
            <a:avLst/>
          </a:prstGeom>
          <a:noFill/>
          <a:ln/>
        </p:spPr>
        <p:txBody>
          <a:bodyPr wrap="square" lIns="0" tIns="0" rIns="0" bIns="0" rtlCol="0" anchor="ctr"/>
          <a:lstStyle/>
          <a:p>
            <a:pPr indent="0" marL="0">
              <a:buNone/>
            </a:pPr>
            <a:r>
              <a:rPr lang="en-US" sz="2600" b="1" dirty="0">
                <a:solidFill>
                  <a:srgbClr val="C82020"/>
                </a:solidFill>
                <a:latin typeface="Arial" pitchFamily="34" charset="0"/>
                <a:ea typeface="Arial" pitchFamily="34" charset="-122"/>
                <a:cs typeface="Arial" pitchFamily="34" charset="-120"/>
              </a:rPr>
              <a:t>UGX 116T</a:t>
            </a:r>
            <a:endParaRPr lang="en-US" sz="2600" dirty="0"/>
          </a:p>
        </p:txBody>
      </p:sp>
      <p:sp>
        <p:nvSpPr>
          <p:cNvPr id="9" name="Text 7"/>
          <p:cNvSpPr/>
          <p:nvPr/>
        </p:nvSpPr>
        <p:spPr>
          <a:xfrm>
            <a:off x="457200" y="2148840"/>
            <a:ext cx="3474720" cy="274320"/>
          </a:xfrm>
          <a:prstGeom prst="rect">
            <a:avLst/>
          </a:prstGeom>
          <a:noFill/>
          <a:ln/>
        </p:spPr>
        <p:txBody>
          <a:bodyPr wrap="square" lIns="0" tIns="0" rIns="0" bIns="0" rtlCol="0" anchor="ctr"/>
          <a:lstStyle/>
          <a:p>
            <a:pPr indent="0" marL="0">
              <a:buNone/>
            </a:pPr>
            <a:r>
              <a:rPr lang="en-US" sz="1100" dirty="0">
                <a:solidFill>
                  <a:srgbClr val="5A5848"/>
                </a:solidFill>
                <a:latin typeface="Arial" pitchFamily="34" charset="0"/>
                <a:ea typeface="Arial" pitchFamily="34" charset="-122"/>
                <a:cs typeface="Arial" pitchFamily="34" charset="-120"/>
              </a:rPr>
              <a:t>Total public debt</a:t>
            </a:r>
            <a:endParaRPr lang="en-US" sz="1100" dirty="0"/>
          </a:p>
        </p:txBody>
      </p:sp>
      <p:sp>
        <p:nvSpPr>
          <p:cNvPr id="10" name="Text 8"/>
          <p:cNvSpPr/>
          <p:nvPr/>
        </p:nvSpPr>
        <p:spPr>
          <a:xfrm>
            <a:off x="457200" y="2606040"/>
            <a:ext cx="3474720" cy="457200"/>
          </a:xfrm>
          <a:prstGeom prst="rect">
            <a:avLst/>
          </a:prstGeom>
          <a:noFill/>
          <a:ln/>
        </p:spPr>
        <p:txBody>
          <a:bodyPr wrap="square" lIns="0" tIns="0" rIns="0" bIns="0" rtlCol="0" anchor="ctr"/>
          <a:lstStyle/>
          <a:p>
            <a:pPr indent="0" marL="0">
              <a:buNone/>
            </a:pPr>
            <a:r>
              <a:rPr lang="en-US" sz="2600" b="1" dirty="0">
                <a:solidFill>
                  <a:srgbClr val="C82020"/>
                </a:solidFill>
                <a:latin typeface="Arial" pitchFamily="34" charset="0"/>
                <a:ea typeface="Arial" pitchFamily="34" charset="-122"/>
                <a:cs typeface="Arial" pitchFamily="34" charset="-120"/>
              </a:rPr>
              <a:t>51.3%</a:t>
            </a:r>
            <a:endParaRPr lang="en-US" sz="2600" dirty="0"/>
          </a:p>
        </p:txBody>
      </p:sp>
      <p:sp>
        <p:nvSpPr>
          <p:cNvPr id="11" name="Text 9"/>
          <p:cNvSpPr/>
          <p:nvPr/>
        </p:nvSpPr>
        <p:spPr>
          <a:xfrm>
            <a:off x="457200" y="3063240"/>
            <a:ext cx="3474720" cy="274320"/>
          </a:xfrm>
          <a:prstGeom prst="rect">
            <a:avLst/>
          </a:prstGeom>
          <a:noFill/>
          <a:ln/>
        </p:spPr>
        <p:txBody>
          <a:bodyPr wrap="square" lIns="0" tIns="0" rIns="0" bIns="0" rtlCol="0" anchor="ctr"/>
          <a:lstStyle/>
          <a:p>
            <a:pPr indent="0" marL="0">
              <a:buNone/>
            </a:pPr>
            <a:r>
              <a:rPr lang="en-US" sz="1100" dirty="0">
                <a:solidFill>
                  <a:srgbClr val="5A5848"/>
                </a:solidFill>
                <a:latin typeface="Arial" pitchFamily="34" charset="0"/>
                <a:ea typeface="Arial" pitchFamily="34" charset="-122"/>
                <a:cs typeface="Arial" pitchFamily="34" charset="-120"/>
              </a:rPr>
              <a:t>Of GDP</a:t>
            </a:r>
            <a:endParaRPr lang="en-US" sz="1100" dirty="0"/>
          </a:p>
        </p:txBody>
      </p:sp>
      <p:sp>
        <p:nvSpPr>
          <p:cNvPr id="12" name="Text 10"/>
          <p:cNvSpPr/>
          <p:nvPr/>
        </p:nvSpPr>
        <p:spPr>
          <a:xfrm>
            <a:off x="457200" y="3520440"/>
            <a:ext cx="3474720" cy="457200"/>
          </a:xfrm>
          <a:prstGeom prst="rect">
            <a:avLst/>
          </a:prstGeom>
          <a:noFill/>
          <a:ln/>
        </p:spPr>
        <p:txBody>
          <a:bodyPr wrap="square" lIns="0" tIns="0" rIns="0" bIns="0" rtlCol="0" anchor="ctr"/>
          <a:lstStyle/>
          <a:p>
            <a:pPr indent="0" marL="0">
              <a:buNone/>
            </a:pPr>
            <a:r>
              <a:rPr lang="en-US" sz="2600" b="1" dirty="0">
                <a:solidFill>
                  <a:srgbClr val="C82020"/>
                </a:solidFill>
                <a:latin typeface="Arial" pitchFamily="34" charset="0"/>
                <a:ea typeface="Arial" pitchFamily="34" charset="-122"/>
                <a:cs typeface="Arial" pitchFamily="34" charset="-120"/>
              </a:rPr>
              <a:t>67%</a:t>
            </a:r>
            <a:endParaRPr lang="en-US" sz="2600" dirty="0"/>
          </a:p>
        </p:txBody>
      </p:sp>
      <p:sp>
        <p:nvSpPr>
          <p:cNvPr id="13" name="Text 11"/>
          <p:cNvSpPr/>
          <p:nvPr/>
        </p:nvSpPr>
        <p:spPr>
          <a:xfrm>
            <a:off x="457200" y="3977640"/>
            <a:ext cx="3474720" cy="274320"/>
          </a:xfrm>
          <a:prstGeom prst="rect">
            <a:avLst/>
          </a:prstGeom>
          <a:noFill/>
          <a:ln/>
        </p:spPr>
        <p:txBody>
          <a:bodyPr wrap="square" lIns="0" tIns="0" rIns="0" bIns="0" rtlCol="0" anchor="ctr"/>
          <a:lstStyle/>
          <a:p>
            <a:pPr indent="0" marL="0">
              <a:buNone/>
            </a:pPr>
            <a:r>
              <a:rPr lang="en-US" sz="1100" dirty="0">
                <a:solidFill>
                  <a:srgbClr val="5A5848"/>
                </a:solidFill>
                <a:latin typeface="Arial" pitchFamily="34" charset="0"/>
                <a:ea typeface="Arial" pitchFamily="34" charset="-122"/>
                <a:cs typeface="Arial" pitchFamily="34" charset="-120"/>
              </a:rPr>
              <a:t>Of tax → debt service</a:t>
            </a:r>
            <a:endParaRPr lang="en-US" sz="1100" dirty="0"/>
          </a:p>
        </p:txBody>
      </p:sp>
      <p:sp>
        <p:nvSpPr>
          <p:cNvPr id="14" name="Text 12"/>
          <p:cNvSpPr/>
          <p:nvPr/>
        </p:nvSpPr>
        <p:spPr>
          <a:xfrm>
            <a:off x="457200" y="4434840"/>
            <a:ext cx="3474720" cy="457200"/>
          </a:xfrm>
          <a:prstGeom prst="rect">
            <a:avLst/>
          </a:prstGeom>
          <a:noFill/>
          <a:ln/>
        </p:spPr>
        <p:txBody>
          <a:bodyPr wrap="square" lIns="0" tIns="0" rIns="0" bIns="0" rtlCol="0" anchor="ctr"/>
          <a:lstStyle/>
          <a:p>
            <a:pPr indent="0" marL="0">
              <a:buNone/>
            </a:pPr>
            <a:r>
              <a:rPr lang="en-US" sz="2600" b="1" dirty="0">
                <a:solidFill>
                  <a:srgbClr val="C82020"/>
                </a:solidFill>
                <a:latin typeface="Arial" pitchFamily="34" charset="0"/>
                <a:ea typeface="Arial" pitchFamily="34" charset="-122"/>
                <a:cs typeface="Arial" pitchFamily="34" charset="-120"/>
              </a:rPr>
              <a:t>UGX 57.5B</a:t>
            </a:r>
            <a:endParaRPr lang="en-US" sz="2600" dirty="0"/>
          </a:p>
        </p:txBody>
      </p:sp>
      <p:sp>
        <p:nvSpPr>
          <p:cNvPr id="15" name="Text 13"/>
          <p:cNvSpPr/>
          <p:nvPr/>
        </p:nvSpPr>
        <p:spPr>
          <a:xfrm>
            <a:off x="457200" y="4892040"/>
            <a:ext cx="3474720" cy="274320"/>
          </a:xfrm>
          <a:prstGeom prst="rect">
            <a:avLst/>
          </a:prstGeom>
          <a:noFill/>
          <a:ln/>
        </p:spPr>
        <p:txBody>
          <a:bodyPr wrap="square" lIns="0" tIns="0" rIns="0" bIns="0" rtlCol="0" anchor="ctr"/>
          <a:lstStyle/>
          <a:p>
            <a:pPr indent="0" marL="0">
              <a:buNone/>
            </a:pPr>
            <a:r>
              <a:rPr lang="en-US" sz="1100" dirty="0">
                <a:solidFill>
                  <a:srgbClr val="5A5848"/>
                </a:solidFill>
                <a:latin typeface="Arial" pitchFamily="34" charset="0"/>
                <a:ea typeface="Arial" pitchFamily="34" charset="-122"/>
                <a:cs typeface="Arial" pitchFamily="34" charset="-120"/>
              </a:rPr>
              <a:t>Interest per day</a:t>
            </a:r>
            <a:endParaRPr lang="en-US" sz="1100" dirty="0"/>
          </a:p>
        </p:txBody>
      </p:sp>
      <p:sp>
        <p:nvSpPr>
          <p:cNvPr id="16" name="Text 14"/>
          <p:cNvSpPr/>
          <p:nvPr/>
        </p:nvSpPr>
        <p:spPr>
          <a:xfrm>
            <a:off x="457200" y="5349240"/>
            <a:ext cx="3474720" cy="457200"/>
          </a:xfrm>
          <a:prstGeom prst="rect">
            <a:avLst/>
          </a:prstGeom>
          <a:noFill/>
          <a:ln/>
        </p:spPr>
        <p:txBody>
          <a:bodyPr wrap="square" lIns="0" tIns="0" rIns="0" bIns="0" rtlCol="0" anchor="ctr"/>
          <a:lstStyle/>
          <a:p>
            <a:pPr indent="0" marL="0">
              <a:buNone/>
            </a:pPr>
            <a:r>
              <a:rPr lang="en-US" sz="2600" b="1" dirty="0">
                <a:solidFill>
                  <a:srgbClr val="C82020"/>
                </a:solidFill>
                <a:latin typeface="Arial" pitchFamily="34" charset="0"/>
                <a:ea typeface="Arial" pitchFamily="34" charset="-122"/>
                <a:cs typeface="Arial" pitchFamily="34" charset="-120"/>
              </a:rPr>
              <a:t>UGX 2.5M</a:t>
            </a:r>
            <a:endParaRPr lang="en-US" sz="2600" dirty="0"/>
          </a:p>
        </p:txBody>
      </p:sp>
      <p:sp>
        <p:nvSpPr>
          <p:cNvPr id="17" name="Text 15"/>
          <p:cNvSpPr/>
          <p:nvPr/>
        </p:nvSpPr>
        <p:spPr>
          <a:xfrm>
            <a:off x="457200" y="5806440"/>
            <a:ext cx="3474720" cy="274320"/>
          </a:xfrm>
          <a:prstGeom prst="rect">
            <a:avLst/>
          </a:prstGeom>
          <a:noFill/>
          <a:ln/>
        </p:spPr>
        <p:txBody>
          <a:bodyPr wrap="square" lIns="0" tIns="0" rIns="0" bIns="0" rtlCol="0" anchor="ctr"/>
          <a:lstStyle/>
          <a:p>
            <a:pPr indent="0" marL="0">
              <a:buNone/>
            </a:pPr>
            <a:r>
              <a:rPr lang="en-US" sz="1100" dirty="0">
                <a:solidFill>
                  <a:srgbClr val="5A5848"/>
                </a:solidFill>
                <a:latin typeface="Arial" pitchFamily="34" charset="0"/>
                <a:ea typeface="Arial" pitchFamily="34" charset="-122"/>
                <a:cs typeface="Arial" pitchFamily="34" charset="-120"/>
              </a:rPr>
              <a:t>Per Ugandan citizen</a:t>
            </a:r>
            <a:endParaRPr lang="en-US" sz="1100" dirty="0"/>
          </a:p>
        </p:txBody>
      </p:sp>
      <p:sp>
        <p:nvSpPr>
          <p:cNvPr id="18" name="Shape 16"/>
          <p:cNvSpPr/>
          <p:nvPr/>
        </p:nvSpPr>
        <p:spPr>
          <a:xfrm>
            <a:off x="4480560" y="1143000"/>
            <a:ext cx="7406640" cy="53949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4480560" y="1143000"/>
            <a:ext cx="7406640" cy="54864"/>
          </a:xfrm>
          <a:prstGeom prst="rect">
            <a:avLst/>
          </a:prstGeom>
          <a:solidFill>
            <a:srgbClr val="0A7870"/>
          </a:solidFill>
          <a:ln w="12700">
            <a:solidFill>
              <a:srgbClr val="0A7870"/>
            </a:solidFill>
            <a:prstDash val="solid"/>
          </a:ln>
        </p:spPr>
      </p:sp>
      <p:sp>
        <p:nvSpPr>
          <p:cNvPr id="20" name="Text 18"/>
          <p:cNvSpPr/>
          <p:nvPr/>
        </p:nvSpPr>
        <p:spPr>
          <a:xfrm>
            <a:off x="4663440" y="1261872"/>
            <a:ext cx="7040880" cy="274320"/>
          </a:xfrm>
          <a:prstGeom prst="rect">
            <a:avLst/>
          </a:prstGeom>
          <a:noFill/>
          <a:ln/>
        </p:spPr>
        <p:txBody>
          <a:bodyPr wrap="square" lIns="0" tIns="0" rIns="0" bIns="0" rtlCol="0" anchor="ctr"/>
          <a:lstStyle/>
          <a:p>
            <a:pPr indent="0" marL="0">
              <a:buNone/>
            </a:pPr>
            <a:r>
              <a:rPr lang="en-US" sz="1000" b="1" spc="200" kern="0" dirty="0">
                <a:solidFill>
                  <a:srgbClr val="0A7870"/>
                </a:solidFill>
                <a:latin typeface="Arial" pitchFamily="34" charset="0"/>
                <a:ea typeface="Arial" pitchFamily="34" charset="-122"/>
                <a:cs typeface="Arial" pitchFamily="34" charset="-120"/>
              </a:rPr>
              <a:t>FISCALAI — TOP INTERVENTIONS BY DEBT-REDUCTION ROI</a:t>
            </a:r>
            <a:endParaRPr lang="en-US" sz="1000" dirty="0"/>
          </a:p>
        </p:txBody>
      </p:sp>
      <p:sp>
        <p:nvSpPr>
          <p:cNvPr id="21" name="Shape 19"/>
          <p:cNvSpPr/>
          <p:nvPr/>
        </p:nvSpPr>
        <p:spPr>
          <a:xfrm>
            <a:off x="4663440" y="1938528"/>
            <a:ext cx="6858000" cy="256032"/>
          </a:xfrm>
          <a:prstGeom prst="rect">
            <a:avLst/>
          </a:prstGeom>
          <a:solidFill>
            <a:srgbClr val="F8FAFC"/>
          </a:solidFill>
          <a:ln w="12700">
            <a:solidFill>
              <a:srgbClr val="F8FAFC"/>
            </a:solidFill>
            <a:prstDash val="solid"/>
          </a:ln>
        </p:spPr>
      </p:sp>
      <p:sp>
        <p:nvSpPr>
          <p:cNvPr id="22" name="Shape 20"/>
          <p:cNvSpPr/>
          <p:nvPr/>
        </p:nvSpPr>
        <p:spPr>
          <a:xfrm>
            <a:off x="4663440" y="1938528"/>
            <a:ext cx="6858000" cy="256032"/>
          </a:xfrm>
          <a:prstGeom prst="rect">
            <a:avLst/>
          </a:prstGeom>
          <a:solidFill>
            <a:srgbClr val="22C55E">
              <a:alpha val="80000"/>
            </a:srgbClr>
          </a:solidFill>
          <a:ln w="12700">
            <a:solidFill>
              <a:srgbClr val="22C55E"/>
            </a:solidFill>
            <a:prstDash val="solid"/>
          </a:ln>
        </p:spPr>
      </p:sp>
      <p:sp>
        <p:nvSpPr>
          <p:cNvPr id="23" name="Text 21"/>
          <p:cNvSpPr/>
          <p:nvPr/>
        </p:nvSpPr>
        <p:spPr>
          <a:xfrm>
            <a:off x="4663440" y="1700784"/>
            <a:ext cx="292608" cy="274320"/>
          </a:xfrm>
          <a:prstGeom prst="rect">
            <a:avLst/>
          </a:prstGeom>
          <a:noFill/>
          <a:ln/>
        </p:spPr>
        <p:txBody>
          <a:bodyPr wrap="square" lIns="0" tIns="0" rIns="0" bIns="0" rtlCol="0" anchor="ctr"/>
          <a:lstStyle/>
          <a:p>
            <a:pPr indent="0" marL="0">
              <a:buNone/>
            </a:pPr>
            <a:r>
              <a:rPr lang="en-US" sz="1400" b="1" dirty="0">
                <a:solidFill>
                  <a:srgbClr val="22C55E"/>
                </a:solidFill>
                <a:latin typeface="Arial" pitchFamily="34" charset="0"/>
                <a:ea typeface="Arial" pitchFamily="34" charset="-122"/>
                <a:cs typeface="Arial" pitchFamily="34" charset="-120"/>
              </a:rPr>
              <a:t>1</a:t>
            </a:r>
            <a:endParaRPr lang="en-US" sz="1400" dirty="0"/>
          </a:p>
        </p:txBody>
      </p:sp>
      <p:sp>
        <p:nvSpPr>
          <p:cNvPr id="24" name="Text 22"/>
          <p:cNvSpPr/>
          <p:nvPr/>
        </p:nvSpPr>
        <p:spPr>
          <a:xfrm>
            <a:off x="5029200" y="1700784"/>
            <a:ext cx="4937760" cy="256032"/>
          </a:xfrm>
          <a:prstGeom prst="rect">
            <a:avLst/>
          </a:prstGeom>
          <a:noFill/>
          <a:ln/>
        </p:spPr>
        <p:txBody>
          <a:bodyPr wrap="square" lIns="0" tIns="0" rIns="0" bIns="0" rtlCol="0" anchor="ctr"/>
          <a:lstStyle/>
          <a:p>
            <a:pPr indent="0" marL="0">
              <a:buNone/>
            </a:pPr>
            <a:r>
              <a:rPr lang="en-US" sz="1200" b="1" dirty="0">
                <a:solidFill>
                  <a:srgbClr val="1C1C18"/>
                </a:solidFill>
                <a:latin typeface="Arial" pitchFamily="34" charset="0"/>
                <a:ea typeface="Arial" pitchFamily="34" charset="-122"/>
                <a:cs typeface="Arial" pitchFamily="34" charset="-120"/>
              </a:rPr>
              <a:t>Mobile Money Withholding Tax</a:t>
            </a:r>
            <a:endParaRPr lang="en-US" sz="1200" dirty="0"/>
          </a:p>
        </p:txBody>
      </p:sp>
      <p:sp>
        <p:nvSpPr>
          <p:cNvPr id="25" name="Text 23"/>
          <p:cNvSpPr/>
          <p:nvPr/>
        </p:nvSpPr>
        <p:spPr>
          <a:xfrm>
            <a:off x="9966960" y="1700784"/>
            <a:ext cx="1371600" cy="256032"/>
          </a:xfrm>
          <a:prstGeom prst="rect">
            <a:avLst/>
          </a:prstGeom>
          <a:noFill/>
          <a:ln/>
        </p:spPr>
        <p:txBody>
          <a:bodyPr wrap="square" lIns="0" tIns="0" rIns="0" bIns="0" rtlCol="0" anchor="ctr"/>
          <a:lstStyle/>
          <a:p>
            <a:pPr algn="r" indent="0" marL="0">
              <a:buNone/>
            </a:pPr>
            <a:r>
              <a:rPr lang="en-US" sz="1100" b="1" dirty="0">
                <a:solidFill>
                  <a:srgbClr val="22C55E"/>
                </a:solidFill>
                <a:latin typeface="Arial" pitchFamily="34" charset="0"/>
                <a:ea typeface="Arial" pitchFamily="34" charset="-122"/>
                <a:cs typeface="Arial" pitchFamily="34" charset="-120"/>
              </a:rPr>
              <a:t>UGX 600B/year</a:t>
            </a:r>
            <a:endParaRPr lang="en-US" sz="1100" dirty="0"/>
          </a:p>
        </p:txBody>
      </p:sp>
      <p:sp>
        <p:nvSpPr>
          <p:cNvPr id="26" name="Text 24"/>
          <p:cNvSpPr/>
          <p:nvPr/>
        </p:nvSpPr>
        <p:spPr>
          <a:xfrm>
            <a:off x="5029200" y="1975104"/>
            <a:ext cx="2743200" cy="201168"/>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ROI: 180x</a:t>
            </a:r>
            <a:endParaRPr lang="en-US" sz="900" dirty="0"/>
          </a:p>
        </p:txBody>
      </p:sp>
      <p:sp>
        <p:nvSpPr>
          <p:cNvPr id="27" name="Shape 25"/>
          <p:cNvSpPr/>
          <p:nvPr/>
        </p:nvSpPr>
        <p:spPr>
          <a:xfrm>
            <a:off x="4663440" y="2834640"/>
            <a:ext cx="6858000" cy="256032"/>
          </a:xfrm>
          <a:prstGeom prst="rect">
            <a:avLst/>
          </a:prstGeom>
          <a:solidFill>
            <a:srgbClr val="F8FAFC"/>
          </a:solidFill>
          <a:ln w="12700">
            <a:solidFill>
              <a:srgbClr val="F8FAFC"/>
            </a:solidFill>
            <a:prstDash val="solid"/>
          </a:ln>
        </p:spPr>
      </p:sp>
      <p:sp>
        <p:nvSpPr>
          <p:cNvPr id="28" name="Shape 26"/>
          <p:cNvSpPr/>
          <p:nvPr/>
        </p:nvSpPr>
        <p:spPr>
          <a:xfrm>
            <a:off x="4663440" y="2834640"/>
            <a:ext cx="4937760" cy="256032"/>
          </a:xfrm>
          <a:prstGeom prst="rect">
            <a:avLst/>
          </a:prstGeom>
          <a:solidFill>
            <a:srgbClr val="14B8A6">
              <a:alpha val="80000"/>
            </a:srgbClr>
          </a:solidFill>
          <a:ln w="12700">
            <a:solidFill>
              <a:srgbClr val="14B8A6"/>
            </a:solidFill>
            <a:prstDash val="solid"/>
          </a:ln>
        </p:spPr>
      </p:sp>
      <p:sp>
        <p:nvSpPr>
          <p:cNvPr id="29" name="Text 27"/>
          <p:cNvSpPr/>
          <p:nvPr/>
        </p:nvSpPr>
        <p:spPr>
          <a:xfrm>
            <a:off x="4663440" y="2596896"/>
            <a:ext cx="292608" cy="274320"/>
          </a:xfrm>
          <a:prstGeom prst="rect">
            <a:avLst/>
          </a:prstGeom>
          <a:noFill/>
          <a:ln/>
        </p:spPr>
        <p:txBody>
          <a:bodyPr wrap="square" lIns="0" tIns="0" rIns="0" bIns="0" rtlCol="0" anchor="ctr"/>
          <a:lstStyle/>
          <a:p>
            <a:pPr indent="0" marL="0">
              <a:buNone/>
            </a:pPr>
            <a:r>
              <a:rPr lang="en-US" sz="1400" b="1" dirty="0">
                <a:solidFill>
                  <a:srgbClr val="14B8A6"/>
                </a:solidFill>
                <a:latin typeface="Arial" pitchFamily="34" charset="0"/>
                <a:ea typeface="Arial" pitchFamily="34" charset="-122"/>
                <a:cs typeface="Arial" pitchFamily="34" charset="-120"/>
              </a:rPr>
              <a:t>2</a:t>
            </a:r>
            <a:endParaRPr lang="en-US" sz="1400" dirty="0"/>
          </a:p>
        </p:txBody>
      </p:sp>
      <p:sp>
        <p:nvSpPr>
          <p:cNvPr id="30" name="Text 28"/>
          <p:cNvSpPr/>
          <p:nvPr/>
        </p:nvSpPr>
        <p:spPr>
          <a:xfrm>
            <a:off x="5029200" y="2596896"/>
            <a:ext cx="4937760" cy="256032"/>
          </a:xfrm>
          <a:prstGeom prst="rect">
            <a:avLst/>
          </a:prstGeom>
          <a:noFill/>
          <a:ln/>
        </p:spPr>
        <p:txBody>
          <a:bodyPr wrap="square" lIns="0" tIns="0" rIns="0" bIns="0" rtlCol="0" anchor="ctr"/>
          <a:lstStyle/>
          <a:p>
            <a:pPr indent="0" marL="0">
              <a:buNone/>
            </a:pPr>
            <a:r>
              <a:rPr lang="en-US" sz="1200" b="1" dirty="0">
                <a:solidFill>
                  <a:srgbClr val="1C1C18"/>
                </a:solidFill>
                <a:latin typeface="Arial" pitchFamily="34" charset="0"/>
                <a:ea typeface="Arial" pitchFamily="34" charset="-122"/>
                <a:cs typeface="Arial" pitchFamily="34" charset="-120"/>
              </a:rPr>
              <a:t>Construction Invoice Suppression</a:t>
            </a:r>
            <a:endParaRPr lang="en-US" sz="1200" dirty="0"/>
          </a:p>
        </p:txBody>
      </p:sp>
      <p:sp>
        <p:nvSpPr>
          <p:cNvPr id="31" name="Text 29"/>
          <p:cNvSpPr/>
          <p:nvPr/>
        </p:nvSpPr>
        <p:spPr>
          <a:xfrm>
            <a:off x="9966960" y="2596896"/>
            <a:ext cx="1371600" cy="256032"/>
          </a:xfrm>
          <a:prstGeom prst="rect">
            <a:avLst/>
          </a:prstGeom>
          <a:noFill/>
          <a:ln/>
        </p:spPr>
        <p:txBody>
          <a:bodyPr wrap="square" lIns="0" tIns="0" rIns="0" bIns="0" rtlCol="0" anchor="ctr"/>
          <a:lstStyle/>
          <a:p>
            <a:pPr algn="r" indent="0" marL="0">
              <a:buNone/>
            </a:pPr>
            <a:r>
              <a:rPr lang="en-US" sz="1100" b="1" dirty="0">
                <a:solidFill>
                  <a:srgbClr val="14B8A6"/>
                </a:solidFill>
                <a:latin typeface="Arial" pitchFamily="34" charset="0"/>
                <a:ea typeface="Arial" pitchFamily="34" charset="-122"/>
                <a:cs typeface="Arial" pitchFamily="34" charset="-120"/>
              </a:rPr>
              <a:t>UGX 480B/year</a:t>
            </a:r>
            <a:endParaRPr lang="en-US" sz="1100" dirty="0"/>
          </a:p>
        </p:txBody>
      </p:sp>
      <p:sp>
        <p:nvSpPr>
          <p:cNvPr id="32" name="Text 30"/>
          <p:cNvSpPr/>
          <p:nvPr/>
        </p:nvSpPr>
        <p:spPr>
          <a:xfrm>
            <a:off x="5029200" y="2871216"/>
            <a:ext cx="2743200" cy="201168"/>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ROI: 24x</a:t>
            </a:r>
            <a:endParaRPr lang="en-US" sz="900" dirty="0"/>
          </a:p>
        </p:txBody>
      </p:sp>
      <p:sp>
        <p:nvSpPr>
          <p:cNvPr id="33" name="Shape 31"/>
          <p:cNvSpPr/>
          <p:nvPr/>
        </p:nvSpPr>
        <p:spPr>
          <a:xfrm>
            <a:off x="4663440" y="3730752"/>
            <a:ext cx="6858000" cy="256032"/>
          </a:xfrm>
          <a:prstGeom prst="rect">
            <a:avLst/>
          </a:prstGeom>
          <a:solidFill>
            <a:srgbClr val="F8FAFC"/>
          </a:solidFill>
          <a:ln w="12700">
            <a:solidFill>
              <a:srgbClr val="F8FAFC"/>
            </a:solidFill>
            <a:prstDash val="solid"/>
          </a:ln>
        </p:spPr>
      </p:sp>
      <p:sp>
        <p:nvSpPr>
          <p:cNvPr id="34" name="Shape 32"/>
          <p:cNvSpPr/>
          <p:nvPr/>
        </p:nvSpPr>
        <p:spPr>
          <a:xfrm>
            <a:off x="4663440" y="3730752"/>
            <a:ext cx="3291840" cy="256032"/>
          </a:xfrm>
          <a:prstGeom prst="rect">
            <a:avLst/>
          </a:prstGeom>
          <a:solidFill>
            <a:srgbClr val="0A7870">
              <a:alpha val="80000"/>
            </a:srgbClr>
          </a:solidFill>
          <a:ln w="12700">
            <a:solidFill>
              <a:srgbClr val="0A7870"/>
            </a:solidFill>
            <a:prstDash val="solid"/>
          </a:ln>
        </p:spPr>
      </p:sp>
      <p:sp>
        <p:nvSpPr>
          <p:cNvPr id="35" name="Text 33"/>
          <p:cNvSpPr/>
          <p:nvPr/>
        </p:nvSpPr>
        <p:spPr>
          <a:xfrm>
            <a:off x="4663440" y="3493008"/>
            <a:ext cx="292608" cy="274320"/>
          </a:xfrm>
          <a:prstGeom prst="rect">
            <a:avLst/>
          </a:prstGeom>
          <a:noFill/>
          <a:ln/>
        </p:spPr>
        <p:txBody>
          <a:bodyPr wrap="square" lIns="0" tIns="0" rIns="0" bIns="0" rtlCol="0" anchor="ctr"/>
          <a:lstStyle/>
          <a:p>
            <a:pPr indent="0" marL="0">
              <a:buNone/>
            </a:pPr>
            <a:r>
              <a:rPr lang="en-US" sz="1400" b="1" dirty="0">
                <a:solidFill>
                  <a:srgbClr val="0A7870"/>
                </a:solidFill>
                <a:latin typeface="Arial" pitchFamily="34" charset="0"/>
                <a:ea typeface="Arial" pitchFamily="34" charset="-122"/>
                <a:cs typeface="Arial" pitchFamily="34" charset="-120"/>
              </a:rPr>
              <a:t>3</a:t>
            </a:r>
            <a:endParaRPr lang="en-US" sz="1400" dirty="0"/>
          </a:p>
        </p:txBody>
      </p:sp>
      <p:sp>
        <p:nvSpPr>
          <p:cNvPr id="36" name="Text 34"/>
          <p:cNvSpPr/>
          <p:nvPr/>
        </p:nvSpPr>
        <p:spPr>
          <a:xfrm>
            <a:off x="5029200" y="3493008"/>
            <a:ext cx="4937760" cy="256032"/>
          </a:xfrm>
          <a:prstGeom prst="rect">
            <a:avLst/>
          </a:prstGeom>
          <a:noFill/>
          <a:ln/>
        </p:spPr>
        <p:txBody>
          <a:bodyPr wrap="square" lIns="0" tIns="0" rIns="0" bIns="0" rtlCol="0" anchor="ctr"/>
          <a:lstStyle/>
          <a:p>
            <a:pPr indent="0" marL="0">
              <a:buNone/>
            </a:pPr>
            <a:r>
              <a:rPr lang="en-US" sz="1200" b="1" dirty="0">
                <a:solidFill>
                  <a:srgbClr val="1C1C18"/>
                </a:solidFill>
                <a:latin typeface="Arial" pitchFamily="34" charset="0"/>
                <a:ea typeface="Arial" pitchFamily="34" charset="-122"/>
                <a:cs typeface="Arial" pitchFamily="34" charset="-120"/>
              </a:rPr>
              <a:t>VAT Refund Fraud Prevention</a:t>
            </a:r>
            <a:endParaRPr lang="en-US" sz="1200" dirty="0"/>
          </a:p>
        </p:txBody>
      </p:sp>
      <p:sp>
        <p:nvSpPr>
          <p:cNvPr id="37" name="Text 35"/>
          <p:cNvSpPr/>
          <p:nvPr/>
        </p:nvSpPr>
        <p:spPr>
          <a:xfrm>
            <a:off x="9966960" y="3493008"/>
            <a:ext cx="1371600" cy="256032"/>
          </a:xfrm>
          <a:prstGeom prst="rect">
            <a:avLst/>
          </a:prstGeom>
          <a:noFill/>
          <a:ln/>
        </p:spPr>
        <p:txBody>
          <a:bodyPr wrap="square" lIns="0" tIns="0" rIns="0" bIns="0" rtlCol="0" anchor="ctr"/>
          <a:lstStyle/>
          <a:p>
            <a:pPr algn="r" indent="0" marL="0">
              <a:buNone/>
            </a:pPr>
            <a:r>
              <a:rPr lang="en-US" sz="1100" b="1" dirty="0">
                <a:solidFill>
                  <a:srgbClr val="0A7870"/>
                </a:solidFill>
                <a:latin typeface="Arial" pitchFamily="34" charset="0"/>
                <a:ea typeface="Arial" pitchFamily="34" charset="-122"/>
                <a:cs typeface="Arial" pitchFamily="34" charset="-120"/>
              </a:rPr>
              <a:t>UGX 320B/year</a:t>
            </a:r>
            <a:endParaRPr lang="en-US" sz="1100" dirty="0"/>
          </a:p>
        </p:txBody>
      </p:sp>
      <p:sp>
        <p:nvSpPr>
          <p:cNvPr id="38" name="Text 36"/>
          <p:cNvSpPr/>
          <p:nvPr/>
        </p:nvSpPr>
        <p:spPr>
          <a:xfrm>
            <a:off x="5029200" y="3767328"/>
            <a:ext cx="2743200" cy="201168"/>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ROI: 12x</a:t>
            </a:r>
            <a:endParaRPr lang="en-US" sz="900" dirty="0"/>
          </a:p>
        </p:txBody>
      </p:sp>
      <p:sp>
        <p:nvSpPr>
          <p:cNvPr id="39" name="Shape 37"/>
          <p:cNvSpPr/>
          <p:nvPr/>
        </p:nvSpPr>
        <p:spPr>
          <a:xfrm>
            <a:off x="4663440" y="4626864"/>
            <a:ext cx="6858000" cy="256032"/>
          </a:xfrm>
          <a:prstGeom prst="rect">
            <a:avLst/>
          </a:prstGeom>
          <a:solidFill>
            <a:srgbClr val="F8FAFC"/>
          </a:solidFill>
          <a:ln w="12700">
            <a:solidFill>
              <a:srgbClr val="F8FAFC"/>
            </a:solidFill>
            <a:prstDash val="solid"/>
          </a:ln>
        </p:spPr>
      </p:sp>
      <p:sp>
        <p:nvSpPr>
          <p:cNvPr id="40" name="Shape 38"/>
          <p:cNvSpPr/>
          <p:nvPr/>
        </p:nvSpPr>
        <p:spPr>
          <a:xfrm>
            <a:off x="4663440" y="4626864"/>
            <a:ext cx="3771900" cy="256032"/>
          </a:xfrm>
          <a:prstGeom prst="rect">
            <a:avLst/>
          </a:prstGeom>
          <a:solidFill>
            <a:srgbClr val="E8C040">
              <a:alpha val="80000"/>
            </a:srgbClr>
          </a:solidFill>
          <a:ln w="12700">
            <a:solidFill>
              <a:srgbClr val="E8C040"/>
            </a:solidFill>
            <a:prstDash val="solid"/>
          </a:ln>
        </p:spPr>
      </p:sp>
      <p:sp>
        <p:nvSpPr>
          <p:cNvPr id="41" name="Text 39"/>
          <p:cNvSpPr/>
          <p:nvPr/>
        </p:nvSpPr>
        <p:spPr>
          <a:xfrm>
            <a:off x="4663440" y="4389120"/>
            <a:ext cx="292608" cy="274320"/>
          </a:xfrm>
          <a:prstGeom prst="rect">
            <a:avLst/>
          </a:prstGeom>
          <a:noFill/>
          <a:ln/>
        </p:spPr>
        <p:txBody>
          <a:bodyPr wrap="square" lIns="0" tIns="0" rIns="0" bIns="0" rtlCol="0" anchor="ctr"/>
          <a:lstStyle/>
          <a:p>
            <a:pPr indent="0" marL="0">
              <a:buNone/>
            </a:pPr>
            <a:r>
              <a:rPr lang="en-US" sz="1400" b="1" dirty="0">
                <a:solidFill>
                  <a:srgbClr val="E8C040"/>
                </a:solidFill>
                <a:latin typeface="Arial" pitchFamily="34" charset="0"/>
                <a:ea typeface="Arial" pitchFamily="34" charset="-122"/>
                <a:cs typeface="Arial" pitchFamily="34" charset="-120"/>
              </a:rPr>
              <a:t>4</a:t>
            </a:r>
            <a:endParaRPr lang="en-US" sz="1400" dirty="0"/>
          </a:p>
        </p:txBody>
      </p:sp>
      <p:sp>
        <p:nvSpPr>
          <p:cNvPr id="42" name="Text 40"/>
          <p:cNvSpPr/>
          <p:nvPr/>
        </p:nvSpPr>
        <p:spPr>
          <a:xfrm>
            <a:off x="5029200" y="4389120"/>
            <a:ext cx="4937760" cy="256032"/>
          </a:xfrm>
          <a:prstGeom prst="rect">
            <a:avLst/>
          </a:prstGeom>
          <a:noFill/>
          <a:ln/>
        </p:spPr>
        <p:txBody>
          <a:bodyPr wrap="square" lIns="0" tIns="0" rIns="0" bIns="0" rtlCol="0" anchor="ctr"/>
          <a:lstStyle/>
          <a:p>
            <a:pPr indent="0" marL="0">
              <a:buNone/>
            </a:pPr>
            <a:r>
              <a:rPr lang="en-US" sz="1200" b="1" dirty="0">
                <a:solidFill>
                  <a:srgbClr val="1C1C18"/>
                </a:solidFill>
                <a:latin typeface="Arial" pitchFamily="34" charset="0"/>
                <a:ea typeface="Arial" pitchFamily="34" charset="-122"/>
                <a:cs typeface="Arial" pitchFamily="34" charset="-120"/>
              </a:rPr>
              <a:t>Dormant EFRIS Re-engagement</a:t>
            </a:r>
            <a:endParaRPr lang="en-US" sz="1200" dirty="0"/>
          </a:p>
        </p:txBody>
      </p:sp>
      <p:sp>
        <p:nvSpPr>
          <p:cNvPr id="43" name="Text 41"/>
          <p:cNvSpPr/>
          <p:nvPr/>
        </p:nvSpPr>
        <p:spPr>
          <a:xfrm>
            <a:off x="9966960" y="4389120"/>
            <a:ext cx="1371600" cy="256032"/>
          </a:xfrm>
          <a:prstGeom prst="rect">
            <a:avLst/>
          </a:prstGeom>
          <a:noFill/>
          <a:ln/>
        </p:spPr>
        <p:txBody>
          <a:bodyPr wrap="square" lIns="0" tIns="0" rIns="0" bIns="0" rtlCol="0" anchor="ctr"/>
          <a:lstStyle/>
          <a:p>
            <a:pPr algn="r" indent="0" marL="0">
              <a:buNone/>
            </a:pPr>
            <a:r>
              <a:rPr lang="en-US" sz="1100" b="1" dirty="0">
                <a:solidFill>
                  <a:srgbClr val="E8C040"/>
                </a:solidFill>
                <a:latin typeface="Arial" pitchFamily="34" charset="0"/>
                <a:ea typeface="Arial" pitchFamily="34" charset="-122"/>
                <a:cs typeface="Arial" pitchFamily="34" charset="-120"/>
              </a:rPr>
              <a:t>UGX 48B/year</a:t>
            </a:r>
            <a:endParaRPr lang="en-US" sz="1100" dirty="0"/>
          </a:p>
        </p:txBody>
      </p:sp>
      <p:sp>
        <p:nvSpPr>
          <p:cNvPr id="44" name="Text 42"/>
          <p:cNvSpPr/>
          <p:nvPr/>
        </p:nvSpPr>
        <p:spPr>
          <a:xfrm>
            <a:off x="5029200" y="4663440"/>
            <a:ext cx="2743200" cy="201168"/>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ROI: 48x</a:t>
            </a:r>
            <a:endParaRPr lang="en-US" sz="900" dirty="0"/>
          </a:p>
        </p:txBody>
      </p:sp>
      <p:sp>
        <p:nvSpPr>
          <p:cNvPr id="45" name="Shape 43"/>
          <p:cNvSpPr/>
          <p:nvPr/>
        </p:nvSpPr>
        <p:spPr>
          <a:xfrm>
            <a:off x="4663440" y="5522976"/>
            <a:ext cx="6858000" cy="256032"/>
          </a:xfrm>
          <a:prstGeom prst="rect">
            <a:avLst/>
          </a:prstGeom>
          <a:solidFill>
            <a:srgbClr val="F8FAFC"/>
          </a:solidFill>
          <a:ln w="12700">
            <a:solidFill>
              <a:srgbClr val="F8FAFC"/>
            </a:solidFill>
            <a:prstDash val="solid"/>
          </a:ln>
        </p:spPr>
      </p:sp>
      <p:sp>
        <p:nvSpPr>
          <p:cNvPr id="46" name="Shape 44"/>
          <p:cNvSpPr/>
          <p:nvPr/>
        </p:nvSpPr>
        <p:spPr>
          <a:xfrm>
            <a:off x="4663440" y="5522976"/>
            <a:ext cx="2743200" cy="256032"/>
          </a:xfrm>
          <a:prstGeom prst="rect">
            <a:avLst/>
          </a:prstGeom>
          <a:solidFill>
            <a:srgbClr val="0C2048">
              <a:alpha val="80000"/>
            </a:srgbClr>
          </a:solidFill>
          <a:ln w="12700">
            <a:solidFill>
              <a:srgbClr val="0C2048"/>
            </a:solidFill>
            <a:prstDash val="solid"/>
          </a:ln>
        </p:spPr>
      </p:sp>
      <p:sp>
        <p:nvSpPr>
          <p:cNvPr id="47" name="Text 45"/>
          <p:cNvSpPr/>
          <p:nvPr/>
        </p:nvSpPr>
        <p:spPr>
          <a:xfrm>
            <a:off x="4663440" y="5285232"/>
            <a:ext cx="292608" cy="274320"/>
          </a:xfrm>
          <a:prstGeom prst="rect">
            <a:avLst/>
          </a:prstGeom>
          <a:noFill/>
          <a:ln/>
        </p:spPr>
        <p:txBody>
          <a:bodyPr wrap="square" lIns="0" tIns="0" rIns="0" bIns="0" rtlCol="0" anchor="ctr"/>
          <a:lstStyle/>
          <a:p>
            <a:pPr indent="0" marL="0">
              <a:buNone/>
            </a:pPr>
            <a:r>
              <a:rPr lang="en-US" sz="1400" b="1" dirty="0">
                <a:solidFill>
                  <a:srgbClr val="0C2048"/>
                </a:solidFill>
                <a:latin typeface="Arial" pitchFamily="34" charset="0"/>
                <a:ea typeface="Arial" pitchFamily="34" charset="-122"/>
                <a:cs typeface="Arial" pitchFamily="34" charset="-120"/>
              </a:rPr>
              <a:t>5</a:t>
            </a:r>
            <a:endParaRPr lang="en-US" sz="1400" dirty="0"/>
          </a:p>
        </p:txBody>
      </p:sp>
      <p:sp>
        <p:nvSpPr>
          <p:cNvPr id="48" name="Text 46"/>
          <p:cNvSpPr/>
          <p:nvPr/>
        </p:nvSpPr>
        <p:spPr>
          <a:xfrm>
            <a:off x="5029200" y="5285232"/>
            <a:ext cx="4937760" cy="256032"/>
          </a:xfrm>
          <a:prstGeom prst="rect">
            <a:avLst/>
          </a:prstGeom>
          <a:noFill/>
          <a:ln/>
        </p:spPr>
        <p:txBody>
          <a:bodyPr wrap="square" lIns="0" tIns="0" rIns="0" bIns="0" rtlCol="0" anchor="ctr"/>
          <a:lstStyle/>
          <a:p>
            <a:pPr indent="0" marL="0">
              <a:buNone/>
            </a:pPr>
            <a:r>
              <a:rPr lang="en-US" sz="1200" b="1" dirty="0">
                <a:solidFill>
                  <a:srgbClr val="1C1C18"/>
                </a:solidFill>
                <a:latin typeface="Arial" pitchFamily="34" charset="0"/>
                <a:ea typeface="Arial" pitchFamily="34" charset="-122"/>
                <a:cs typeface="Arial" pitchFamily="34" charset="-120"/>
              </a:rPr>
              <a:t>Customs Mis-Invoicing (AI)</a:t>
            </a:r>
            <a:endParaRPr lang="en-US" sz="1200" dirty="0"/>
          </a:p>
        </p:txBody>
      </p:sp>
      <p:sp>
        <p:nvSpPr>
          <p:cNvPr id="49" name="Text 47"/>
          <p:cNvSpPr/>
          <p:nvPr/>
        </p:nvSpPr>
        <p:spPr>
          <a:xfrm>
            <a:off x="9966960" y="5285232"/>
            <a:ext cx="1371600" cy="256032"/>
          </a:xfrm>
          <a:prstGeom prst="rect">
            <a:avLst/>
          </a:prstGeom>
          <a:noFill/>
          <a:ln/>
        </p:spPr>
        <p:txBody>
          <a:bodyPr wrap="square" lIns="0" tIns="0" rIns="0" bIns="0" rtlCol="0" anchor="ctr"/>
          <a:lstStyle/>
          <a:p>
            <a:pPr algn="r" indent="0" marL="0">
              <a:buNone/>
            </a:pPr>
            <a:r>
              <a:rPr lang="en-US" sz="1100" b="1" dirty="0">
                <a:solidFill>
                  <a:srgbClr val="0C2048"/>
                </a:solidFill>
                <a:latin typeface="Arial" pitchFamily="34" charset="0"/>
                <a:ea typeface="Arial" pitchFamily="34" charset="-122"/>
                <a:cs typeface="Arial" pitchFamily="34" charset="-120"/>
              </a:rPr>
              <a:t>UGX 4.8B/month</a:t>
            </a:r>
            <a:endParaRPr lang="en-US" sz="1100" dirty="0"/>
          </a:p>
        </p:txBody>
      </p:sp>
      <p:sp>
        <p:nvSpPr>
          <p:cNvPr id="50" name="Text 48"/>
          <p:cNvSpPr/>
          <p:nvPr/>
        </p:nvSpPr>
        <p:spPr>
          <a:xfrm>
            <a:off x="5029200" y="5559552"/>
            <a:ext cx="2743200" cy="201168"/>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ROI: 11.4x</a:t>
            </a:r>
            <a:endParaRPr lang="en-US" sz="900" dirty="0"/>
          </a:p>
        </p:txBody>
      </p:sp>
      <p:sp>
        <p:nvSpPr>
          <p:cNvPr id="51" name="Shape 49"/>
          <p:cNvSpPr/>
          <p:nvPr/>
        </p:nvSpPr>
        <p:spPr>
          <a:xfrm>
            <a:off x="4480560" y="6327648"/>
            <a:ext cx="7406640" cy="201168"/>
          </a:xfrm>
          <a:prstGeom prst="rect">
            <a:avLst/>
          </a:prstGeom>
          <a:solidFill>
            <a:srgbClr val="0C2048"/>
          </a:solidFill>
          <a:ln w="12700">
            <a:solidFill>
              <a:srgbClr val="0C2048"/>
            </a:solidFill>
            <a:prstDash val="solid"/>
          </a:ln>
        </p:spPr>
      </p:sp>
      <p:sp>
        <p:nvSpPr>
          <p:cNvPr id="52" name="Text 50"/>
          <p:cNvSpPr/>
          <p:nvPr/>
        </p:nvSpPr>
        <p:spPr>
          <a:xfrm>
            <a:off x="4572000" y="6336792"/>
            <a:ext cx="7223760" cy="20116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Optimal scenario: debt-to-GDP falls from 51.3% → 47.2% by 2027  ·  UGX 2.2T additional revenue/year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2048"/>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C040"/>
          </a:solidFill>
          <a:ln w="12700">
            <a:solidFill>
              <a:srgbClr val="E8C040"/>
            </a:solidFill>
            <a:prstDash val="solid"/>
          </a:ln>
        </p:spPr>
      </p:sp>
      <p:sp>
        <p:nvSpPr>
          <p:cNvPr id="3" name="Text 1"/>
          <p:cNvSpPr/>
          <p:nvPr/>
        </p:nvSpPr>
        <p:spPr>
          <a:xfrm>
            <a:off x="347472" y="228600"/>
            <a:ext cx="7315200" cy="347472"/>
          </a:xfrm>
          <a:prstGeom prst="rect">
            <a:avLst/>
          </a:prstGeom>
          <a:noFill/>
          <a:ln/>
        </p:spPr>
        <p:txBody>
          <a:bodyPr wrap="square" lIns="0" tIns="0" rIns="0" bIns="0" rtlCol="0" anchor="ctr"/>
          <a:lstStyle/>
          <a:p>
            <a:pPr indent="0" marL="0">
              <a:buNone/>
            </a:pPr>
            <a:r>
              <a:rPr lang="en-US" sz="1100" b="1" spc="300" kern="0" dirty="0">
                <a:solidFill>
                  <a:srgbClr val="E8C040"/>
                </a:solidFill>
                <a:latin typeface="Arial" pitchFamily="34" charset="0"/>
                <a:ea typeface="Arial" pitchFamily="34" charset="-122"/>
                <a:cs typeface="Arial" pitchFamily="34" charset="-120"/>
              </a:rPr>
              <a:t>Market Size &amp; Revenue Model</a:t>
            </a:r>
            <a:endParaRPr lang="en-US" sz="1100" dirty="0"/>
          </a:p>
        </p:txBody>
      </p:sp>
      <p:sp>
        <p:nvSpPr>
          <p:cNvPr id="4" name="Text 2"/>
          <p:cNvSpPr/>
          <p:nvPr/>
        </p:nvSpPr>
        <p:spPr>
          <a:xfrm>
            <a:off x="347472" y="658368"/>
            <a:ext cx="11430000" cy="59436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UGX 151M Per Month From One Large Client. Across 5 Clients: UGX 755M/Month.</a:t>
            </a:r>
            <a:endParaRPr lang="en-US" sz="2200" dirty="0"/>
          </a:p>
        </p:txBody>
      </p:sp>
      <p:sp>
        <p:nvSpPr>
          <p:cNvPr id="5" name="Shape 3"/>
          <p:cNvSpPr/>
          <p:nvPr/>
        </p:nvSpPr>
        <p:spPr>
          <a:xfrm>
            <a:off x="274320" y="1417320"/>
            <a:ext cx="11612880" cy="438912"/>
          </a:xfrm>
          <a:prstGeom prst="rect">
            <a:avLst/>
          </a:prstGeom>
          <a:solidFill>
            <a:srgbClr val="0D1628"/>
          </a:solidFill>
          <a:ln w="12700">
            <a:solidFill>
              <a:srgbClr val="0D1628"/>
            </a:solidFill>
            <a:prstDash val="solid"/>
          </a:ln>
        </p:spPr>
      </p:sp>
      <p:sp>
        <p:nvSpPr>
          <p:cNvPr id="6" name="Text 4"/>
          <p:cNvSpPr/>
          <p:nvPr/>
        </p:nvSpPr>
        <p:spPr>
          <a:xfrm>
            <a:off x="438912" y="1499616"/>
            <a:ext cx="201168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TaxLink</a:t>
            </a:r>
            <a:endParaRPr lang="en-US" sz="1100" dirty="0"/>
          </a:p>
        </p:txBody>
      </p:sp>
      <p:sp>
        <p:nvSpPr>
          <p:cNvPr id="7" name="Text 5"/>
          <p:cNvSpPr/>
          <p:nvPr/>
        </p:nvSpPr>
        <p:spPr>
          <a:xfrm>
            <a:off x="2560320" y="1499616"/>
            <a:ext cx="2377440" cy="274320"/>
          </a:xfrm>
          <a:prstGeom prst="rect">
            <a:avLst/>
          </a:prstGeom>
          <a:noFill/>
          <a:ln/>
        </p:spPr>
        <p:txBody>
          <a:bodyPr wrap="square" lIns="0" tIns="0" rIns="0" bIns="0" rtlCol="0" anchor="ctr"/>
          <a:lstStyle/>
          <a:p>
            <a:pPr indent="0" marL="0">
              <a:buNone/>
            </a:pPr>
            <a:r>
              <a:rPr lang="en-US" sz="1100" b="1" dirty="0">
                <a:solidFill>
                  <a:srgbClr val="14B8A6"/>
                </a:solidFill>
                <a:latin typeface="Arial" pitchFamily="34" charset="0"/>
                <a:ea typeface="Arial" pitchFamily="34" charset="-122"/>
                <a:cs typeface="Arial" pitchFamily="34" charset="-120"/>
              </a:rPr>
              <a:t>UGX 2–5M</a:t>
            </a:r>
            <a:endParaRPr lang="en-US" sz="1100" dirty="0"/>
          </a:p>
        </p:txBody>
      </p:sp>
      <p:sp>
        <p:nvSpPr>
          <p:cNvPr id="8" name="Text 6"/>
          <p:cNvSpPr/>
          <p:nvPr/>
        </p:nvSpPr>
        <p:spPr>
          <a:xfrm>
            <a:off x="5120640" y="1499616"/>
            <a:ext cx="658368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1,300+ UMA members</a:t>
            </a:r>
            <a:endParaRPr lang="en-US" sz="1000" dirty="0"/>
          </a:p>
        </p:txBody>
      </p:sp>
      <p:sp>
        <p:nvSpPr>
          <p:cNvPr id="9" name="Shape 7"/>
          <p:cNvSpPr/>
          <p:nvPr/>
        </p:nvSpPr>
        <p:spPr>
          <a:xfrm>
            <a:off x="274320" y="1911096"/>
            <a:ext cx="11612880" cy="438912"/>
          </a:xfrm>
          <a:prstGeom prst="rect">
            <a:avLst/>
          </a:prstGeom>
          <a:solidFill>
            <a:srgbClr val="162D5E"/>
          </a:solidFill>
          <a:ln w="12700">
            <a:solidFill>
              <a:srgbClr val="0D1628"/>
            </a:solidFill>
            <a:prstDash val="solid"/>
          </a:ln>
        </p:spPr>
      </p:sp>
      <p:sp>
        <p:nvSpPr>
          <p:cNvPr id="10" name="Text 8"/>
          <p:cNvSpPr/>
          <p:nvPr/>
        </p:nvSpPr>
        <p:spPr>
          <a:xfrm>
            <a:off x="438912" y="1993392"/>
            <a:ext cx="201168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CreditTrack</a:t>
            </a:r>
            <a:endParaRPr lang="en-US" sz="1100" dirty="0"/>
          </a:p>
        </p:txBody>
      </p:sp>
      <p:sp>
        <p:nvSpPr>
          <p:cNvPr id="11" name="Text 9"/>
          <p:cNvSpPr/>
          <p:nvPr/>
        </p:nvSpPr>
        <p:spPr>
          <a:xfrm>
            <a:off x="2560320" y="1993392"/>
            <a:ext cx="2377440" cy="274320"/>
          </a:xfrm>
          <a:prstGeom prst="rect">
            <a:avLst/>
          </a:prstGeom>
          <a:noFill/>
          <a:ln/>
        </p:spPr>
        <p:txBody>
          <a:bodyPr wrap="square" lIns="0" tIns="0" rIns="0" bIns="0" rtlCol="0" anchor="ctr"/>
          <a:lstStyle/>
          <a:p>
            <a:pPr indent="0" marL="0">
              <a:buNone/>
            </a:pPr>
            <a:r>
              <a:rPr lang="en-US" sz="1100" b="1" dirty="0">
                <a:solidFill>
                  <a:srgbClr val="14B8A6"/>
                </a:solidFill>
                <a:latin typeface="Arial" pitchFamily="34" charset="0"/>
                <a:ea typeface="Arial" pitchFamily="34" charset="-122"/>
                <a:cs typeface="Arial" pitchFamily="34" charset="-120"/>
              </a:rPr>
              <a:t>UGX 2–4M</a:t>
            </a:r>
            <a:endParaRPr lang="en-US" sz="1100" dirty="0"/>
          </a:p>
        </p:txBody>
      </p:sp>
      <p:sp>
        <p:nvSpPr>
          <p:cNvPr id="12" name="Text 10"/>
          <p:cNvSpPr/>
          <p:nvPr/>
        </p:nvSpPr>
        <p:spPr>
          <a:xfrm>
            <a:off x="5120640" y="1993392"/>
            <a:ext cx="658368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All FMCG manufacturers</a:t>
            </a:r>
            <a:endParaRPr lang="en-US" sz="1000" dirty="0"/>
          </a:p>
        </p:txBody>
      </p:sp>
      <p:sp>
        <p:nvSpPr>
          <p:cNvPr id="13" name="Shape 11"/>
          <p:cNvSpPr/>
          <p:nvPr/>
        </p:nvSpPr>
        <p:spPr>
          <a:xfrm>
            <a:off x="274320" y="2404872"/>
            <a:ext cx="11612880" cy="438912"/>
          </a:xfrm>
          <a:prstGeom prst="rect">
            <a:avLst/>
          </a:prstGeom>
          <a:solidFill>
            <a:srgbClr val="0D1628"/>
          </a:solidFill>
          <a:ln w="12700">
            <a:solidFill>
              <a:srgbClr val="0D1628"/>
            </a:solidFill>
            <a:prstDash val="solid"/>
          </a:ln>
        </p:spPr>
      </p:sp>
      <p:sp>
        <p:nvSpPr>
          <p:cNvPr id="14" name="Text 12"/>
          <p:cNvSpPr/>
          <p:nvPr/>
        </p:nvSpPr>
        <p:spPr>
          <a:xfrm>
            <a:off x="438912" y="2487168"/>
            <a:ext cx="201168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VerifyUG</a:t>
            </a:r>
            <a:endParaRPr lang="en-US" sz="1100" dirty="0"/>
          </a:p>
        </p:txBody>
      </p:sp>
      <p:sp>
        <p:nvSpPr>
          <p:cNvPr id="15" name="Text 13"/>
          <p:cNvSpPr/>
          <p:nvPr/>
        </p:nvSpPr>
        <p:spPr>
          <a:xfrm>
            <a:off x="2560320" y="2487168"/>
            <a:ext cx="2377440" cy="274320"/>
          </a:xfrm>
          <a:prstGeom prst="rect">
            <a:avLst/>
          </a:prstGeom>
          <a:noFill/>
          <a:ln/>
        </p:spPr>
        <p:txBody>
          <a:bodyPr wrap="square" lIns="0" tIns="0" rIns="0" bIns="0" rtlCol="0" anchor="ctr"/>
          <a:lstStyle/>
          <a:p>
            <a:pPr indent="0" marL="0">
              <a:buNone/>
            </a:pPr>
            <a:r>
              <a:rPr lang="en-US" sz="1100" b="1" dirty="0">
                <a:solidFill>
                  <a:srgbClr val="E8C040"/>
                </a:solidFill>
                <a:latin typeface="Arial" pitchFamily="34" charset="0"/>
                <a:ea typeface="Arial" pitchFamily="34" charset="-122"/>
                <a:cs typeface="Arial" pitchFamily="34" charset="-120"/>
              </a:rPr>
              <a:t>UGX 50–100M</a:t>
            </a:r>
            <a:endParaRPr lang="en-US" sz="1100" dirty="0"/>
          </a:p>
        </p:txBody>
      </p:sp>
      <p:sp>
        <p:nvSpPr>
          <p:cNvPr id="16" name="Text 14"/>
          <p:cNvSpPr/>
          <p:nvPr/>
        </p:nvSpPr>
        <p:spPr>
          <a:xfrm>
            <a:off x="5120640" y="2487168"/>
            <a:ext cx="658368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Pay per code — scales with production</a:t>
            </a:r>
            <a:endParaRPr lang="en-US" sz="1000" dirty="0"/>
          </a:p>
        </p:txBody>
      </p:sp>
      <p:sp>
        <p:nvSpPr>
          <p:cNvPr id="17" name="Shape 15"/>
          <p:cNvSpPr/>
          <p:nvPr/>
        </p:nvSpPr>
        <p:spPr>
          <a:xfrm>
            <a:off x="274320" y="2898648"/>
            <a:ext cx="11612880" cy="438912"/>
          </a:xfrm>
          <a:prstGeom prst="rect">
            <a:avLst/>
          </a:prstGeom>
          <a:solidFill>
            <a:srgbClr val="162D5E"/>
          </a:solidFill>
          <a:ln w="12700">
            <a:solidFill>
              <a:srgbClr val="0D1628"/>
            </a:solidFill>
            <a:prstDash val="solid"/>
          </a:ln>
        </p:spPr>
      </p:sp>
      <p:sp>
        <p:nvSpPr>
          <p:cNvPr id="18" name="Text 16"/>
          <p:cNvSpPr/>
          <p:nvPr/>
        </p:nvSpPr>
        <p:spPr>
          <a:xfrm>
            <a:off x="438912" y="2980944"/>
            <a:ext cx="201168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GuardPost</a:t>
            </a:r>
            <a:endParaRPr lang="en-US" sz="1100" dirty="0"/>
          </a:p>
        </p:txBody>
      </p:sp>
      <p:sp>
        <p:nvSpPr>
          <p:cNvPr id="19" name="Text 17"/>
          <p:cNvSpPr/>
          <p:nvPr/>
        </p:nvSpPr>
        <p:spPr>
          <a:xfrm>
            <a:off x="2560320" y="2980944"/>
            <a:ext cx="2377440" cy="274320"/>
          </a:xfrm>
          <a:prstGeom prst="rect">
            <a:avLst/>
          </a:prstGeom>
          <a:noFill/>
          <a:ln/>
        </p:spPr>
        <p:txBody>
          <a:bodyPr wrap="square" lIns="0" tIns="0" rIns="0" bIns="0" rtlCol="0" anchor="ctr"/>
          <a:lstStyle/>
          <a:p>
            <a:pPr indent="0" marL="0">
              <a:buNone/>
            </a:pPr>
            <a:r>
              <a:rPr lang="en-US" sz="1100" b="1" dirty="0">
                <a:solidFill>
                  <a:srgbClr val="C82020"/>
                </a:solidFill>
                <a:latin typeface="Arial" pitchFamily="34" charset="0"/>
                <a:ea typeface="Arial" pitchFamily="34" charset="-122"/>
                <a:cs typeface="Arial" pitchFamily="34" charset="-120"/>
              </a:rPr>
              <a:t>UGX 3–8M</a:t>
            </a:r>
            <a:endParaRPr lang="en-US" sz="1100" dirty="0"/>
          </a:p>
        </p:txBody>
      </p:sp>
      <p:sp>
        <p:nvSpPr>
          <p:cNvPr id="20" name="Text 18"/>
          <p:cNvSpPr/>
          <p:nvPr/>
        </p:nvSpPr>
        <p:spPr>
          <a:xfrm>
            <a:off x="5120640" y="2980944"/>
            <a:ext cx="658368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Post-Nile scandal: every warehouse manager nervous</a:t>
            </a:r>
            <a:endParaRPr lang="en-US" sz="1000" dirty="0"/>
          </a:p>
        </p:txBody>
      </p:sp>
      <p:sp>
        <p:nvSpPr>
          <p:cNvPr id="21" name="Shape 19"/>
          <p:cNvSpPr/>
          <p:nvPr/>
        </p:nvSpPr>
        <p:spPr>
          <a:xfrm>
            <a:off x="274320" y="3392424"/>
            <a:ext cx="11612880" cy="438912"/>
          </a:xfrm>
          <a:prstGeom prst="rect">
            <a:avLst/>
          </a:prstGeom>
          <a:solidFill>
            <a:srgbClr val="0D1628"/>
          </a:solidFill>
          <a:ln w="12700">
            <a:solidFill>
              <a:srgbClr val="0D1628"/>
            </a:solidFill>
            <a:prstDash val="solid"/>
          </a:ln>
        </p:spPr>
      </p:sp>
      <p:sp>
        <p:nvSpPr>
          <p:cNvPr id="22" name="Text 20"/>
          <p:cNvSpPr/>
          <p:nvPr/>
        </p:nvSpPr>
        <p:spPr>
          <a:xfrm>
            <a:off x="438912" y="3474720"/>
            <a:ext cx="201168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PayrollGuard</a:t>
            </a:r>
            <a:endParaRPr lang="en-US" sz="1100" dirty="0"/>
          </a:p>
        </p:txBody>
      </p:sp>
      <p:sp>
        <p:nvSpPr>
          <p:cNvPr id="23" name="Text 21"/>
          <p:cNvSpPr/>
          <p:nvPr/>
        </p:nvSpPr>
        <p:spPr>
          <a:xfrm>
            <a:off x="2560320" y="3474720"/>
            <a:ext cx="2377440" cy="274320"/>
          </a:xfrm>
          <a:prstGeom prst="rect">
            <a:avLst/>
          </a:prstGeom>
          <a:noFill/>
          <a:ln/>
        </p:spPr>
        <p:txBody>
          <a:bodyPr wrap="square" lIns="0" tIns="0" rIns="0" bIns="0" rtlCol="0" anchor="ctr"/>
          <a:lstStyle/>
          <a:p>
            <a:pPr indent="0" marL="0">
              <a:buNone/>
            </a:pPr>
            <a:r>
              <a:rPr lang="en-US" sz="1100" b="1" dirty="0">
                <a:solidFill>
                  <a:srgbClr val="14B8A6"/>
                </a:solidFill>
                <a:latin typeface="Arial" pitchFamily="34" charset="0"/>
                <a:ea typeface="Arial" pitchFamily="34" charset="-122"/>
                <a:cs typeface="Arial" pitchFamily="34" charset="-120"/>
              </a:rPr>
              <a:t>UGX 2–4M</a:t>
            </a:r>
            <a:endParaRPr lang="en-US" sz="1100" dirty="0"/>
          </a:p>
        </p:txBody>
      </p:sp>
      <p:sp>
        <p:nvSpPr>
          <p:cNvPr id="24" name="Text 22"/>
          <p:cNvSpPr/>
          <p:nvPr/>
        </p:nvSpPr>
        <p:spPr>
          <a:xfrm>
            <a:off x="5120640" y="3474720"/>
            <a:ext cx="658368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Every company with 10+ staff</a:t>
            </a:r>
            <a:endParaRPr lang="en-US" sz="1000" dirty="0"/>
          </a:p>
        </p:txBody>
      </p:sp>
      <p:sp>
        <p:nvSpPr>
          <p:cNvPr id="25" name="Shape 23"/>
          <p:cNvSpPr/>
          <p:nvPr/>
        </p:nvSpPr>
        <p:spPr>
          <a:xfrm>
            <a:off x="274320" y="3886200"/>
            <a:ext cx="11612880" cy="438912"/>
          </a:xfrm>
          <a:prstGeom prst="rect">
            <a:avLst/>
          </a:prstGeom>
          <a:solidFill>
            <a:srgbClr val="162D5E"/>
          </a:solidFill>
          <a:ln w="12700">
            <a:solidFill>
              <a:srgbClr val="0D1628"/>
            </a:solidFill>
            <a:prstDash val="solid"/>
          </a:ln>
        </p:spPr>
      </p:sp>
      <p:sp>
        <p:nvSpPr>
          <p:cNvPr id="26" name="Text 24"/>
          <p:cNvSpPr/>
          <p:nvPr/>
        </p:nvSpPr>
        <p:spPr>
          <a:xfrm>
            <a:off x="438912" y="3968496"/>
            <a:ext cx="201168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DeliverUG</a:t>
            </a:r>
            <a:endParaRPr lang="en-US" sz="1100" dirty="0"/>
          </a:p>
        </p:txBody>
      </p:sp>
      <p:sp>
        <p:nvSpPr>
          <p:cNvPr id="27" name="Text 25"/>
          <p:cNvSpPr/>
          <p:nvPr/>
        </p:nvSpPr>
        <p:spPr>
          <a:xfrm>
            <a:off x="2560320" y="3968496"/>
            <a:ext cx="2377440" cy="274320"/>
          </a:xfrm>
          <a:prstGeom prst="rect">
            <a:avLst/>
          </a:prstGeom>
          <a:noFill/>
          <a:ln/>
        </p:spPr>
        <p:txBody>
          <a:bodyPr wrap="square" lIns="0" tIns="0" rIns="0" bIns="0" rtlCol="0" anchor="ctr"/>
          <a:lstStyle/>
          <a:p>
            <a:pPr indent="0" marL="0">
              <a:buNone/>
            </a:pPr>
            <a:r>
              <a:rPr lang="en-US" sz="1100" b="1" dirty="0">
                <a:solidFill>
                  <a:srgbClr val="14B8A6"/>
                </a:solidFill>
                <a:latin typeface="Arial" pitchFamily="34" charset="0"/>
                <a:ea typeface="Arial" pitchFamily="34" charset="-122"/>
                <a:cs typeface="Arial" pitchFamily="34" charset="-120"/>
              </a:rPr>
              <a:t>UGX 1–3M</a:t>
            </a:r>
            <a:endParaRPr lang="en-US" sz="1100" dirty="0"/>
          </a:p>
        </p:txBody>
      </p:sp>
      <p:sp>
        <p:nvSpPr>
          <p:cNvPr id="28" name="Text 26"/>
          <p:cNvSpPr/>
          <p:nvPr/>
        </p:nvSpPr>
        <p:spPr>
          <a:xfrm>
            <a:off x="5120640" y="3968496"/>
            <a:ext cx="658368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All FMCG distributors</a:t>
            </a:r>
            <a:endParaRPr lang="en-US" sz="1000" dirty="0"/>
          </a:p>
        </p:txBody>
      </p:sp>
      <p:sp>
        <p:nvSpPr>
          <p:cNvPr id="29" name="Shape 27"/>
          <p:cNvSpPr/>
          <p:nvPr/>
        </p:nvSpPr>
        <p:spPr>
          <a:xfrm>
            <a:off x="274320" y="4379976"/>
            <a:ext cx="11612880" cy="438912"/>
          </a:xfrm>
          <a:prstGeom prst="rect">
            <a:avLst/>
          </a:prstGeom>
          <a:solidFill>
            <a:srgbClr val="0D1628"/>
          </a:solidFill>
          <a:ln w="12700">
            <a:solidFill>
              <a:srgbClr val="0D1628"/>
            </a:solidFill>
            <a:prstDash val="solid"/>
          </a:ln>
        </p:spPr>
      </p:sp>
      <p:sp>
        <p:nvSpPr>
          <p:cNvPr id="30" name="Text 28"/>
          <p:cNvSpPr/>
          <p:nvPr/>
        </p:nvSpPr>
        <p:spPr>
          <a:xfrm>
            <a:off x="438912" y="4462272"/>
            <a:ext cx="201168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ProcureGuard</a:t>
            </a:r>
            <a:endParaRPr lang="en-US" sz="1100" dirty="0"/>
          </a:p>
        </p:txBody>
      </p:sp>
      <p:sp>
        <p:nvSpPr>
          <p:cNvPr id="31" name="Text 29"/>
          <p:cNvSpPr/>
          <p:nvPr/>
        </p:nvSpPr>
        <p:spPr>
          <a:xfrm>
            <a:off x="2560320" y="4462272"/>
            <a:ext cx="2377440" cy="274320"/>
          </a:xfrm>
          <a:prstGeom prst="rect">
            <a:avLst/>
          </a:prstGeom>
          <a:noFill/>
          <a:ln/>
        </p:spPr>
        <p:txBody>
          <a:bodyPr wrap="square" lIns="0" tIns="0" rIns="0" bIns="0" rtlCol="0" anchor="ctr"/>
          <a:lstStyle/>
          <a:p>
            <a:pPr indent="0" marL="0">
              <a:buNone/>
            </a:pPr>
            <a:r>
              <a:rPr lang="en-US" sz="1100" b="1" dirty="0">
                <a:solidFill>
                  <a:srgbClr val="14B8A6"/>
                </a:solidFill>
                <a:latin typeface="Arial" pitchFamily="34" charset="0"/>
                <a:ea typeface="Arial" pitchFamily="34" charset="-122"/>
                <a:cs typeface="Arial" pitchFamily="34" charset="-120"/>
              </a:rPr>
              <a:t>UGX 2–5M</a:t>
            </a:r>
            <a:endParaRPr lang="en-US" sz="1100" dirty="0"/>
          </a:p>
        </p:txBody>
      </p:sp>
      <p:sp>
        <p:nvSpPr>
          <p:cNvPr id="32" name="Text 30"/>
          <p:cNvSpPr/>
          <p:nvPr/>
        </p:nvSpPr>
        <p:spPr>
          <a:xfrm>
            <a:off x="5120640" y="4462272"/>
            <a:ext cx="658368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Nile Breweries, KPI, Steel &amp; Tube</a:t>
            </a:r>
            <a:endParaRPr lang="en-US" sz="1000" dirty="0"/>
          </a:p>
        </p:txBody>
      </p:sp>
      <p:sp>
        <p:nvSpPr>
          <p:cNvPr id="33" name="Shape 31"/>
          <p:cNvSpPr/>
          <p:nvPr/>
        </p:nvSpPr>
        <p:spPr>
          <a:xfrm>
            <a:off x="274320" y="4873752"/>
            <a:ext cx="11612880" cy="438912"/>
          </a:xfrm>
          <a:prstGeom prst="rect">
            <a:avLst/>
          </a:prstGeom>
          <a:solidFill>
            <a:srgbClr val="162D5E"/>
          </a:solidFill>
          <a:ln w="12700">
            <a:solidFill>
              <a:srgbClr val="0D1628"/>
            </a:solidFill>
            <a:prstDash val="solid"/>
          </a:ln>
        </p:spPr>
      </p:sp>
      <p:sp>
        <p:nvSpPr>
          <p:cNvPr id="34" name="Text 32"/>
          <p:cNvSpPr/>
          <p:nvPr/>
        </p:nvSpPr>
        <p:spPr>
          <a:xfrm>
            <a:off x="438912" y="4956048"/>
            <a:ext cx="201168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RetailPulse</a:t>
            </a:r>
            <a:endParaRPr lang="en-US" sz="1100" dirty="0"/>
          </a:p>
        </p:txBody>
      </p:sp>
      <p:sp>
        <p:nvSpPr>
          <p:cNvPr id="35" name="Text 33"/>
          <p:cNvSpPr/>
          <p:nvPr/>
        </p:nvSpPr>
        <p:spPr>
          <a:xfrm>
            <a:off x="2560320" y="4956048"/>
            <a:ext cx="2377440" cy="274320"/>
          </a:xfrm>
          <a:prstGeom prst="rect">
            <a:avLst/>
          </a:prstGeom>
          <a:noFill/>
          <a:ln/>
        </p:spPr>
        <p:txBody>
          <a:bodyPr wrap="square" lIns="0" tIns="0" rIns="0" bIns="0" rtlCol="0" anchor="ctr"/>
          <a:lstStyle/>
          <a:p>
            <a:pPr indent="0" marL="0">
              <a:buNone/>
            </a:pPr>
            <a:r>
              <a:rPr lang="en-US" sz="1100" b="1" dirty="0">
                <a:solidFill>
                  <a:srgbClr val="22C55E"/>
                </a:solidFill>
                <a:latin typeface="Arial" pitchFamily="34" charset="0"/>
                <a:ea typeface="Arial" pitchFamily="34" charset="-122"/>
                <a:cs typeface="Arial" pitchFamily="34" charset="-120"/>
              </a:rPr>
              <a:t>UGX 5–20M</a:t>
            </a:r>
            <a:endParaRPr lang="en-US" sz="1100" dirty="0"/>
          </a:p>
        </p:txBody>
      </p:sp>
      <p:sp>
        <p:nvSpPr>
          <p:cNvPr id="36" name="Text 34"/>
          <p:cNvSpPr/>
          <p:nvPr/>
        </p:nvSpPr>
        <p:spPr>
          <a:xfrm>
            <a:off x="5120640" y="4956048"/>
            <a:ext cx="658368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Data subscription per manufacturer</a:t>
            </a:r>
            <a:endParaRPr lang="en-US" sz="1000" dirty="0"/>
          </a:p>
        </p:txBody>
      </p:sp>
      <p:sp>
        <p:nvSpPr>
          <p:cNvPr id="37" name="Shape 35"/>
          <p:cNvSpPr/>
          <p:nvPr/>
        </p:nvSpPr>
        <p:spPr>
          <a:xfrm>
            <a:off x="274320" y="5367528"/>
            <a:ext cx="11612880" cy="438912"/>
          </a:xfrm>
          <a:prstGeom prst="rect">
            <a:avLst/>
          </a:prstGeom>
          <a:solidFill>
            <a:srgbClr val="0D1628"/>
          </a:solidFill>
          <a:ln w="12700">
            <a:solidFill>
              <a:srgbClr val="0D1628"/>
            </a:solidFill>
            <a:prstDash val="solid"/>
          </a:ln>
        </p:spPr>
      </p:sp>
      <p:sp>
        <p:nvSpPr>
          <p:cNvPr id="38" name="Text 36"/>
          <p:cNvSpPr/>
          <p:nvPr/>
        </p:nvSpPr>
        <p:spPr>
          <a:xfrm>
            <a:off x="438912" y="5449824"/>
            <a:ext cx="201168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PowerCost</a:t>
            </a:r>
            <a:endParaRPr lang="en-US" sz="1100" dirty="0"/>
          </a:p>
        </p:txBody>
      </p:sp>
      <p:sp>
        <p:nvSpPr>
          <p:cNvPr id="39" name="Text 37"/>
          <p:cNvSpPr/>
          <p:nvPr/>
        </p:nvSpPr>
        <p:spPr>
          <a:xfrm>
            <a:off x="2560320" y="5449824"/>
            <a:ext cx="2377440" cy="274320"/>
          </a:xfrm>
          <a:prstGeom prst="rect">
            <a:avLst/>
          </a:prstGeom>
          <a:noFill/>
          <a:ln/>
        </p:spPr>
        <p:txBody>
          <a:bodyPr wrap="square" lIns="0" tIns="0" rIns="0" bIns="0" rtlCol="0" anchor="ctr"/>
          <a:lstStyle/>
          <a:p>
            <a:pPr indent="0" marL="0">
              <a:buNone/>
            </a:pPr>
            <a:r>
              <a:rPr lang="en-US" sz="1100" b="1" dirty="0">
                <a:solidFill>
                  <a:srgbClr val="14B8A6"/>
                </a:solidFill>
                <a:latin typeface="Arial" pitchFamily="34" charset="0"/>
                <a:ea typeface="Arial" pitchFamily="34" charset="-122"/>
                <a:cs typeface="Arial" pitchFamily="34" charset="-120"/>
              </a:rPr>
              <a:t>UGX 1–2M</a:t>
            </a:r>
            <a:endParaRPr lang="en-US" sz="1100" dirty="0"/>
          </a:p>
        </p:txBody>
      </p:sp>
      <p:sp>
        <p:nvSpPr>
          <p:cNvPr id="40" name="Text 38"/>
          <p:cNvSpPr/>
          <p:nvPr/>
        </p:nvSpPr>
        <p:spPr>
          <a:xfrm>
            <a:off x="5120640" y="5449824"/>
            <a:ext cx="658368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All factories — UGX 46M/month pain</a:t>
            </a:r>
            <a:endParaRPr lang="en-US" sz="1000" dirty="0"/>
          </a:p>
        </p:txBody>
      </p:sp>
      <p:sp>
        <p:nvSpPr>
          <p:cNvPr id="41" name="Shape 39"/>
          <p:cNvSpPr/>
          <p:nvPr/>
        </p:nvSpPr>
        <p:spPr>
          <a:xfrm>
            <a:off x="274320" y="5861304"/>
            <a:ext cx="11612880" cy="438912"/>
          </a:xfrm>
          <a:prstGeom prst="rect">
            <a:avLst/>
          </a:prstGeom>
          <a:solidFill>
            <a:srgbClr val="162D5E"/>
          </a:solidFill>
          <a:ln w="12700">
            <a:solidFill>
              <a:srgbClr val="E8C040"/>
            </a:solidFill>
            <a:prstDash val="solid"/>
          </a:ln>
        </p:spPr>
      </p:sp>
      <p:sp>
        <p:nvSpPr>
          <p:cNvPr id="42" name="Shape 40"/>
          <p:cNvSpPr/>
          <p:nvPr/>
        </p:nvSpPr>
        <p:spPr>
          <a:xfrm>
            <a:off x="274320" y="5861304"/>
            <a:ext cx="54864" cy="438912"/>
          </a:xfrm>
          <a:prstGeom prst="rect">
            <a:avLst/>
          </a:prstGeom>
          <a:solidFill>
            <a:srgbClr val="E8C040"/>
          </a:solidFill>
          <a:ln w="12700">
            <a:solidFill>
              <a:srgbClr val="E8C040"/>
            </a:solidFill>
            <a:prstDash val="solid"/>
          </a:ln>
        </p:spPr>
      </p:sp>
      <p:sp>
        <p:nvSpPr>
          <p:cNvPr id="43" name="Text 41"/>
          <p:cNvSpPr/>
          <p:nvPr/>
        </p:nvSpPr>
        <p:spPr>
          <a:xfrm>
            <a:off x="438912" y="5943600"/>
            <a:ext cx="2011680" cy="274320"/>
          </a:xfrm>
          <a:prstGeom prst="rect">
            <a:avLst/>
          </a:prstGeom>
          <a:noFill/>
          <a:ln/>
        </p:spPr>
        <p:txBody>
          <a:bodyPr wrap="square" lIns="0" tIns="0" rIns="0" bIns="0" rtlCol="0" anchor="ctr"/>
          <a:lstStyle/>
          <a:p>
            <a:pPr indent="0" marL="0">
              <a:buNone/>
            </a:pPr>
            <a:r>
              <a:rPr lang="en-US" sz="1300" b="1" dirty="0">
                <a:solidFill>
                  <a:srgbClr val="E8C040"/>
                </a:solidFill>
                <a:latin typeface="Arial" pitchFamily="34" charset="0"/>
                <a:ea typeface="Arial" pitchFamily="34" charset="-122"/>
                <a:cs typeface="Arial" pitchFamily="34" charset="-120"/>
              </a:rPr>
              <a:t>TOTAL</a:t>
            </a:r>
            <a:endParaRPr lang="en-US" sz="1300" dirty="0"/>
          </a:p>
        </p:txBody>
      </p:sp>
      <p:sp>
        <p:nvSpPr>
          <p:cNvPr id="44" name="Text 42"/>
          <p:cNvSpPr/>
          <p:nvPr/>
        </p:nvSpPr>
        <p:spPr>
          <a:xfrm>
            <a:off x="2560320" y="5943600"/>
            <a:ext cx="2377440" cy="274320"/>
          </a:xfrm>
          <a:prstGeom prst="rect">
            <a:avLst/>
          </a:prstGeom>
          <a:noFill/>
          <a:ln/>
        </p:spPr>
        <p:txBody>
          <a:bodyPr wrap="square" lIns="0" tIns="0" rIns="0" bIns="0" rtlCol="0" anchor="ctr"/>
          <a:lstStyle/>
          <a:p>
            <a:pPr indent="0" marL="0">
              <a:buNone/>
            </a:pPr>
            <a:r>
              <a:rPr lang="en-US" sz="1300" b="1" dirty="0">
                <a:solidFill>
                  <a:srgbClr val="E8C040"/>
                </a:solidFill>
                <a:latin typeface="Arial" pitchFamily="34" charset="0"/>
                <a:ea typeface="Arial" pitchFamily="34" charset="-122"/>
                <a:cs typeface="Arial" pitchFamily="34" charset="-120"/>
              </a:rPr>
              <a:t>UGX 68–151M</a:t>
            </a:r>
            <a:endParaRPr lang="en-US" sz="1300" dirty="0"/>
          </a:p>
        </p:txBody>
      </p:sp>
      <p:sp>
        <p:nvSpPr>
          <p:cNvPr id="45" name="Text 43"/>
          <p:cNvSpPr/>
          <p:nvPr/>
        </p:nvSpPr>
        <p:spPr>
          <a:xfrm>
            <a:off x="5120640" y="5943600"/>
            <a:ext cx="6583680" cy="2743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Per large enterprise client/month</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A7870"/>
          </a:solidFill>
          <a:ln w="12700">
            <a:solidFill>
              <a:srgbClr val="0A7870"/>
            </a:solidFill>
            <a:prstDash val="solid"/>
          </a:ln>
        </p:spPr>
      </p:sp>
      <p:sp>
        <p:nvSpPr>
          <p:cNvPr id="3" name="Shape 1"/>
          <p:cNvSpPr/>
          <p:nvPr/>
        </p:nvSpPr>
        <p:spPr>
          <a:xfrm>
            <a:off x="0" y="0"/>
            <a:ext cx="12161520" cy="1005840"/>
          </a:xfrm>
          <a:prstGeom prst="rect">
            <a:avLst/>
          </a:prstGeom>
          <a:solidFill>
            <a:srgbClr val="0C2048"/>
          </a:solidFill>
          <a:ln w="12700">
            <a:solidFill>
              <a:srgbClr val="0C2048"/>
            </a:solidFill>
            <a:prstDash val="solid"/>
          </a:ln>
        </p:spPr>
      </p:sp>
      <p:sp>
        <p:nvSpPr>
          <p:cNvPr id="4" name="Text 2"/>
          <p:cNvSpPr/>
          <p:nvPr/>
        </p:nvSpPr>
        <p:spPr>
          <a:xfrm>
            <a:off x="347472" y="146304"/>
            <a:ext cx="4572000" cy="274320"/>
          </a:xfrm>
          <a:prstGeom prst="rect">
            <a:avLst/>
          </a:prstGeom>
          <a:noFill/>
          <a:ln/>
        </p:spPr>
        <p:txBody>
          <a:bodyPr wrap="square" lIns="0" tIns="0" rIns="0" bIns="0" rtlCol="0" anchor="ctr"/>
          <a:lstStyle/>
          <a:p>
            <a:pPr indent="0" marL="0">
              <a:buNone/>
            </a:pPr>
            <a:r>
              <a:rPr lang="en-US" sz="1000" b="1" spc="400" kern="0" dirty="0">
                <a:solidFill>
                  <a:srgbClr val="E8C040"/>
                </a:solidFill>
                <a:latin typeface="Arial" pitchFamily="34" charset="0"/>
                <a:ea typeface="Arial" pitchFamily="34" charset="-122"/>
                <a:cs typeface="Arial" pitchFamily="34" charset="-120"/>
              </a:rPr>
              <a:t>COMPETITIVE ADVANTAGE</a:t>
            </a:r>
            <a:endParaRPr lang="en-US" sz="1000" dirty="0"/>
          </a:p>
        </p:txBody>
      </p:sp>
      <p:sp>
        <p:nvSpPr>
          <p:cNvPr id="5" name="Text 3"/>
          <p:cNvSpPr/>
          <p:nvPr/>
        </p:nvSpPr>
        <p:spPr>
          <a:xfrm>
            <a:off x="347472" y="402336"/>
            <a:ext cx="11430000" cy="47548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SAP, BeatRoute, and Excel All Exist. None Are Built for Uganda.</a:t>
            </a:r>
            <a:endParaRPr lang="en-US" sz="2200" dirty="0"/>
          </a:p>
        </p:txBody>
      </p:sp>
      <p:sp>
        <p:nvSpPr>
          <p:cNvPr id="6" name="Shape 4"/>
          <p:cNvSpPr/>
          <p:nvPr/>
        </p:nvSpPr>
        <p:spPr>
          <a:xfrm>
            <a:off x="274320" y="1143000"/>
            <a:ext cx="3291840" cy="384048"/>
          </a:xfrm>
          <a:prstGeom prst="rect">
            <a:avLst/>
          </a:prstGeom>
          <a:solidFill>
            <a:srgbClr val="0C2048"/>
          </a:solidFill>
          <a:ln w="12700">
            <a:solidFill>
              <a:srgbClr val="0C2048"/>
            </a:solidFill>
            <a:prstDash val="solid"/>
          </a:ln>
        </p:spPr>
      </p:sp>
      <p:sp>
        <p:nvSpPr>
          <p:cNvPr id="7" name="Text 5"/>
          <p:cNvSpPr/>
          <p:nvPr/>
        </p:nvSpPr>
        <p:spPr>
          <a:xfrm>
            <a:off x="365760" y="1188720"/>
            <a:ext cx="310896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Arial" pitchFamily="34" charset="0"/>
                <a:ea typeface="Arial" pitchFamily="34" charset="-122"/>
                <a:cs typeface="Arial" pitchFamily="34" charset="-120"/>
              </a:rPr>
              <a:t>Capability</a:t>
            </a:r>
            <a:endParaRPr lang="en-US" sz="1100" dirty="0"/>
          </a:p>
        </p:txBody>
      </p:sp>
      <p:sp>
        <p:nvSpPr>
          <p:cNvPr id="8" name="Shape 6"/>
          <p:cNvSpPr/>
          <p:nvPr/>
        </p:nvSpPr>
        <p:spPr>
          <a:xfrm>
            <a:off x="3566160" y="1143000"/>
            <a:ext cx="2011680" cy="384048"/>
          </a:xfrm>
          <a:prstGeom prst="rect">
            <a:avLst/>
          </a:prstGeom>
          <a:solidFill>
            <a:srgbClr val="0A7870"/>
          </a:solidFill>
          <a:ln w="12700">
            <a:solidFill>
              <a:srgbClr val="0A7870"/>
            </a:solidFill>
            <a:prstDash val="solid"/>
          </a:ln>
        </p:spPr>
      </p:sp>
      <p:sp>
        <p:nvSpPr>
          <p:cNvPr id="9" name="Text 7"/>
          <p:cNvSpPr/>
          <p:nvPr/>
        </p:nvSpPr>
        <p:spPr>
          <a:xfrm>
            <a:off x="3657600" y="1188720"/>
            <a:ext cx="18288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Us</a:t>
            </a:r>
            <a:endParaRPr lang="en-US" sz="1100" dirty="0"/>
          </a:p>
        </p:txBody>
      </p:sp>
      <p:sp>
        <p:nvSpPr>
          <p:cNvPr id="10" name="Shape 8"/>
          <p:cNvSpPr/>
          <p:nvPr/>
        </p:nvSpPr>
        <p:spPr>
          <a:xfrm>
            <a:off x="5577840" y="1143000"/>
            <a:ext cx="2011680" cy="384048"/>
          </a:xfrm>
          <a:prstGeom prst="rect">
            <a:avLst/>
          </a:prstGeom>
          <a:solidFill>
            <a:srgbClr val="0C2048"/>
          </a:solidFill>
          <a:ln w="12700">
            <a:solidFill>
              <a:srgbClr val="0C2048"/>
            </a:solidFill>
            <a:prstDash val="solid"/>
          </a:ln>
        </p:spPr>
      </p:sp>
      <p:sp>
        <p:nvSpPr>
          <p:cNvPr id="11" name="Text 9"/>
          <p:cNvSpPr/>
          <p:nvPr/>
        </p:nvSpPr>
        <p:spPr>
          <a:xfrm>
            <a:off x="5669280" y="1188720"/>
            <a:ext cx="18288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SAP / Oracle</a:t>
            </a:r>
            <a:endParaRPr lang="en-US" sz="1100" dirty="0"/>
          </a:p>
        </p:txBody>
      </p:sp>
      <p:sp>
        <p:nvSpPr>
          <p:cNvPr id="12" name="Shape 10"/>
          <p:cNvSpPr/>
          <p:nvPr/>
        </p:nvSpPr>
        <p:spPr>
          <a:xfrm>
            <a:off x="7589520" y="1143000"/>
            <a:ext cx="2011680" cy="384048"/>
          </a:xfrm>
          <a:prstGeom prst="rect">
            <a:avLst/>
          </a:prstGeom>
          <a:solidFill>
            <a:srgbClr val="0C2048"/>
          </a:solidFill>
          <a:ln w="12700">
            <a:solidFill>
              <a:srgbClr val="0C2048"/>
            </a:solidFill>
            <a:prstDash val="solid"/>
          </a:ln>
        </p:spPr>
      </p:sp>
      <p:sp>
        <p:nvSpPr>
          <p:cNvPr id="13" name="Text 11"/>
          <p:cNvSpPr/>
          <p:nvPr/>
        </p:nvSpPr>
        <p:spPr>
          <a:xfrm>
            <a:off x="7680960" y="1188720"/>
            <a:ext cx="18288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BeatRoute</a:t>
            </a:r>
            <a:endParaRPr lang="en-US" sz="1100" dirty="0"/>
          </a:p>
        </p:txBody>
      </p:sp>
      <p:sp>
        <p:nvSpPr>
          <p:cNvPr id="14" name="Shape 12"/>
          <p:cNvSpPr/>
          <p:nvPr/>
        </p:nvSpPr>
        <p:spPr>
          <a:xfrm>
            <a:off x="9601200" y="1143000"/>
            <a:ext cx="2011680" cy="384048"/>
          </a:xfrm>
          <a:prstGeom prst="rect">
            <a:avLst/>
          </a:prstGeom>
          <a:solidFill>
            <a:srgbClr val="0C2048"/>
          </a:solidFill>
          <a:ln w="12700">
            <a:solidFill>
              <a:srgbClr val="0C2048"/>
            </a:solidFill>
            <a:prstDash val="solid"/>
          </a:ln>
        </p:spPr>
      </p:sp>
      <p:sp>
        <p:nvSpPr>
          <p:cNvPr id="15" name="Text 13"/>
          <p:cNvSpPr/>
          <p:nvPr/>
        </p:nvSpPr>
        <p:spPr>
          <a:xfrm>
            <a:off x="9692640" y="1188720"/>
            <a:ext cx="18288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Excel</a:t>
            </a:r>
            <a:endParaRPr lang="en-US" sz="1100" dirty="0"/>
          </a:p>
        </p:txBody>
      </p:sp>
      <p:sp>
        <p:nvSpPr>
          <p:cNvPr id="16" name="Shape 14"/>
          <p:cNvSpPr/>
          <p:nvPr/>
        </p:nvSpPr>
        <p:spPr>
          <a:xfrm>
            <a:off x="274320" y="1527048"/>
            <a:ext cx="3291840" cy="457200"/>
          </a:xfrm>
          <a:prstGeom prst="rect">
            <a:avLst/>
          </a:prstGeom>
          <a:solidFill>
            <a:srgbClr val="FFFFFF"/>
          </a:solidFill>
          <a:ln w="6350">
            <a:solidFill>
              <a:srgbClr val="E2E8F0"/>
            </a:solidFill>
            <a:prstDash val="solid"/>
          </a:ln>
        </p:spPr>
      </p:sp>
      <p:sp>
        <p:nvSpPr>
          <p:cNvPr id="17" name="Text 15"/>
          <p:cNvSpPr/>
          <p:nvPr/>
        </p:nvSpPr>
        <p:spPr>
          <a:xfrm>
            <a:off x="365760" y="1563624"/>
            <a:ext cx="3108960" cy="365760"/>
          </a:xfrm>
          <a:prstGeom prst="rect">
            <a:avLst/>
          </a:prstGeom>
          <a:noFill/>
          <a:ln/>
        </p:spPr>
        <p:txBody>
          <a:bodyPr wrap="square" lIns="0" tIns="0" rIns="0" bIns="0" rtlCol="0" anchor="ctr"/>
          <a:lstStyle/>
          <a:p>
            <a:pPr algn="l" indent="0" marL="0">
              <a:buNone/>
            </a:pPr>
            <a:r>
              <a:rPr lang="en-US" sz="1000" dirty="0">
                <a:solidFill>
                  <a:srgbClr val="1C1C18"/>
                </a:solidFill>
                <a:latin typeface="Arial" pitchFamily="34" charset="0"/>
                <a:ea typeface="Arial" pitchFamily="34" charset="-122"/>
                <a:cs typeface="Arial" pitchFamily="34" charset="-120"/>
              </a:rPr>
              <a:t>Uganda EFRIS integration</a:t>
            </a:r>
            <a:endParaRPr lang="en-US" sz="1000" dirty="0"/>
          </a:p>
        </p:txBody>
      </p:sp>
      <p:sp>
        <p:nvSpPr>
          <p:cNvPr id="18" name="Shape 16"/>
          <p:cNvSpPr/>
          <p:nvPr/>
        </p:nvSpPr>
        <p:spPr>
          <a:xfrm>
            <a:off x="3566160" y="1527048"/>
            <a:ext cx="2011680" cy="457200"/>
          </a:xfrm>
          <a:prstGeom prst="rect">
            <a:avLst/>
          </a:prstGeom>
          <a:solidFill>
            <a:srgbClr val="E8F5EE"/>
          </a:solidFill>
          <a:ln w="6350">
            <a:solidFill>
              <a:srgbClr val="80C8A0"/>
            </a:solidFill>
            <a:prstDash val="solid"/>
          </a:ln>
        </p:spPr>
      </p:sp>
      <p:sp>
        <p:nvSpPr>
          <p:cNvPr id="19" name="Text 17"/>
          <p:cNvSpPr/>
          <p:nvPr/>
        </p:nvSpPr>
        <p:spPr>
          <a:xfrm>
            <a:off x="3657600" y="1563624"/>
            <a:ext cx="1828800" cy="365760"/>
          </a:xfrm>
          <a:prstGeom prst="rect">
            <a:avLst/>
          </a:prstGeom>
          <a:noFill/>
          <a:ln/>
        </p:spPr>
        <p:txBody>
          <a:bodyPr wrap="square" lIns="0" tIns="0" rIns="0" bIns="0" rtlCol="0" anchor="ctr"/>
          <a:lstStyle/>
          <a:p>
            <a:pPr algn="ctr" indent="0" marL="0">
              <a:buNone/>
            </a:pPr>
            <a:r>
              <a:rPr lang="en-US" sz="1000" b="1" dirty="0">
                <a:solidFill>
                  <a:srgbClr val="1A7040"/>
                </a:solidFill>
                <a:latin typeface="Arial" pitchFamily="34" charset="0"/>
                <a:ea typeface="Arial" pitchFamily="34" charset="-122"/>
                <a:cs typeface="Arial" pitchFamily="34" charset="-120"/>
              </a:rPr>
              <a:t>✓ Native</a:t>
            </a:r>
            <a:endParaRPr lang="en-US" sz="1000" dirty="0"/>
          </a:p>
        </p:txBody>
      </p:sp>
      <p:sp>
        <p:nvSpPr>
          <p:cNvPr id="20" name="Shape 18"/>
          <p:cNvSpPr/>
          <p:nvPr/>
        </p:nvSpPr>
        <p:spPr>
          <a:xfrm>
            <a:off x="5577840" y="1527048"/>
            <a:ext cx="2011680" cy="457200"/>
          </a:xfrm>
          <a:prstGeom prst="rect">
            <a:avLst/>
          </a:prstGeom>
          <a:solidFill>
            <a:srgbClr val="FFFFFF"/>
          </a:solidFill>
          <a:ln w="6350">
            <a:solidFill>
              <a:srgbClr val="E2E8F0"/>
            </a:solidFill>
            <a:prstDash val="solid"/>
          </a:ln>
        </p:spPr>
      </p:sp>
      <p:sp>
        <p:nvSpPr>
          <p:cNvPr id="21" name="Text 19"/>
          <p:cNvSpPr/>
          <p:nvPr/>
        </p:nvSpPr>
        <p:spPr>
          <a:xfrm>
            <a:off x="5669280" y="1563624"/>
            <a:ext cx="1828800" cy="365760"/>
          </a:xfrm>
          <a:prstGeom prst="rect">
            <a:avLst/>
          </a:prstGeom>
          <a:noFill/>
          <a:ln/>
        </p:spPr>
        <p:txBody>
          <a:bodyPr wrap="square" lIns="0" tIns="0" rIns="0" bIns="0" rtlCol="0" anchor="ctr"/>
          <a:lstStyle/>
          <a:p>
            <a:pPr algn="ctr" indent="0" marL="0">
              <a:buNone/>
            </a:pPr>
            <a:r>
              <a:rPr lang="en-US" sz="1000" dirty="0">
                <a:solidFill>
                  <a:srgbClr val="1C1C18"/>
                </a:solidFill>
                <a:latin typeface="Arial" pitchFamily="34" charset="0"/>
                <a:ea typeface="Arial" pitchFamily="34" charset="-122"/>
                <a:cs typeface="Arial" pitchFamily="34" charset="-120"/>
              </a:rPr>
              <a:t>Requires custom build</a:t>
            </a:r>
            <a:endParaRPr lang="en-US" sz="1000" dirty="0"/>
          </a:p>
        </p:txBody>
      </p:sp>
      <p:sp>
        <p:nvSpPr>
          <p:cNvPr id="22" name="Shape 20"/>
          <p:cNvSpPr/>
          <p:nvPr/>
        </p:nvSpPr>
        <p:spPr>
          <a:xfrm>
            <a:off x="7589520" y="1527048"/>
            <a:ext cx="2011680" cy="457200"/>
          </a:xfrm>
          <a:prstGeom prst="rect">
            <a:avLst/>
          </a:prstGeom>
          <a:solidFill>
            <a:srgbClr val="FFFFFF"/>
          </a:solidFill>
          <a:ln w="6350">
            <a:solidFill>
              <a:srgbClr val="E2E8F0"/>
            </a:solidFill>
            <a:prstDash val="solid"/>
          </a:ln>
        </p:spPr>
      </p:sp>
      <p:sp>
        <p:nvSpPr>
          <p:cNvPr id="23" name="Text 21"/>
          <p:cNvSpPr/>
          <p:nvPr/>
        </p:nvSpPr>
        <p:spPr>
          <a:xfrm>
            <a:off x="7680960" y="1563624"/>
            <a:ext cx="1828800" cy="365760"/>
          </a:xfrm>
          <a:prstGeom prst="rect">
            <a:avLst/>
          </a:prstGeom>
          <a:noFill/>
          <a:ln/>
        </p:spPr>
        <p:txBody>
          <a:bodyPr wrap="square" lIns="0" tIns="0" rIns="0" bIns="0" rtlCol="0" anchor="ctr"/>
          <a:lstStyle/>
          <a:p>
            <a:pPr algn="ctr" indent="0" marL="0">
              <a:buNone/>
            </a:pPr>
            <a:r>
              <a:rPr lang="en-US" sz="1000" dirty="0">
                <a:solidFill>
                  <a:srgbClr val="C82020"/>
                </a:solidFill>
                <a:latin typeface="Arial" pitchFamily="34" charset="0"/>
                <a:ea typeface="Arial" pitchFamily="34" charset="-122"/>
                <a:cs typeface="Arial" pitchFamily="34" charset="-120"/>
              </a:rPr>
              <a:t>No</a:t>
            </a:r>
            <a:endParaRPr lang="en-US" sz="1000" dirty="0"/>
          </a:p>
        </p:txBody>
      </p:sp>
      <p:sp>
        <p:nvSpPr>
          <p:cNvPr id="24" name="Shape 22"/>
          <p:cNvSpPr/>
          <p:nvPr/>
        </p:nvSpPr>
        <p:spPr>
          <a:xfrm>
            <a:off x="9601200" y="1527048"/>
            <a:ext cx="2011680" cy="457200"/>
          </a:xfrm>
          <a:prstGeom prst="rect">
            <a:avLst/>
          </a:prstGeom>
          <a:solidFill>
            <a:srgbClr val="FFFFFF"/>
          </a:solidFill>
          <a:ln w="6350">
            <a:solidFill>
              <a:srgbClr val="E2E8F0"/>
            </a:solidFill>
            <a:prstDash val="solid"/>
          </a:ln>
        </p:spPr>
      </p:sp>
      <p:sp>
        <p:nvSpPr>
          <p:cNvPr id="25" name="Text 23"/>
          <p:cNvSpPr/>
          <p:nvPr/>
        </p:nvSpPr>
        <p:spPr>
          <a:xfrm>
            <a:off x="9692640" y="1563624"/>
            <a:ext cx="1828800" cy="365760"/>
          </a:xfrm>
          <a:prstGeom prst="rect">
            <a:avLst/>
          </a:prstGeom>
          <a:noFill/>
          <a:ln/>
        </p:spPr>
        <p:txBody>
          <a:bodyPr wrap="square" lIns="0" tIns="0" rIns="0" bIns="0" rtlCol="0" anchor="ctr"/>
          <a:lstStyle/>
          <a:p>
            <a:pPr algn="ctr" indent="0" marL="0">
              <a:buNone/>
            </a:pPr>
            <a:r>
              <a:rPr lang="en-US" sz="1000" dirty="0">
                <a:solidFill>
                  <a:srgbClr val="C82020"/>
                </a:solidFill>
                <a:latin typeface="Arial" pitchFamily="34" charset="0"/>
                <a:ea typeface="Arial" pitchFamily="34" charset="-122"/>
                <a:cs typeface="Arial" pitchFamily="34" charset="-120"/>
              </a:rPr>
              <a:t>No</a:t>
            </a:r>
            <a:endParaRPr lang="en-US" sz="1000" dirty="0"/>
          </a:p>
        </p:txBody>
      </p:sp>
      <p:sp>
        <p:nvSpPr>
          <p:cNvPr id="26" name="Shape 24"/>
          <p:cNvSpPr/>
          <p:nvPr/>
        </p:nvSpPr>
        <p:spPr>
          <a:xfrm>
            <a:off x="274320" y="2039112"/>
            <a:ext cx="3291840" cy="457200"/>
          </a:xfrm>
          <a:prstGeom prst="rect">
            <a:avLst/>
          </a:prstGeom>
          <a:solidFill>
            <a:srgbClr val="EEEEEA"/>
          </a:solidFill>
          <a:ln w="6350">
            <a:solidFill>
              <a:srgbClr val="E2E8F0"/>
            </a:solidFill>
            <a:prstDash val="solid"/>
          </a:ln>
        </p:spPr>
      </p:sp>
      <p:sp>
        <p:nvSpPr>
          <p:cNvPr id="27" name="Text 25"/>
          <p:cNvSpPr/>
          <p:nvPr/>
        </p:nvSpPr>
        <p:spPr>
          <a:xfrm>
            <a:off x="365760" y="2075688"/>
            <a:ext cx="3108960" cy="365760"/>
          </a:xfrm>
          <a:prstGeom prst="rect">
            <a:avLst/>
          </a:prstGeom>
          <a:noFill/>
          <a:ln/>
        </p:spPr>
        <p:txBody>
          <a:bodyPr wrap="square" lIns="0" tIns="0" rIns="0" bIns="0" rtlCol="0" anchor="ctr"/>
          <a:lstStyle/>
          <a:p>
            <a:pPr algn="l" indent="0" marL="0">
              <a:buNone/>
            </a:pPr>
            <a:r>
              <a:rPr lang="en-US" sz="1000" dirty="0">
                <a:solidFill>
                  <a:srgbClr val="1C1C18"/>
                </a:solidFill>
                <a:latin typeface="Arial" pitchFamily="34" charset="0"/>
                <a:ea typeface="Arial" pitchFamily="34" charset="-122"/>
                <a:cs typeface="Arial" pitchFamily="34" charset="-120"/>
              </a:rPr>
              <a:t>MTN/Airtel MoMo integration</a:t>
            </a:r>
            <a:endParaRPr lang="en-US" sz="1000" dirty="0"/>
          </a:p>
        </p:txBody>
      </p:sp>
      <p:sp>
        <p:nvSpPr>
          <p:cNvPr id="28" name="Shape 26"/>
          <p:cNvSpPr/>
          <p:nvPr/>
        </p:nvSpPr>
        <p:spPr>
          <a:xfrm>
            <a:off x="3566160" y="2039112"/>
            <a:ext cx="2011680" cy="457200"/>
          </a:xfrm>
          <a:prstGeom prst="rect">
            <a:avLst/>
          </a:prstGeom>
          <a:solidFill>
            <a:srgbClr val="E8F5EE"/>
          </a:solidFill>
          <a:ln w="6350">
            <a:solidFill>
              <a:srgbClr val="80C8A0"/>
            </a:solidFill>
            <a:prstDash val="solid"/>
          </a:ln>
        </p:spPr>
      </p:sp>
      <p:sp>
        <p:nvSpPr>
          <p:cNvPr id="29" name="Text 27"/>
          <p:cNvSpPr/>
          <p:nvPr/>
        </p:nvSpPr>
        <p:spPr>
          <a:xfrm>
            <a:off x="3657600" y="2075688"/>
            <a:ext cx="1828800" cy="365760"/>
          </a:xfrm>
          <a:prstGeom prst="rect">
            <a:avLst/>
          </a:prstGeom>
          <a:noFill/>
          <a:ln/>
        </p:spPr>
        <p:txBody>
          <a:bodyPr wrap="square" lIns="0" tIns="0" rIns="0" bIns="0" rtlCol="0" anchor="ctr"/>
          <a:lstStyle/>
          <a:p>
            <a:pPr algn="ctr" indent="0" marL="0">
              <a:buNone/>
            </a:pPr>
            <a:r>
              <a:rPr lang="en-US" sz="1000" b="1" dirty="0">
                <a:solidFill>
                  <a:srgbClr val="1A7040"/>
                </a:solidFill>
                <a:latin typeface="Arial" pitchFamily="34" charset="0"/>
                <a:ea typeface="Arial" pitchFamily="34" charset="-122"/>
                <a:cs typeface="Arial" pitchFamily="34" charset="-120"/>
              </a:rPr>
              <a:t>✓ Native</a:t>
            </a:r>
            <a:endParaRPr lang="en-US" sz="1000" dirty="0"/>
          </a:p>
        </p:txBody>
      </p:sp>
      <p:sp>
        <p:nvSpPr>
          <p:cNvPr id="30" name="Shape 28"/>
          <p:cNvSpPr/>
          <p:nvPr/>
        </p:nvSpPr>
        <p:spPr>
          <a:xfrm>
            <a:off x="5577840" y="2039112"/>
            <a:ext cx="2011680" cy="457200"/>
          </a:xfrm>
          <a:prstGeom prst="rect">
            <a:avLst/>
          </a:prstGeom>
          <a:solidFill>
            <a:srgbClr val="EEEEEA"/>
          </a:solidFill>
          <a:ln w="6350">
            <a:solidFill>
              <a:srgbClr val="E2E8F0"/>
            </a:solidFill>
            <a:prstDash val="solid"/>
          </a:ln>
        </p:spPr>
      </p:sp>
      <p:sp>
        <p:nvSpPr>
          <p:cNvPr id="31" name="Text 29"/>
          <p:cNvSpPr/>
          <p:nvPr/>
        </p:nvSpPr>
        <p:spPr>
          <a:xfrm>
            <a:off x="5669280" y="2075688"/>
            <a:ext cx="1828800" cy="365760"/>
          </a:xfrm>
          <a:prstGeom prst="rect">
            <a:avLst/>
          </a:prstGeom>
          <a:noFill/>
          <a:ln/>
        </p:spPr>
        <p:txBody>
          <a:bodyPr wrap="square" lIns="0" tIns="0" rIns="0" bIns="0" rtlCol="0" anchor="ctr"/>
          <a:lstStyle/>
          <a:p>
            <a:pPr algn="ctr" indent="0" marL="0">
              <a:buNone/>
            </a:pPr>
            <a:r>
              <a:rPr lang="en-US" sz="1000" dirty="0">
                <a:solidFill>
                  <a:srgbClr val="C82020"/>
                </a:solidFill>
                <a:latin typeface="Arial" pitchFamily="34" charset="0"/>
                <a:ea typeface="Arial" pitchFamily="34" charset="-122"/>
                <a:cs typeface="Arial" pitchFamily="34" charset="-120"/>
              </a:rPr>
              <a:t>No</a:t>
            </a:r>
            <a:endParaRPr lang="en-US" sz="1000" dirty="0"/>
          </a:p>
        </p:txBody>
      </p:sp>
      <p:sp>
        <p:nvSpPr>
          <p:cNvPr id="32" name="Shape 30"/>
          <p:cNvSpPr/>
          <p:nvPr/>
        </p:nvSpPr>
        <p:spPr>
          <a:xfrm>
            <a:off x="7589520" y="2039112"/>
            <a:ext cx="2011680" cy="457200"/>
          </a:xfrm>
          <a:prstGeom prst="rect">
            <a:avLst/>
          </a:prstGeom>
          <a:solidFill>
            <a:srgbClr val="EEEEEA"/>
          </a:solidFill>
          <a:ln w="6350">
            <a:solidFill>
              <a:srgbClr val="E2E8F0"/>
            </a:solidFill>
            <a:prstDash val="solid"/>
          </a:ln>
        </p:spPr>
      </p:sp>
      <p:sp>
        <p:nvSpPr>
          <p:cNvPr id="33" name="Text 31"/>
          <p:cNvSpPr/>
          <p:nvPr/>
        </p:nvSpPr>
        <p:spPr>
          <a:xfrm>
            <a:off x="7680960" y="2075688"/>
            <a:ext cx="1828800" cy="365760"/>
          </a:xfrm>
          <a:prstGeom prst="rect">
            <a:avLst/>
          </a:prstGeom>
          <a:noFill/>
          <a:ln/>
        </p:spPr>
        <p:txBody>
          <a:bodyPr wrap="square" lIns="0" tIns="0" rIns="0" bIns="0" rtlCol="0" anchor="ctr"/>
          <a:lstStyle/>
          <a:p>
            <a:pPr algn="ctr" indent="0" marL="0">
              <a:buNone/>
            </a:pPr>
            <a:r>
              <a:rPr lang="en-US" sz="1000" dirty="0">
                <a:solidFill>
                  <a:srgbClr val="C82020"/>
                </a:solidFill>
                <a:latin typeface="Arial" pitchFamily="34" charset="0"/>
                <a:ea typeface="Arial" pitchFamily="34" charset="-122"/>
                <a:cs typeface="Arial" pitchFamily="34" charset="-120"/>
              </a:rPr>
              <a:t>No</a:t>
            </a:r>
            <a:endParaRPr lang="en-US" sz="1000" dirty="0"/>
          </a:p>
        </p:txBody>
      </p:sp>
      <p:sp>
        <p:nvSpPr>
          <p:cNvPr id="34" name="Shape 32"/>
          <p:cNvSpPr/>
          <p:nvPr/>
        </p:nvSpPr>
        <p:spPr>
          <a:xfrm>
            <a:off x="9601200" y="2039112"/>
            <a:ext cx="2011680" cy="457200"/>
          </a:xfrm>
          <a:prstGeom prst="rect">
            <a:avLst/>
          </a:prstGeom>
          <a:solidFill>
            <a:srgbClr val="EEEEEA"/>
          </a:solidFill>
          <a:ln w="6350">
            <a:solidFill>
              <a:srgbClr val="E2E8F0"/>
            </a:solidFill>
            <a:prstDash val="solid"/>
          </a:ln>
        </p:spPr>
      </p:sp>
      <p:sp>
        <p:nvSpPr>
          <p:cNvPr id="35" name="Text 33"/>
          <p:cNvSpPr/>
          <p:nvPr/>
        </p:nvSpPr>
        <p:spPr>
          <a:xfrm>
            <a:off x="9692640" y="2075688"/>
            <a:ext cx="1828800" cy="365760"/>
          </a:xfrm>
          <a:prstGeom prst="rect">
            <a:avLst/>
          </a:prstGeom>
          <a:noFill/>
          <a:ln/>
        </p:spPr>
        <p:txBody>
          <a:bodyPr wrap="square" lIns="0" tIns="0" rIns="0" bIns="0" rtlCol="0" anchor="ctr"/>
          <a:lstStyle/>
          <a:p>
            <a:pPr algn="ctr" indent="0" marL="0">
              <a:buNone/>
            </a:pPr>
            <a:r>
              <a:rPr lang="en-US" sz="1000" dirty="0">
                <a:solidFill>
                  <a:srgbClr val="C82020"/>
                </a:solidFill>
                <a:latin typeface="Arial" pitchFamily="34" charset="0"/>
                <a:ea typeface="Arial" pitchFamily="34" charset="-122"/>
                <a:cs typeface="Arial" pitchFamily="34" charset="-120"/>
              </a:rPr>
              <a:t>No</a:t>
            </a:r>
            <a:endParaRPr lang="en-US" sz="1000" dirty="0"/>
          </a:p>
        </p:txBody>
      </p:sp>
      <p:sp>
        <p:nvSpPr>
          <p:cNvPr id="36" name="Shape 34"/>
          <p:cNvSpPr/>
          <p:nvPr/>
        </p:nvSpPr>
        <p:spPr>
          <a:xfrm>
            <a:off x="274320" y="2551176"/>
            <a:ext cx="3291840" cy="457200"/>
          </a:xfrm>
          <a:prstGeom prst="rect">
            <a:avLst/>
          </a:prstGeom>
          <a:solidFill>
            <a:srgbClr val="FFFFFF"/>
          </a:solidFill>
          <a:ln w="6350">
            <a:solidFill>
              <a:srgbClr val="E2E8F0"/>
            </a:solidFill>
            <a:prstDash val="solid"/>
          </a:ln>
        </p:spPr>
      </p:sp>
      <p:sp>
        <p:nvSpPr>
          <p:cNvPr id="37" name="Text 35"/>
          <p:cNvSpPr/>
          <p:nvPr/>
        </p:nvSpPr>
        <p:spPr>
          <a:xfrm>
            <a:off x="365760" y="2587752"/>
            <a:ext cx="3108960" cy="365760"/>
          </a:xfrm>
          <a:prstGeom prst="rect">
            <a:avLst/>
          </a:prstGeom>
          <a:noFill/>
          <a:ln/>
        </p:spPr>
        <p:txBody>
          <a:bodyPr wrap="square" lIns="0" tIns="0" rIns="0" bIns="0" rtlCol="0" anchor="ctr"/>
          <a:lstStyle/>
          <a:p>
            <a:pPr algn="l" indent="0" marL="0">
              <a:buNone/>
            </a:pPr>
            <a:r>
              <a:rPr lang="en-US" sz="1000" dirty="0">
                <a:solidFill>
                  <a:srgbClr val="1C1C18"/>
                </a:solidFill>
                <a:latin typeface="Arial" pitchFamily="34" charset="0"/>
                <a:ea typeface="Arial" pitchFamily="34" charset="-122"/>
                <a:cs typeface="Arial" pitchFamily="34" charset="-120"/>
              </a:rPr>
              <a:t>USSD for informal retail</a:t>
            </a:r>
            <a:endParaRPr lang="en-US" sz="1000" dirty="0"/>
          </a:p>
        </p:txBody>
      </p:sp>
      <p:sp>
        <p:nvSpPr>
          <p:cNvPr id="38" name="Shape 36"/>
          <p:cNvSpPr/>
          <p:nvPr/>
        </p:nvSpPr>
        <p:spPr>
          <a:xfrm>
            <a:off x="3566160" y="2551176"/>
            <a:ext cx="2011680" cy="457200"/>
          </a:xfrm>
          <a:prstGeom prst="rect">
            <a:avLst/>
          </a:prstGeom>
          <a:solidFill>
            <a:srgbClr val="E8F5EE"/>
          </a:solidFill>
          <a:ln w="6350">
            <a:solidFill>
              <a:srgbClr val="80C8A0"/>
            </a:solidFill>
            <a:prstDash val="solid"/>
          </a:ln>
        </p:spPr>
      </p:sp>
      <p:sp>
        <p:nvSpPr>
          <p:cNvPr id="39" name="Text 37"/>
          <p:cNvSpPr/>
          <p:nvPr/>
        </p:nvSpPr>
        <p:spPr>
          <a:xfrm>
            <a:off x="3657600" y="2587752"/>
            <a:ext cx="1828800" cy="365760"/>
          </a:xfrm>
          <a:prstGeom prst="rect">
            <a:avLst/>
          </a:prstGeom>
          <a:noFill/>
          <a:ln/>
        </p:spPr>
        <p:txBody>
          <a:bodyPr wrap="square" lIns="0" tIns="0" rIns="0" bIns="0" rtlCol="0" anchor="ctr"/>
          <a:lstStyle/>
          <a:p>
            <a:pPr algn="ctr" indent="0" marL="0">
              <a:buNone/>
            </a:pPr>
            <a:r>
              <a:rPr lang="en-US" sz="1000" b="1" dirty="0">
                <a:solidFill>
                  <a:srgbClr val="1A7040"/>
                </a:solidFill>
                <a:latin typeface="Arial" pitchFamily="34" charset="0"/>
                <a:ea typeface="Arial" pitchFamily="34" charset="-122"/>
                <a:cs typeface="Arial" pitchFamily="34" charset="-120"/>
              </a:rPr>
              <a:t>✓ Built</a:t>
            </a:r>
            <a:endParaRPr lang="en-US" sz="1000" dirty="0"/>
          </a:p>
        </p:txBody>
      </p:sp>
      <p:sp>
        <p:nvSpPr>
          <p:cNvPr id="40" name="Shape 38"/>
          <p:cNvSpPr/>
          <p:nvPr/>
        </p:nvSpPr>
        <p:spPr>
          <a:xfrm>
            <a:off x="5577840" y="2551176"/>
            <a:ext cx="2011680" cy="457200"/>
          </a:xfrm>
          <a:prstGeom prst="rect">
            <a:avLst/>
          </a:prstGeom>
          <a:solidFill>
            <a:srgbClr val="FFFFFF"/>
          </a:solidFill>
          <a:ln w="6350">
            <a:solidFill>
              <a:srgbClr val="E2E8F0"/>
            </a:solidFill>
            <a:prstDash val="solid"/>
          </a:ln>
        </p:spPr>
      </p:sp>
      <p:sp>
        <p:nvSpPr>
          <p:cNvPr id="41" name="Text 39"/>
          <p:cNvSpPr/>
          <p:nvPr/>
        </p:nvSpPr>
        <p:spPr>
          <a:xfrm>
            <a:off x="5669280" y="2587752"/>
            <a:ext cx="1828800" cy="365760"/>
          </a:xfrm>
          <a:prstGeom prst="rect">
            <a:avLst/>
          </a:prstGeom>
          <a:noFill/>
          <a:ln/>
        </p:spPr>
        <p:txBody>
          <a:bodyPr wrap="square" lIns="0" tIns="0" rIns="0" bIns="0" rtlCol="0" anchor="ctr"/>
          <a:lstStyle/>
          <a:p>
            <a:pPr algn="ctr" indent="0" marL="0">
              <a:buNone/>
            </a:pPr>
            <a:r>
              <a:rPr lang="en-US" sz="1000" dirty="0">
                <a:solidFill>
                  <a:srgbClr val="C82020"/>
                </a:solidFill>
                <a:latin typeface="Arial" pitchFamily="34" charset="0"/>
                <a:ea typeface="Arial" pitchFamily="34" charset="-122"/>
                <a:cs typeface="Arial" pitchFamily="34" charset="-120"/>
              </a:rPr>
              <a:t>No</a:t>
            </a:r>
            <a:endParaRPr lang="en-US" sz="1000" dirty="0"/>
          </a:p>
        </p:txBody>
      </p:sp>
      <p:sp>
        <p:nvSpPr>
          <p:cNvPr id="42" name="Shape 40"/>
          <p:cNvSpPr/>
          <p:nvPr/>
        </p:nvSpPr>
        <p:spPr>
          <a:xfrm>
            <a:off x="7589520" y="2551176"/>
            <a:ext cx="2011680" cy="457200"/>
          </a:xfrm>
          <a:prstGeom prst="rect">
            <a:avLst/>
          </a:prstGeom>
          <a:solidFill>
            <a:srgbClr val="FFFFFF"/>
          </a:solidFill>
          <a:ln w="6350">
            <a:solidFill>
              <a:srgbClr val="E2E8F0"/>
            </a:solidFill>
            <a:prstDash val="solid"/>
          </a:ln>
        </p:spPr>
      </p:sp>
      <p:sp>
        <p:nvSpPr>
          <p:cNvPr id="43" name="Text 41"/>
          <p:cNvSpPr/>
          <p:nvPr/>
        </p:nvSpPr>
        <p:spPr>
          <a:xfrm>
            <a:off x="7680960" y="2587752"/>
            <a:ext cx="1828800" cy="365760"/>
          </a:xfrm>
          <a:prstGeom prst="rect">
            <a:avLst/>
          </a:prstGeom>
          <a:noFill/>
          <a:ln/>
        </p:spPr>
        <p:txBody>
          <a:bodyPr wrap="square" lIns="0" tIns="0" rIns="0" bIns="0" rtlCol="0" anchor="ctr"/>
          <a:lstStyle/>
          <a:p>
            <a:pPr algn="ctr" indent="0" marL="0">
              <a:buNone/>
            </a:pPr>
            <a:r>
              <a:rPr lang="en-US" sz="1000" dirty="0">
                <a:solidFill>
                  <a:srgbClr val="C82020"/>
                </a:solidFill>
                <a:latin typeface="Arial" pitchFamily="34" charset="0"/>
                <a:ea typeface="Arial" pitchFamily="34" charset="-122"/>
                <a:cs typeface="Arial" pitchFamily="34" charset="-120"/>
              </a:rPr>
              <a:t>No</a:t>
            </a:r>
            <a:endParaRPr lang="en-US" sz="1000" dirty="0"/>
          </a:p>
        </p:txBody>
      </p:sp>
      <p:sp>
        <p:nvSpPr>
          <p:cNvPr id="44" name="Shape 42"/>
          <p:cNvSpPr/>
          <p:nvPr/>
        </p:nvSpPr>
        <p:spPr>
          <a:xfrm>
            <a:off x="9601200" y="2551176"/>
            <a:ext cx="2011680" cy="457200"/>
          </a:xfrm>
          <a:prstGeom prst="rect">
            <a:avLst/>
          </a:prstGeom>
          <a:solidFill>
            <a:srgbClr val="FFFFFF"/>
          </a:solidFill>
          <a:ln w="6350">
            <a:solidFill>
              <a:srgbClr val="E2E8F0"/>
            </a:solidFill>
            <a:prstDash val="solid"/>
          </a:ln>
        </p:spPr>
      </p:sp>
      <p:sp>
        <p:nvSpPr>
          <p:cNvPr id="45" name="Text 43"/>
          <p:cNvSpPr/>
          <p:nvPr/>
        </p:nvSpPr>
        <p:spPr>
          <a:xfrm>
            <a:off x="9692640" y="2587752"/>
            <a:ext cx="1828800" cy="365760"/>
          </a:xfrm>
          <a:prstGeom prst="rect">
            <a:avLst/>
          </a:prstGeom>
          <a:noFill/>
          <a:ln/>
        </p:spPr>
        <p:txBody>
          <a:bodyPr wrap="square" lIns="0" tIns="0" rIns="0" bIns="0" rtlCol="0" anchor="ctr"/>
          <a:lstStyle/>
          <a:p>
            <a:pPr algn="ctr" indent="0" marL="0">
              <a:buNone/>
            </a:pPr>
            <a:r>
              <a:rPr lang="en-US" sz="1000" dirty="0">
                <a:solidFill>
                  <a:srgbClr val="C82020"/>
                </a:solidFill>
                <a:latin typeface="Arial" pitchFamily="34" charset="0"/>
                <a:ea typeface="Arial" pitchFamily="34" charset="-122"/>
                <a:cs typeface="Arial" pitchFamily="34" charset="-120"/>
              </a:rPr>
              <a:t>No</a:t>
            </a:r>
            <a:endParaRPr lang="en-US" sz="1000" dirty="0"/>
          </a:p>
        </p:txBody>
      </p:sp>
      <p:sp>
        <p:nvSpPr>
          <p:cNvPr id="46" name="Shape 44"/>
          <p:cNvSpPr/>
          <p:nvPr/>
        </p:nvSpPr>
        <p:spPr>
          <a:xfrm>
            <a:off x="274320" y="3063240"/>
            <a:ext cx="3291840" cy="457200"/>
          </a:xfrm>
          <a:prstGeom prst="rect">
            <a:avLst/>
          </a:prstGeom>
          <a:solidFill>
            <a:srgbClr val="EEEEEA"/>
          </a:solidFill>
          <a:ln w="6350">
            <a:solidFill>
              <a:srgbClr val="E2E8F0"/>
            </a:solidFill>
            <a:prstDash val="solid"/>
          </a:ln>
        </p:spPr>
      </p:sp>
      <p:sp>
        <p:nvSpPr>
          <p:cNvPr id="47" name="Text 45"/>
          <p:cNvSpPr/>
          <p:nvPr/>
        </p:nvSpPr>
        <p:spPr>
          <a:xfrm>
            <a:off x="365760" y="3099816"/>
            <a:ext cx="3108960" cy="365760"/>
          </a:xfrm>
          <a:prstGeom prst="rect">
            <a:avLst/>
          </a:prstGeom>
          <a:noFill/>
          <a:ln/>
        </p:spPr>
        <p:txBody>
          <a:bodyPr wrap="square" lIns="0" tIns="0" rIns="0" bIns="0" rtlCol="0" anchor="ctr"/>
          <a:lstStyle/>
          <a:p>
            <a:pPr algn="l" indent="0" marL="0">
              <a:buNone/>
            </a:pPr>
            <a:r>
              <a:rPr lang="en-US" sz="1000" dirty="0">
                <a:solidFill>
                  <a:srgbClr val="1C1C18"/>
                </a:solidFill>
                <a:latin typeface="Arial" pitchFamily="34" charset="0"/>
                <a:ea typeface="Arial" pitchFamily="34" charset="-122"/>
                <a:cs typeface="Arial" pitchFamily="34" charset="-120"/>
              </a:rPr>
              <a:t>Boda boda delivery tracking</a:t>
            </a:r>
            <a:endParaRPr lang="en-US" sz="1000" dirty="0"/>
          </a:p>
        </p:txBody>
      </p:sp>
      <p:sp>
        <p:nvSpPr>
          <p:cNvPr id="48" name="Shape 46"/>
          <p:cNvSpPr/>
          <p:nvPr/>
        </p:nvSpPr>
        <p:spPr>
          <a:xfrm>
            <a:off x="3566160" y="3063240"/>
            <a:ext cx="2011680" cy="457200"/>
          </a:xfrm>
          <a:prstGeom prst="rect">
            <a:avLst/>
          </a:prstGeom>
          <a:solidFill>
            <a:srgbClr val="E8F5EE"/>
          </a:solidFill>
          <a:ln w="6350">
            <a:solidFill>
              <a:srgbClr val="80C8A0"/>
            </a:solidFill>
            <a:prstDash val="solid"/>
          </a:ln>
        </p:spPr>
      </p:sp>
      <p:sp>
        <p:nvSpPr>
          <p:cNvPr id="49" name="Text 47"/>
          <p:cNvSpPr/>
          <p:nvPr/>
        </p:nvSpPr>
        <p:spPr>
          <a:xfrm>
            <a:off x="3657600" y="3099816"/>
            <a:ext cx="1828800" cy="365760"/>
          </a:xfrm>
          <a:prstGeom prst="rect">
            <a:avLst/>
          </a:prstGeom>
          <a:noFill/>
          <a:ln/>
        </p:spPr>
        <p:txBody>
          <a:bodyPr wrap="square" lIns="0" tIns="0" rIns="0" bIns="0" rtlCol="0" anchor="ctr"/>
          <a:lstStyle/>
          <a:p>
            <a:pPr algn="ctr" indent="0" marL="0">
              <a:buNone/>
            </a:pPr>
            <a:r>
              <a:rPr lang="en-US" sz="1000" b="1" dirty="0">
                <a:solidFill>
                  <a:srgbClr val="1A7040"/>
                </a:solidFill>
                <a:latin typeface="Arial" pitchFamily="34" charset="0"/>
                <a:ea typeface="Arial" pitchFamily="34" charset="-122"/>
                <a:cs typeface="Arial" pitchFamily="34" charset="-120"/>
              </a:rPr>
              <a:t>✓ Built</a:t>
            </a:r>
            <a:endParaRPr lang="en-US" sz="1000" dirty="0"/>
          </a:p>
        </p:txBody>
      </p:sp>
      <p:sp>
        <p:nvSpPr>
          <p:cNvPr id="50" name="Shape 48"/>
          <p:cNvSpPr/>
          <p:nvPr/>
        </p:nvSpPr>
        <p:spPr>
          <a:xfrm>
            <a:off x="5577840" y="3063240"/>
            <a:ext cx="2011680" cy="457200"/>
          </a:xfrm>
          <a:prstGeom prst="rect">
            <a:avLst/>
          </a:prstGeom>
          <a:solidFill>
            <a:srgbClr val="EEEEEA"/>
          </a:solidFill>
          <a:ln w="6350">
            <a:solidFill>
              <a:srgbClr val="E2E8F0"/>
            </a:solidFill>
            <a:prstDash val="solid"/>
          </a:ln>
        </p:spPr>
      </p:sp>
      <p:sp>
        <p:nvSpPr>
          <p:cNvPr id="51" name="Text 49"/>
          <p:cNvSpPr/>
          <p:nvPr/>
        </p:nvSpPr>
        <p:spPr>
          <a:xfrm>
            <a:off x="5669280" y="3099816"/>
            <a:ext cx="1828800" cy="365760"/>
          </a:xfrm>
          <a:prstGeom prst="rect">
            <a:avLst/>
          </a:prstGeom>
          <a:noFill/>
          <a:ln/>
        </p:spPr>
        <p:txBody>
          <a:bodyPr wrap="square" lIns="0" tIns="0" rIns="0" bIns="0" rtlCol="0" anchor="ctr"/>
          <a:lstStyle/>
          <a:p>
            <a:pPr algn="ctr" indent="0" marL="0">
              <a:buNone/>
            </a:pPr>
            <a:r>
              <a:rPr lang="en-US" sz="1000" dirty="0">
                <a:solidFill>
                  <a:srgbClr val="C82020"/>
                </a:solidFill>
                <a:latin typeface="Arial" pitchFamily="34" charset="0"/>
                <a:ea typeface="Arial" pitchFamily="34" charset="-122"/>
                <a:cs typeface="Arial" pitchFamily="34" charset="-120"/>
              </a:rPr>
              <a:t>No</a:t>
            </a:r>
            <a:endParaRPr lang="en-US" sz="1000" dirty="0"/>
          </a:p>
        </p:txBody>
      </p:sp>
      <p:sp>
        <p:nvSpPr>
          <p:cNvPr id="52" name="Shape 50"/>
          <p:cNvSpPr/>
          <p:nvPr/>
        </p:nvSpPr>
        <p:spPr>
          <a:xfrm>
            <a:off x="7589520" y="3063240"/>
            <a:ext cx="2011680" cy="457200"/>
          </a:xfrm>
          <a:prstGeom prst="rect">
            <a:avLst/>
          </a:prstGeom>
          <a:solidFill>
            <a:srgbClr val="EEEEEA"/>
          </a:solidFill>
          <a:ln w="6350">
            <a:solidFill>
              <a:srgbClr val="E2E8F0"/>
            </a:solidFill>
            <a:prstDash val="solid"/>
          </a:ln>
        </p:spPr>
      </p:sp>
      <p:sp>
        <p:nvSpPr>
          <p:cNvPr id="53" name="Text 51"/>
          <p:cNvSpPr/>
          <p:nvPr/>
        </p:nvSpPr>
        <p:spPr>
          <a:xfrm>
            <a:off x="7680960" y="3099816"/>
            <a:ext cx="1828800" cy="365760"/>
          </a:xfrm>
          <a:prstGeom prst="rect">
            <a:avLst/>
          </a:prstGeom>
          <a:noFill/>
          <a:ln/>
        </p:spPr>
        <p:txBody>
          <a:bodyPr wrap="square" lIns="0" tIns="0" rIns="0" bIns="0" rtlCol="0" anchor="ctr"/>
          <a:lstStyle/>
          <a:p>
            <a:pPr algn="ctr" indent="0" marL="0">
              <a:buNone/>
            </a:pPr>
            <a:r>
              <a:rPr lang="en-US" sz="1000" dirty="0">
                <a:solidFill>
                  <a:srgbClr val="C82020"/>
                </a:solidFill>
                <a:latin typeface="Arial" pitchFamily="34" charset="0"/>
                <a:ea typeface="Arial" pitchFamily="34" charset="-122"/>
                <a:cs typeface="Arial" pitchFamily="34" charset="-120"/>
              </a:rPr>
              <a:t>No</a:t>
            </a:r>
            <a:endParaRPr lang="en-US" sz="1000" dirty="0"/>
          </a:p>
        </p:txBody>
      </p:sp>
      <p:sp>
        <p:nvSpPr>
          <p:cNvPr id="54" name="Shape 52"/>
          <p:cNvSpPr/>
          <p:nvPr/>
        </p:nvSpPr>
        <p:spPr>
          <a:xfrm>
            <a:off x="9601200" y="3063240"/>
            <a:ext cx="2011680" cy="457200"/>
          </a:xfrm>
          <a:prstGeom prst="rect">
            <a:avLst/>
          </a:prstGeom>
          <a:solidFill>
            <a:srgbClr val="EEEEEA"/>
          </a:solidFill>
          <a:ln w="6350">
            <a:solidFill>
              <a:srgbClr val="E2E8F0"/>
            </a:solidFill>
            <a:prstDash val="solid"/>
          </a:ln>
        </p:spPr>
      </p:sp>
      <p:sp>
        <p:nvSpPr>
          <p:cNvPr id="55" name="Text 53"/>
          <p:cNvSpPr/>
          <p:nvPr/>
        </p:nvSpPr>
        <p:spPr>
          <a:xfrm>
            <a:off x="9692640" y="3099816"/>
            <a:ext cx="1828800" cy="365760"/>
          </a:xfrm>
          <a:prstGeom prst="rect">
            <a:avLst/>
          </a:prstGeom>
          <a:noFill/>
          <a:ln/>
        </p:spPr>
        <p:txBody>
          <a:bodyPr wrap="square" lIns="0" tIns="0" rIns="0" bIns="0" rtlCol="0" anchor="ctr"/>
          <a:lstStyle/>
          <a:p>
            <a:pPr algn="ctr" indent="0" marL="0">
              <a:buNone/>
            </a:pPr>
            <a:r>
              <a:rPr lang="en-US" sz="1000" dirty="0">
                <a:solidFill>
                  <a:srgbClr val="C82020"/>
                </a:solidFill>
                <a:latin typeface="Arial" pitchFamily="34" charset="0"/>
                <a:ea typeface="Arial" pitchFamily="34" charset="-122"/>
                <a:cs typeface="Arial" pitchFamily="34" charset="-120"/>
              </a:rPr>
              <a:t>No</a:t>
            </a:r>
            <a:endParaRPr lang="en-US" sz="1000" dirty="0"/>
          </a:p>
        </p:txBody>
      </p:sp>
      <p:sp>
        <p:nvSpPr>
          <p:cNvPr id="56" name="Shape 54"/>
          <p:cNvSpPr/>
          <p:nvPr/>
        </p:nvSpPr>
        <p:spPr>
          <a:xfrm>
            <a:off x="274320" y="3575304"/>
            <a:ext cx="3291840" cy="457200"/>
          </a:xfrm>
          <a:prstGeom prst="rect">
            <a:avLst/>
          </a:prstGeom>
          <a:solidFill>
            <a:srgbClr val="FFFFFF"/>
          </a:solidFill>
          <a:ln w="6350">
            <a:solidFill>
              <a:srgbClr val="E2E8F0"/>
            </a:solidFill>
            <a:prstDash val="solid"/>
          </a:ln>
        </p:spPr>
      </p:sp>
      <p:sp>
        <p:nvSpPr>
          <p:cNvPr id="57" name="Text 55"/>
          <p:cNvSpPr/>
          <p:nvPr/>
        </p:nvSpPr>
        <p:spPr>
          <a:xfrm>
            <a:off x="365760" y="3611880"/>
            <a:ext cx="3108960" cy="365760"/>
          </a:xfrm>
          <a:prstGeom prst="rect">
            <a:avLst/>
          </a:prstGeom>
          <a:noFill/>
          <a:ln/>
        </p:spPr>
        <p:txBody>
          <a:bodyPr wrap="square" lIns="0" tIns="0" rIns="0" bIns="0" rtlCol="0" anchor="ctr"/>
          <a:lstStyle/>
          <a:p>
            <a:pPr algn="l" indent="0" marL="0">
              <a:buNone/>
            </a:pPr>
            <a:r>
              <a:rPr lang="en-US" sz="1000" dirty="0">
                <a:solidFill>
                  <a:srgbClr val="1C1C18"/>
                </a:solidFill>
                <a:latin typeface="Arial" pitchFamily="34" charset="0"/>
                <a:ea typeface="Arial" pitchFamily="34" charset="-122"/>
                <a:cs typeface="Arial" pitchFamily="34" charset="-120"/>
              </a:rPr>
              <a:t>QR product authentication</a:t>
            </a:r>
            <a:endParaRPr lang="en-US" sz="1000" dirty="0"/>
          </a:p>
        </p:txBody>
      </p:sp>
      <p:sp>
        <p:nvSpPr>
          <p:cNvPr id="58" name="Shape 56"/>
          <p:cNvSpPr/>
          <p:nvPr/>
        </p:nvSpPr>
        <p:spPr>
          <a:xfrm>
            <a:off x="3566160" y="3575304"/>
            <a:ext cx="2011680" cy="457200"/>
          </a:xfrm>
          <a:prstGeom prst="rect">
            <a:avLst/>
          </a:prstGeom>
          <a:solidFill>
            <a:srgbClr val="E8F5EE"/>
          </a:solidFill>
          <a:ln w="6350">
            <a:solidFill>
              <a:srgbClr val="80C8A0"/>
            </a:solidFill>
            <a:prstDash val="solid"/>
          </a:ln>
        </p:spPr>
      </p:sp>
      <p:sp>
        <p:nvSpPr>
          <p:cNvPr id="59" name="Text 57"/>
          <p:cNvSpPr/>
          <p:nvPr/>
        </p:nvSpPr>
        <p:spPr>
          <a:xfrm>
            <a:off x="3657600" y="3611880"/>
            <a:ext cx="1828800" cy="365760"/>
          </a:xfrm>
          <a:prstGeom prst="rect">
            <a:avLst/>
          </a:prstGeom>
          <a:noFill/>
          <a:ln/>
        </p:spPr>
        <p:txBody>
          <a:bodyPr wrap="square" lIns="0" tIns="0" rIns="0" bIns="0" rtlCol="0" anchor="ctr"/>
          <a:lstStyle/>
          <a:p>
            <a:pPr algn="ctr" indent="0" marL="0">
              <a:buNone/>
            </a:pPr>
            <a:r>
              <a:rPr lang="en-US" sz="1000" b="1" dirty="0">
                <a:solidFill>
                  <a:srgbClr val="1A7040"/>
                </a:solidFill>
                <a:latin typeface="Arial" pitchFamily="34" charset="0"/>
                <a:ea typeface="Arial" pitchFamily="34" charset="-122"/>
                <a:cs typeface="Arial" pitchFamily="34" charset="-120"/>
              </a:rPr>
              <a:t>✓ Built</a:t>
            </a:r>
            <a:endParaRPr lang="en-US" sz="1000" dirty="0"/>
          </a:p>
        </p:txBody>
      </p:sp>
      <p:sp>
        <p:nvSpPr>
          <p:cNvPr id="60" name="Shape 58"/>
          <p:cNvSpPr/>
          <p:nvPr/>
        </p:nvSpPr>
        <p:spPr>
          <a:xfrm>
            <a:off x="5577840" y="3575304"/>
            <a:ext cx="2011680" cy="457200"/>
          </a:xfrm>
          <a:prstGeom prst="rect">
            <a:avLst/>
          </a:prstGeom>
          <a:solidFill>
            <a:srgbClr val="FFFFFF"/>
          </a:solidFill>
          <a:ln w="6350">
            <a:solidFill>
              <a:srgbClr val="E2E8F0"/>
            </a:solidFill>
            <a:prstDash val="solid"/>
          </a:ln>
        </p:spPr>
      </p:sp>
      <p:sp>
        <p:nvSpPr>
          <p:cNvPr id="61" name="Text 59"/>
          <p:cNvSpPr/>
          <p:nvPr/>
        </p:nvSpPr>
        <p:spPr>
          <a:xfrm>
            <a:off x="5669280" y="3611880"/>
            <a:ext cx="1828800" cy="365760"/>
          </a:xfrm>
          <a:prstGeom prst="rect">
            <a:avLst/>
          </a:prstGeom>
          <a:noFill/>
          <a:ln/>
        </p:spPr>
        <p:txBody>
          <a:bodyPr wrap="square" lIns="0" tIns="0" rIns="0" bIns="0" rtlCol="0" anchor="ctr"/>
          <a:lstStyle/>
          <a:p>
            <a:pPr algn="ctr" indent="0" marL="0">
              <a:buNone/>
            </a:pPr>
            <a:r>
              <a:rPr lang="en-US" sz="1000" dirty="0">
                <a:solidFill>
                  <a:srgbClr val="1C1C18"/>
                </a:solidFill>
                <a:latin typeface="Arial" pitchFamily="34" charset="0"/>
                <a:ea typeface="Arial" pitchFamily="34" charset="-122"/>
                <a:cs typeface="Arial" pitchFamily="34" charset="-120"/>
              </a:rPr>
              <a:t>Add-on only</a:t>
            </a:r>
            <a:endParaRPr lang="en-US" sz="1000" dirty="0"/>
          </a:p>
        </p:txBody>
      </p:sp>
      <p:sp>
        <p:nvSpPr>
          <p:cNvPr id="62" name="Shape 60"/>
          <p:cNvSpPr/>
          <p:nvPr/>
        </p:nvSpPr>
        <p:spPr>
          <a:xfrm>
            <a:off x="7589520" y="3575304"/>
            <a:ext cx="2011680" cy="457200"/>
          </a:xfrm>
          <a:prstGeom prst="rect">
            <a:avLst/>
          </a:prstGeom>
          <a:solidFill>
            <a:srgbClr val="FFFFFF"/>
          </a:solidFill>
          <a:ln w="6350">
            <a:solidFill>
              <a:srgbClr val="E2E8F0"/>
            </a:solidFill>
            <a:prstDash val="solid"/>
          </a:ln>
        </p:spPr>
      </p:sp>
      <p:sp>
        <p:nvSpPr>
          <p:cNvPr id="63" name="Text 61"/>
          <p:cNvSpPr/>
          <p:nvPr/>
        </p:nvSpPr>
        <p:spPr>
          <a:xfrm>
            <a:off x="7680960" y="3611880"/>
            <a:ext cx="1828800" cy="365760"/>
          </a:xfrm>
          <a:prstGeom prst="rect">
            <a:avLst/>
          </a:prstGeom>
          <a:noFill/>
          <a:ln/>
        </p:spPr>
        <p:txBody>
          <a:bodyPr wrap="square" lIns="0" tIns="0" rIns="0" bIns="0" rtlCol="0" anchor="ctr"/>
          <a:lstStyle/>
          <a:p>
            <a:pPr algn="ctr" indent="0" marL="0">
              <a:buNone/>
            </a:pPr>
            <a:r>
              <a:rPr lang="en-US" sz="1000" dirty="0">
                <a:solidFill>
                  <a:srgbClr val="C82020"/>
                </a:solidFill>
                <a:latin typeface="Arial" pitchFamily="34" charset="0"/>
                <a:ea typeface="Arial" pitchFamily="34" charset="-122"/>
                <a:cs typeface="Arial" pitchFamily="34" charset="-120"/>
              </a:rPr>
              <a:t>No</a:t>
            </a:r>
            <a:endParaRPr lang="en-US" sz="1000" dirty="0"/>
          </a:p>
        </p:txBody>
      </p:sp>
      <p:sp>
        <p:nvSpPr>
          <p:cNvPr id="64" name="Shape 62"/>
          <p:cNvSpPr/>
          <p:nvPr/>
        </p:nvSpPr>
        <p:spPr>
          <a:xfrm>
            <a:off x="9601200" y="3575304"/>
            <a:ext cx="2011680" cy="457200"/>
          </a:xfrm>
          <a:prstGeom prst="rect">
            <a:avLst/>
          </a:prstGeom>
          <a:solidFill>
            <a:srgbClr val="FFFFFF"/>
          </a:solidFill>
          <a:ln w="6350">
            <a:solidFill>
              <a:srgbClr val="E2E8F0"/>
            </a:solidFill>
            <a:prstDash val="solid"/>
          </a:ln>
        </p:spPr>
      </p:sp>
      <p:sp>
        <p:nvSpPr>
          <p:cNvPr id="65" name="Text 63"/>
          <p:cNvSpPr/>
          <p:nvPr/>
        </p:nvSpPr>
        <p:spPr>
          <a:xfrm>
            <a:off x="9692640" y="3611880"/>
            <a:ext cx="1828800" cy="365760"/>
          </a:xfrm>
          <a:prstGeom prst="rect">
            <a:avLst/>
          </a:prstGeom>
          <a:noFill/>
          <a:ln/>
        </p:spPr>
        <p:txBody>
          <a:bodyPr wrap="square" lIns="0" tIns="0" rIns="0" bIns="0" rtlCol="0" anchor="ctr"/>
          <a:lstStyle/>
          <a:p>
            <a:pPr algn="ctr" indent="0" marL="0">
              <a:buNone/>
            </a:pPr>
            <a:r>
              <a:rPr lang="en-US" sz="1000" dirty="0">
                <a:solidFill>
                  <a:srgbClr val="C82020"/>
                </a:solidFill>
                <a:latin typeface="Arial" pitchFamily="34" charset="0"/>
                <a:ea typeface="Arial" pitchFamily="34" charset="-122"/>
                <a:cs typeface="Arial" pitchFamily="34" charset="-120"/>
              </a:rPr>
              <a:t>No</a:t>
            </a:r>
            <a:endParaRPr lang="en-US" sz="1000" dirty="0"/>
          </a:p>
        </p:txBody>
      </p:sp>
      <p:sp>
        <p:nvSpPr>
          <p:cNvPr id="66" name="Shape 64"/>
          <p:cNvSpPr/>
          <p:nvPr/>
        </p:nvSpPr>
        <p:spPr>
          <a:xfrm>
            <a:off x="274320" y="4087368"/>
            <a:ext cx="3291840" cy="457200"/>
          </a:xfrm>
          <a:prstGeom prst="rect">
            <a:avLst/>
          </a:prstGeom>
          <a:solidFill>
            <a:srgbClr val="EEEEEA"/>
          </a:solidFill>
          <a:ln w="6350">
            <a:solidFill>
              <a:srgbClr val="E2E8F0"/>
            </a:solidFill>
            <a:prstDash val="solid"/>
          </a:ln>
        </p:spPr>
      </p:sp>
      <p:sp>
        <p:nvSpPr>
          <p:cNvPr id="67" name="Text 65"/>
          <p:cNvSpPr/>
          <p:nvPr/>
        </p:nvSpPr>
        <p:spPr>
          <a:xfrm>
            <a:off x="365760" y="4123944"/>
            <a:ext cx="3108960" cy="365760"/>
          </a:xfrm>
          <a:prstGeom prst="rect">
            <a:avLst/>
          </a:prstGeom>
          <a:noFill/>
          <a:ln/>
        </p:spPr>
        <p:txBody>
          <a:bodyPr wrap="square" lIns="0" tIns="0" rIns="0" bIns="0" rtlCol="0" anchor="ctr"/>
          <a:lstStyle/>
          <a:p>
            <a:pPr algn="l" indent="0" marL="0">
              <a:buNone/>
            </a:pPr>
            <a:r>
              <a:rPr lang="en-US" sz="1000" dirty="0">
                <a:solidFill>
                  <a:srgbClr val="1C1C18"/>
                </a:solidFill>
                <a:latin typeface="Arial" pitchFamily="34" charset="0"/>
                <a:ea typeface="Arial" pitchFamily="34" charset="-122"/>
                <a:cs typeface="Arial" pitchFamily="34" charset="-120"/>
              </a:rPr>
              <a:t>Ghost worker detection</a:t>
            </a:r>
            <a:endParaRPr lang="en-US" sz="1000" dirty="0"/>
          </a:p>
        </p:txBody>
      </p:sp>
      <p:sp>
        <p:nvSpPr>
          <p:cNvPr id="68" name="Shape 66"/>
          <p:cNvSpPr/>
          <p:nvPr/>
        </p:nvSpPr>
        <p:spPr>
          <a:xfrm>
            <a:off x="3566160" y="4087368"/>
            <a:ext cx="2011680" cy="457200"/>
          </a:xfrm>
          <a:prstGeom prst="rect">
            <a:avLst/>
          </a:prstGeom>
          <a:solidFill>
            <a:srgbClr val="E8F5EE"/>
          </a:solidFill>
          <a:ln w="6350">
            <a:solidFill>
              <a:srgbClr val="80C8A0"/>
            </a:solidFill>
            <a:prstDash val="solid"/>
          </a:ln>
        </p:spPr>
      </p:sp>
      <p:sp>
        <p:nvSpPr>
          <p:cNvPr id="69" name="Text 67"/>
          <p:cNvSpPr/>
          <p:nvPr/>
        </p:nvSpPr>
        <p:spPr>
          <a:xfrm>
            <a:off x="3657600" y="4123944"/>
            <a:ext cx="1828800" cy="365760"/>
          </a:xfrm>
          <a:prstGeom prst="rect">
            <a:avLst/>
          </a:prstGeom>
          <a:noFill/>
          <a:ln/>
        </p:spPr>
        <p:txBody>
          <a:bodyPr wrap="square" lIns="0" tIns="0" rIns="0" bIns="0" rtlCol="0" anchor="ctr"/>
          <a:lstStyle/>
          <a:p>
            <a:pPr algn="ctr" indent="0" marL="0">
              <a:buNone/>
            </a:pPr>
            <a:r>
              <a:rPr lang="en-US" sz="1000" b="1" dirty="0">
                <a:solidFill>
                  <a:srgbClr val="1A7040"/>
                </a:solidFill>
                <a:latin typeface="Arial" pitchFamily="34" charset="0"/>
                <a:ea typeface="Arial" pitchFamily="34" charset="-122"/>
                <a:cs typeface="Arial" pitchFamily="34" charset="-120"/>
              </a:rPr>
              <a:t>✓ Built</a:t>
            </a:r>
            <a:endParaRPr lang="en-US" sz="1000" dirty="0"/>
          </a:p>
        </p:txBody>
      </p:sp>
      <p:sp>
        <p:nvSpPr>
          <p:cNvPr id="70" name="Shape 68"/>
          <p:cNvSpPr/>
          <p:nvPr/>
        </p:nvSpPr>
        <p:spPr>
          <a:xfrm>
            <a:off x="5577840" y="4087368"/>
            <a:ext cx="2011680" cy="457200"/>
          </a:xfrm>
          <a:prstGeom prst="rect">
            <a:avLst/>
          </a:prstGeom>
          <a:solidFill>
            <a:srgbClr val="EEEEEA"/>
          </a:solidFill>
          <a:ln w="6350">
            <a:solidFill>
              <a:srgbClr val="E2E8F0"/>
            </a:solidFill>
            <a:prstDash val="solid"/>
          </a:ln>
        </p:spPr>
      </p:sp>
      <p:sp>
        <p:nvSpPr>
          <p:cNvPr id="71" name="Text 69"/>
          <p:cNvSpPr/>
          <p:nvPr/>
        </p:nvSpPr>
        <p:spPr>
          <a:xfrm>
            <a:off x="5669280" y="4123944"/>
            <a:ext cx="1828800" cy="365760"/>
          </a:xfrm>
          <a:prstGeom prst="rect">
            <a:avLst/>
          </a:prstGeom>
          <a:noFill/>
          <a:ln/>
        </p:spPr>
        <p:txBody>
          <a:bodyPr wrap="square" lIns="0" tIns="0" rIns="0" bIns="0" rtlCol="0" anchor="ctr"/>
          <a:lstStyle/>
          <a:p>
            <a:pPr algn="ctr" indent="0" marL="0">
              <a:buNone/>
            </a:pPr>
            <a:r>
              <a:rPr lang="en-US" sz="1000" dirty="0">
                <a:solidFill>
                  <a:srgbClr val="1C1C18"/>
                </a:solidFill>
                <a:latin typeface="Arial" pitchFamily="34" charset="0"/>
                <a:ea typeface="Arial" pitchFamily="34" charset="-122"/>
                <a:cs typeface="Arial" pitchFamily="34" charset="-120"/>
              </a:rPr>
              <a:t>Partial</a:t>
            </a:r>
            <a:endParaRPr lang="en-US" sz="1000" dirty="0"/>
          </a:p>
        </p:txBody>
      </p:sp>
      <p:sp>
        <p:nvSpPr>
          <p:cNvPr id="72" name="Shape 70"/>
          <p:cNvSpPr/>
          <p:nvPr/>
        </p:nvSpPr>
        <p:spPr>
          <a:xfrm>
            <a:off x="7589520" y="4087368"/>
            <a:ext cx="2011680" cy="457200"/>
          </a:xfrm>
          <a:prstGeom prst="rect">
            <a:avLst/>
          </a:prstGeom>
          <a:solidFill>
            <a:srgbClr val="EEEEEA"/>
          </a:solidFill>
          <a:ln w="6350">
            <a:solidFill>
              <a:srgbClr val="E2E8F0"/>
            </a:solidFill>
            <a:prstDash val="solid"/>
          </a:ln>
        </p:spPr>
      </p:sp>
      <p:sp>
        <p:nvSpPr>
          <p:cNvPr id="73" name="Text 71"/>
          <p:cNvSpPr/>
          <p:nvPr/>
        </p:nvSpPr>
        <p:spPr>
          <a:xfrm>
            <a:off x="7680960" y="4123944"/>
            <a:ext cx="1828800" cy="365760"/>
          </a:xfrm>
          <a:prstGeom prst="rect">
            <a:avLst/>
          </a:prstGeom>
          <a:noFill/>
          <a:ln/>
        </p:spPr>
        <p:txBody>
          <a:bodyPr wrap="square" lIns="0" tIns="0" rIns="0" bIns="0" rtlCol="0" anchor="ctr"/>
          <a:lstStyle/>
          <a:p>
            <a:pPr algn="ctr" indent="0" marL="0">
              <a:buNone/>
            </a:pPr>
            <a:r>
              <a:rPr lang="en-US" sz="1000" dirty="0">
                <a:solidFill>
                  <a:srgbClr val="C82020"/>
                </a:solidFill>
                <a:latin typeface="Arial" pitchFamily="34" charset="0"/>
                <a:ea typeface="Arial" pitchFamily="34" charset="-122"/>
                <a:cs typeface="Arial" pitchFamily="34" charset="-120"/>
              </a:rPr>
              <a:t>No</a:t>
            </a:r>
            <a:endParaRPr lang="en-US" sz="1000" dirty="0"/>
          </a:p>
        </p:txBody>
      </p:sp>
      <p:sp>
        <p:nvSpPr>
          <p:cNvPr id="74" name="Shape 72"/>
          <p:cNvSpPr/>
          <p:nvPr/>
        </p:nvSpPr>
        <p:spPr>
          <a:xfrm>
            <a:off x="9601200" y="4087368"/>
            <a:ext cx="2011680" cy="457200"/>
          </a:xfrm>
          <a:prstGeom prst="rect">
            <a:avLst/>
          </a:prstGeom>
          <a:solidFill>
            <a:srgbClr val="EEEEEA"/>
          </a:solidFill>
          <a:ln w="6350">
            <a:solidFill>
              <a:srgbClr val="E2E8F0"/>
            </a:solidFill>
            <a:prstDash val="solid"/>
          </a:ln>
        </p:spPr>
      </p:sp>
      <p:sp>
        <p:nvSpPr>
          <p:cNvPr id="75" name="Text 73"/>
          <p:cNvSpPr/>
          <p:nvPr/>
        </p:nvSpPr>
        <p:spPr>
          <a:xfrm>
            <a:off x="9692640" y="4123944"/>
            <a:ext cx="1828800" cy="365760"/>
          </a:xfrm>
          <a:prstGeom prst="rect">
            <a:avLst/>
          </a:prstGeom>
          <a:noFill/>
          <a:ln/>
        </p:spPr>
        <p:txBody>
          <a:bodyPr wrap="square" lIns="0" tIns="0" rIns="0" bIns="0" rtlCol="0" anchor="ctr"/>
          <a:lstStyle/>
          <a:p>
            <a:pPr algn="ctr" indent="0" marL="0">
              <a:buNone/>
            </a:pPr>
            <a:r>
              <a:rPr lang="en-US" sz="1000" dirty="0">
                <a:solidFill>
                  <a:srgbClr val="1C1C18"/>
                </a:solidFill>
                <a:latin typeface="Arial" pitchFamily="34" charset="0"/>
                <a:ea typeface="Arial" pitchFamily="34" charset="-122"/>
                <a:cs typeface="Arial" pitchFamily="34" charset="-120"/>
              </a:rPr>
              <a:t>Manual</a:t>
            </a:r>
            <a:endParaRPr lang="en-US" sz="1000" dirty="0"/>
          </a:p>
        </p:txBody>
      </p:sp>
      <p:sp>
        <p:nvSpPr>
          <p:cNvPr id="76" name="Shape 74"/>
          <p:cNvSpPr/>
          <p:nvPr/>
        </p:nvSpPr>
        <p:spPr>
          <a:xfrm>
            <a:off x="274320" y="4599432"/>
            <a:ext cx="3291840" cy="457200"/>
          </a:xfrm>
          <a:prstGeom prst="rect">
            <a:avLst/>
          </a:prstGeom>
          <a:solidFill>
            <a:srgbClr val="FFFFFF"/>
          </a:solidFill>
          <a:ln w="6350">
            <a:solidFill>
              <a:srgbClr val="E2E8F0"/>
            </a:solidFill>
            <a:prstDash val="solid"/>
          </a:ln>
        </p:spPr>
      </p:sp>
      <p:sp>
        <p:nvSpPr>
          <p:cNvPr id="77" name="Text 75"/>
          <p:cNvSpPr/>
          <p:nvPr/>
        </p:nvSpPr>
        <p:spPr>
          <a:xfrm>
            <a:off x="365760" y="4636008"/>
            <a:ext cx="3108960" cy="365760"/>
          </a:xfrm>
          <a:prstGeom prst="rect">
            <a:avLst/>
          </a:prstGeom>
          <a:noFill/>
          <a:ln/>
        </p:spPr>
        <p:txBody>
          <a:bodyPr wrap="square" lIns="0" tIns="0" rIns="0" bIns="0" rtlCol="0" anchor="ctr"/>
          <a:lstStyle/>
          <a:p>
            <a:pPr algn="l" indent="0" marL="0">
              <a:buNone/>
            </a:pPr>
            <a:r>
              <a:rPr lang="en-US" sz="1000" dirty="0">
                <a:solidFill>
                  <a:srgbClr val="1C1C18"/>
                </a:solidFill>
                <a:latin typeface="Arial" pitchFamily="34" charset="0"/>
                <a:ea typeface="Arial" pitchFamily="34" charset="-122"/>
                <a:cs typeface="Arial" pitchFamily="34" charset="-120"/>
              </a:rPr>
              <a:t>AI debt optimisation</a:t>
            </a:r>
            <a:endParaRPr lang="en-US" sz="1000" dirty="0"/>
          </a:p>
        </p:txBody>
      </p:sp>
      <p:sp>
        <p:nvSpPr>
          <p:cNvPr id="78" name="Shape 76"/>
          <p:cNvSpPr/>
          <p:nvPr/>
        </p:nvSpPr>
        <p:spPr>
          <a:xfrm>
            <a:off x="3566160" y="4599432"/>
            <a:ext cx="2011680" cy="457200"/>
          </a:xfrm>
          <a:prstGeom prst="rect">
            <a:avLst/>
          </a:prstGeom>
          <a:solidFill>
            <a:srgbClr val="E8F5EE"/>
          </a:solidFill>
          <a:ln w="6350">
            <a:solidFill>
              <a:srgbClr val="80C8A0"/>
            </a:solidFill>
            <a:prstDash val="solid"/>
          </a:ln>
        </p:spPr>
      </p:sp>
      <p:sp>
        <p:nvSpPr>
          <p:cNvPr id="79" name="Text 77"/>
          <p:cNvSpPr/>
          <p:nvPr/>
        </p:nvSpPr>
        <p:spPr>
          <a:xfrm>
            <a:off x="3657600" y="4636008"/>
            <a:ext cx="1828800" cy="365760"/>
          </a:xfrm>
          <a:prstGeom prst="rect">
            <a:avLst/>
          </a:prstGeom>
          <a:noFill/>
          <a:ln/>
        </p:spPr>
        <p:txBody>
          <a:bodyPr wrap="square" lIns="0" tIns="0" rIns="0" bIns="0" rtlCol="0" anchor="ctr"/>
          <a:lstStyle/>
          <a:p>
            <a:pPr algn="ctr" indent="0" marL="0">
              <a:buNone/>
            </a:pPr>
            <a:r>
              <a:rPr lang="en-US" sz="1000" b="1" dirty="0">
                <a:solidFill>
                  <a:srgbClr val="1A7040"/>
                </a:solidFill>
                <a:latin typeface="Arial" pitchFamily="34" charset="0"/>
                <a:ea typeface="Arial" pitchFamily="34" charset="-122"/>
                <a:cs typeface="Arial" pitchFamily="34" charset="-120"/>
              </a:rPr>
              <a:t>✓ Built</a:t>
            </a:r>
            <a:endParaRPr lang="en-US" sz="1000" dirty="0"/>
          </a:p>
        </p:txBody>
      </p:sp>
      <p:sp>
        <p:nvSpPr>
          <p:cNvPr id="80" name="Shape 78"/>
          <p:cNvSpPr/>
          <p:nvPr/>
        </p:nvSpPr>
        <p:spPr>
          <a:xfrm>
            <a:off x="5577840" y="4599432"/>
            <a:ext cx="2011680" cy="457200"/>
          </a:xfrm>
          <a:prstGeom prst="rect">
            <a:avLst/>
          </a:prstGeom>
          <a:solidFill>
            <a:srgbClr val="FFFFFF"/>
          </a:solidFill>
          <a:ln w="6350">
            <a:solidFill>
              <a:srgbClr val="E2E8F0"/>
            </a:solidFill>
            <a:prstDash val="solid"/>
          </a:ln>
        </p:spPr>
      </p:sp>
      <p:sp>
        <p:nvSpPr>
          <p:cNvPr id="81" name="Text 79"/>
          <p:cNvSpPr/>
          <p:nvPr/>
        </p:nvSpPr>
        <p:spPr>
          <a:xfrm>
            <a:off x="5669280" y="4636008"/>
            <a:ext cx="1828800" cy="365760"/>
          </a:xfrm>
          <a:prstGeom prst="rect">
            <a:avLst/>
          </a:prstGeom>
          <a:noFill/>
          <a:ln/>
        </p:spPr>
        <p:txBody>
          <a:bodyPr wrap="square" lIns="0" tIns="0" rIns="0" bIns="0" rtlCol="0" anchor="ctr"/>
          <a:lstStyle/>
          <a:p>
            <a:pPr algn="ctr" indent="0" marL="0">
              <a:buNone/>
            </a:pPr>
            <a:r>
              <a:rPr lang="en-US" sz="1000" dirty="0">
                <a:solidFill>
                  <a:srgbClr val="C82020"/>
                </a:solidFill>
                <a:latin typeface="Arial" pitchFamily="34" charset="0"/>
                <a:ea typeface="Arial" pitchFamily="34" charset="-122"/>
                <a:cs typeface="Arial" pitchFamily="34" charset="-120"/>
              </a:rPr>
              <a:t>No</a:t>
            </a:r>
            <a:endParaRPr lang="en-US" sz="1000" dirty="0"/>
          </a:p>
        </p:txBody>
      </p:sp>
      <p:sp>
        <p:nvSpPr>
          <p:cNvPr id="82" name="Shape 80"/>
          <p:cNvSpPr/>
          <p:nvPr/>
        </p:nvSpPr>
        <p:spPr>
          <a:xfrm>
            <a:off x="7589520" y="4599432"/>
            <a:ext cx="2011680" cy="457200"/>
          </a:xfrm>
          <a:prstGeom prst="rect">
            <a:avLst/>
          </a:prstGeom>
          <a:solidFill>
            <a:srgbClr val="FFFFFF"/>
          </a:solidFill>
          <a:ln w="6350">
            <a:solidFill>
              <a:srgbClr val="E2E8F0"/>
            </a:solidFill>
            <a:prstDash val="solid"/>
          </a:ln>
        </p:spPr>
      </p:sp>
      <p:sp>
        <p:nvSpPr>
          <p:cNvPr id="83" name="Text 81"/>
          <p:cNvSpPr/>
          <p:nvPr/>
        </p:nvSpPr>
        <p:spPr>
          <a:xfrm>
            <a:off x="7680960" y="4636008"/>
            <a:ext cx="1828800" cy="365760"/>
          </a:xfrm>
          <a:prstGeom prst="rect">
            <a:avLst/>
          </a:prstGeom>
          <a:noFill/>
          <a:ln/>
        </p:spPr>
        <p:txBody>
          <a:bodyPr wrap="square" lIns="0" tIns="0" rIns="0" bIns="0" rtlCol="0" anchor="ctr"/>
          <a:lstStyle/>
          <a:p>
            <a:pPr algn="ctr" indent="0" marL="0">
              <a:buNone/>
            </a:pPr>
            <a:r>
              <a:rPr lang="en-US" sz="1000" dirty="0">
                <a:solidFill>
                  <a:srgbClr val="C82020"/>
                </a:solidFill>
                <a:latin typeface="Arial" pitchFamily="34" charset="0"/>
                <a:ea typeface="Arial" pitchFamily="34" charset="-122"/>
                <a:cs typeface="Arial" pitchFamily="34" charset="-120"/>
              </a:rPr>
              <a:t>No</a:t>
            </a:r>
            <a:endParaRPr lang="en-US" sz="1000" dirty="0"/>
          </a:p>
        </p:txBody>
      </p:sp>
      <p:sp>
        <p:nvSpPr>
          <p:cNvPr id="84" name="Shape 82"/>
          <p:cNvSpPr/>
          <p:nvPr/>
        </p:nvSpPr>
        <p:spPr>
          <a:xfrm>
            <a:off x="9601200" y="4599432"/>
            <a:ext cx="2011680" cy="457200"/>
          </a:xfrm>
          <a:prstGeom prst="rect">
            <a:avLst/>
          </a:prstGeom>
          <a:solidFill>
            <a:srgbClr val="FFFFFF"/>
          </a:solidFill>
          <a:ln w="6350">
            <a:solidFill>
              <a:srgbClr val="E2E8F0"/>
            </a:solidFill>
            <a:prstDash val="solid"/>
          </a:ln>
        </p:spPr>
      </p:sp>
      <p:sp>
        <p:nvSpPr>
          <p:cNvPr id="85" name="Text 83"/>
          <p:cNvSpPr/>
          <p:nvPr/>
        </p:nvSpPr>
        <p:spPr>
          <a:xfrm>
            <a:off x="9692640" y="4636008"/>
            <a:ext cx="1828800" cy="365760"/>
          </a:xfrm>
          <a:prstGeom prst="rect">
            <a:avLst/>
          </a:prstGeom>
          <a:noFill/>
          <a:ln/>
        </p:spPr>
        <p:txBody>
          <a:bodyPr wrap="square" lIns="0" tIns="0" rIns="0" bIns="0" rtlCol="0" anchor="ctr"/>
          <a:lstStyle/>
          <a:p>
            <a:pPr algn="ctr" indent="0" marL="0">
              <a:buNone/>
            </a:pPr>
            <a:r>
              <a:rPr lang="en-US" sz="1000" dirty="0">
                <a:solidFill>
                  <a:srgbClr val="C82020"/>
                </a:solidFill>
                <a:latin typeface="Arial" pitchFamily="34" charset="0"/>
                <a:ea typeface="Arial" pitchFamily="34" charset="-122"/>
                <a:cs typeface="Arial" pitchFamily="34" charset="-120"/>
              </a:rPr>
              <a:t>No</a:t>
            </a:r>
            <a:endParaRPr lang="en-US" sz="1000" dirty="0"/>
          </a:p>
        </p:txBody>
      </p:sp>
      <p:sp>
        <p:nvSpPr>
          <p:cNvPr id="86" name="Shape 84"/>
          <p:cNvSpPr/>
          <p:nvPr/>
        </p:nvSpPr>
        <p:spPr>
          <a:xfrm>
            <a:off x="274320" y="5111496"/>
            <a:ext cx="3291840" cy="457200"/>
          </a:xfrm>
          <a:prstGeom prst="rect">
            <a:avLst/>
          </a:prstGeom>
          <a:solidFill>
            <a:srgbClr val="EEEEEA"/>
          </a:solidFill>
          <a:ln w="6350">
            <a:solidFill>
              <a:srgbClr val="E2E8F0"/>
            </a:solidFill>
            <a:prstDash val="solid"/>
          </a:ln>
        </p:spPr>
      </p:sp>
      <p:sp>
        <p:nvSpPr>
          <p:cNvPr id="87" name="Text 85"/>
          <p:cNvSpPr/>
          <p:nvPr/>
        </p:nvSpPr>
        <p:spPr>
          <a:xfrm>
            <a:off x="365760" y="5148072"/>
            <a:ext cx="3108960" cy="365760"/>
          </a:xfrm>
          <a:prstGeom prst="rect">
            <a:avLst/>
          </a:prstGeom>
          <a:noFill/>
          <a:ln/>
        </p:spPr>
        <p:txBody>
          <a:bodyPr wrap="square" lIns="0" tIns="0" rIns="0" bIns="0" rtlCol="0" anchor="ctr"/>
          <a:lstStyle/>
          <a:p>
            <a:pPr algn="l" indent="0" marL="0">
              <a:buNone/>
            </a:pPr>
            <a:r>
              <a:rPr lang="en-US" sz="1000" dirty="0">
                <a:solidFill>
                  <a:srgbClr val="1C1C18"/>
                </a:solidFill>
                <a:latin typeface="Arial" pitchFamily="34" charset="0"/>
                <a:ea typeface="Arial" pitchFamily="34" charset="-122"/>
                <a:cs typeface="Arial" pitchFamily="34" charset="-120"/>
              </a:rPr>
              <a:t>Price</a:t>
            </a:r>
            <a:endParaRPr lang="en-US" sz="1000" dirty="0"/>
          </a:p>
        </p:txBody>
      </p:sp>
      <p:sp>
        <p:nvSpPr>
          <p:cNvPr id="88" name="Shape 86"/>
          <p:cNvSpPr/>
          <p:nvPr/>
        </p:nvSpPr>
        <p:spPr>
          <a:xfrm>
            <a:off x="3566160" y="5111496"/>
            <a:ext cx="2011680" cy="457200"/>
          </a:xfrm>
          <a:prstGeom prst="rect">
            <a:avLst/>
          </a:prstGeom>
          <a:solidFill>
            <a:srgbClr val="E8F5EE"/>
          </a:solidFill>
          <a:ln w="6350">
            <a:solidFill>
              <a:srgbClr val="80C8A0"/>
            </a:solidFill>
            <a:prstDash val="solid"/>
          </a:ln>
        </p:spPr>
      </p:sp>
      <p:sp>
        <p:nvSpPr>
          <p:cNvPr id="89" name="Text 87"/>
          <p:cNvSpPr/>
          <p:nvPr/>
        </p:nvSpPr>
        <p:spPr>
          <a:xfrm>
            <a:off x="3657600" y="5148072"/>
            <a:ext cx="1828800" cy="365760"/>
          </a:xfrm>
          <a:prstGeom prst="rect">
            <a:avLst/>
          </a:prstGeom>
          <a:noFill/>
          <a:ln/>
        </p:spPr>
        <p:txBody>
          <a:bodyPr wrap="square" lIns="0" tIns="0" rIns="0" bIns="0" rtlCol="0" anchor="ctr"/>
          <a:lstStyle/>
          <a:p>
            <a:pPr algn="ctr" indent="0" marL="0">
              <a:buNone/>
            </a:pPr>
            <a:r>
              <a:rPr lang="en-US" sz="1000" b="1" dirty="0">
                <a:solidFill>
                  <a:srgbClr val="1A7040"/>
                </a:solidFill>
                <a:latin typeface="Arial" pitchFamily="34" charset="0"/>
                <a:ea typeface="Arial" pitchFamily="34" charset="-122"/>
                <a:cs typeface="Arial" pitchFamily="34" charset="-120"/>
              </a:rPr>
              <a:t>UGX 500K–5M/mo</a:t>
            </a:r>
            <a:endParaRPr lang="en-US" sz="1000" dirty="0"/>
          </a:p>
        </p:txBody>
      </p:sp>
      <p:sp>
        <p:nvSpPr>
          <p:cNvPr id="90" name="Shape 88"/>
          <p:cNvSpPr/>
          <p:nvPr/>
        </p:nvSpPr>
        <p:spPr>
          <a:xfrm>
            <a:off x="5577840" y="5111496"/>
            <a:ext cx="2011680" cy="457200"/>
          </a:xfrm>
          <a:prstGeom prst="rect">
            <a:avLst/>
          </a:prstGeom>
          <a:solidFill>
            <a:srgbClr val="EEEEEA"/>
          </a:solidFill>
          <a:ln w="6350">
            <a:solidFill>
              <a:srgbClr val="E2E8F0"/>
            </a:solidFill>
            <a:prstDash val="solid"/>
          </a:ln>
        </p:spPr>
      </p:sp>
      <p:sp>
        <p:nvSpPr>
          <p:cNvPr id="91" name="Text 89"/>
          <p:cNvSpPr/>
          <p:nvPr/>
        </p:nvSpPr>
        <p:spPr>
          <a:xfrm>
            <a:off x="5669280" y="5148072"/>
            <a:ext cx="1828800" cy="365760"/>
          </a:xfrm>
          <a:prstGeom prst="rect">
            <a:avLst/>
          </a:prstGeom>
          <a:noFill/>
          <a:ln/>
        </p:spPr>
        <p:txBody>
          <a:bodyPr wrap="square" lIns="0" tIns="0" rIns="0" bIns="0" rtlCol="0" anchor="ctr"/>
          <a:lstStyle/>
          <a:p>
            <a:pPr algn="ctr" indent="0" marL="0">
              <a:buNone/>
            </a:pPr>
            <a:r>
              <a:rPr lang="en-US" sz="1000" dirty="0">
                <a:solidFill>
                  <a:srgbClr val="1C1C18"/>
                </a:solidFill>
                <a:latin typeface="Arial" pitchFamily="34" charset="0"/>
                <a:ea typeface="Arial" pitchFamily="34" charset="-122"/>
                <a:cs typeface="Arial" pitchFamily="34" charset="-120"/>
              </a:rPr>
              <a:t>USD 20K+/year</a:t>
            </a:r>
            <a:endParaRPr lang="en-US" sz="1000" dirty="0"/>
          </a:p>
        </p:txBody>
      </p:sp>
      <p:sp>
        <p:nvSpPr>
          <p:cNvPr id="92" name="Shape 90"/>
          <p:cNvSpPr/>
          <p:nvPr/>
        </p:nvSpPr>
        <p:spPr>
          <a:xfrm>
            <a:off x="7589520" y="5111496"/>
            <a:ext cx="2011680" cy="457200"/>
          </a:xfrm>
          <a:prstGeom prst="rect">
            <a:avLst/>
          </a:prstGeom>
          <a:solidFill>
            <a:srgbClr val="EEEEEA"/>
          </a:solidFill>
          <a:ln w="6350">
            <a:solidFill>
              <a:srgbClr val="E2E8F0"/>
            </a:solidFill>
            <a:prstDash val="solid"/>
          </a:ln>
        </p:spPr>
      </p:sp>
      <p:sp>
        <p:nvSpPr>
          <p:cNvPr id="93" name="Text 91"/>
          <p:cNvSpPr/>
          <p:nvPr/>
        </p:nvSpPr>
        <p:spPr>
          <a:xfrm>
            <a:off x="7680960" y="5148072"/>
            <a:ext cx="1828800" cy="365760"/>
          </a:xfrm>
          <a:prstGeom prst="rect">
            <a:avLst/>
          </a:prstGeom>
          <a:noFill/>
          <a:ln/>
        </p:spPr>
        <p:txBody>
          <a:bodyPr wrap="square" lIns="0" tIns="0" rIns="0" bIns="0" rtlCol="0" anchor="ctr"/>
          <a:lstStyle/>
          <a:p>
            <a:pPr algn="ctr" indent="0" marL="0">
              <a:buNone/>
            </a:pPr>
            <a:r>
              <a:rPr lang="en-US" sz="1000" dirty="0">
                <a:solidFill>
                  <a:srgbClr val="1C1C18"/>
                </a:solidFill>
                <a:latin typeface="Arial" pitchFamily="34" charset="0"/>
                <a:ea typeface="Arial" pitchFamily="34" charset="-122"/>
                <a:cs typeface="Arial" pitchFamily="34" charset="-120"/>
              </a:rPr>
              <a:t>USD 5K+/year</a:t>
            </a:r>
            <a:endParaRPr lang="en-US" sz="1000" dirty="0"/>
          </a:p>
        </p:txBody>
      </p:sp>
      <p:sp>
        <p:nvSpPr>
          <p:cNvPr id="94" name="Shape 92"/>
          <p:cNvSpPr/>
          <p:nvPr/>
        </p:nvSpPr>
        <p:spPr>
          <a:xfrm>
            <a:off x="9601200" y="5111496"/>
            <a:ext cx="2011680" cy="457200"/>
          </a:xfrm>
          <a:prstGeom prst="rect">
            <a:avLst/>
          </a:prstGeom>
          <a:solidFill>
            <a:srgbClr val="EEEEEA"/>
          </a:solidFill>
          <a:ln w="6350">
            <a:solidFill>
              <a:srgbClr val="E2E8F0"/>
            </a:solidFill>
            <a:prstDash val="solid"/>
          </a:ln>
        </p:spPr>
      </p:sp>
      <p:sp>
        <p:nvSpPr>
          <p:cNvPr id="95" name="Text 93"/>
          <p:cNvSpPr/>
          <p:nvPr/>
        </p:nvSpPr>
        <p:spPr>
          <a:xfrm>
            <a:off x="9692640" y="5148072"/>
            <a:ext cx="1828800" cy="365760"/>
          </a:xfrm>
          <a:prstGeom prst="rect">
            <a:avLst/>
          </a:prstGeom>
          <a:noFill/>
          <a:ln/>
        </p:spPr>
        <p:txBody>
          <a:bodyPr wrap="square" lIns="0" tIns="0" rIns="0" bIns="0" rtlCol="0" anchor="ctr"/>
          <a:lstStyle/>
          <a:p>
            <a:pPr algn="ctr" indent="0" marL="0">
              <a:buNone/>
            </a:pPr>
            <a:r>
              <a:rPr lang="en-US" sz="1000" dirty="0">
                <a:solidFill>
                  <a:srgbClr val="1C1C18"/>
                </a:solidFill>
                <a:latin typeface="Arial" pitchFamily="34" charset="0"/>
                <a:ea typeface="Arial" pitchFamily="34" charset="-122"/>
                <a:cs typeface="Arial" pitchFamily="34" charset="-120"/>
              </a:rPr>
              <a:t>Free</a:t>
            </a:r>
            <a:endParaRPr lang="en-US" sz="1000" dirty="0"/>
          </a:p>
        </p:txBody>
      </p:sp>
      <p:sp>
        <p:nvSpPr>
          <p:cNvPr id="96" name="Shape 94"/>
          <p:cNvSpPr/>
          <p:nvPr/>
        </p:nvSpPr>
        <p:spPr>
          <a:xfrm>
            <a:off x="274320" y="5623560"/>
            <a:ext cx="3291840" cy="457200"/>
          </a:xfrm>
          <a:prstGeom prst="rect">
            <a:avLst/>
          </a:prstGeom>
          <a:solidFill>
            <a:srgbClr val="FFFFFF"/>
          </a:solidFill>
          <a:ln w="6350">
            <a:solidFill>
              <a:srgbClr val="E2E8F0"/>
            </a:solidFill>
            <a:prstDash val="solid"/>
          </a:ln>
        </p:spPr>
      </p:sp>
      <p:sp>
        <p:nvSpPr>
          <p:cNvPr id="97" name="Text 95"/>
          <p:cNvSpPr/>
          <p:nvPr/>
        </p:nvSpPr>
        <p:spPr>
          <a:xfrm>
            <a:off x="365760" y="5660136"/>
            <a:ext cx="3108960" cy="365760"/>
          </a:xfrm>
          <a:prstGeom prst="rect">
            <a:avLst/>
          </a:prstGeom>
          <a:noFill/>
          <a:ln/>
        </p:spPr>
        <p:txBody>
          <a:bodyPr wrap="square" lIns="0" tIns="0" rIns="0" bIns="0" rtlCol="0" anchor="ctr"/>
          <a:lstStyle/>
          <a:p>
            <a:pPr algn="l" indent="0" marL="0">
              <a:buNone/>
            </a:pPr>
            <a:r>
              <a:rPr lang="en-US" sz="1000" dirty="0">
                <a:solidFill>
                  <a:srgbClr val="1C1C18"/>
                </a:solidFill>
                <a:latin typeface="Arial" pitchFamily="34" charset="0"/>
                <a:ea typeface="Arial" pitchFamily="34" charset="-122"/>
                <a:cs typeface="Arial" pitchFamily="34" charset="-120"/>
              </a:rPr>
              <a:t>Setup time</a:t>
            </a:r>
            <a:endParaRPr lang="en-US" sz="1000" dirty="0"/>
          </a:p>
        </p:txBody>
      </p:sp>
      <p:sp>
        <p:nvSpPr>
          <p:cNvPr id="98" name="Shape 96"/>
          <p:cNvSpPr/>
          <p:nvPr/>
        </p:nvSpPr>
        <p:spPr>
          <a:xfrm>
            <a:off x="3566160" y="5623560"/>
            <a:ext cx="2011680" cy="457200"/>
          </a:xfrm>
          <a:prstGeom prst="rect">
            <a:avLst/>
          </a:prstGeom>
          <a:solidFill>
            <a:srgbClr val="E8F5EE"/>
          </a:solidFill>
          <a:ln w="6350">
            <a:solidFill>
              <a:srgbClr val="80C8A0"/>
            </a:solidFill>
            <a:prstDash val="solid"/>
          </a:ln>
        </p:spPr>
      </p:sp>
      <p:sp>
        <p:nvSpPr>
          <p:cNvPr id="99" name="Text 97"/>
          <p:cNvSpPr/>
          <p:nvPr/>
        </p:nvSpPr>
        <p:spPr>
          <a:xfrm>
            <a:off x="3657600" y="5660136"/>
            <a:ext cx="1828800" cy="365760"/>
          </a:xfrm>
          <a:prstGeom prst="rect">
            <a:avLst/>
          </a:prstGeom>
          <a:noFill/>
          <a:ln/>
        </p:spPr>
        <p:txBody>
          <a:bodyPr wrap="square" lIns="0" tIns="0" rIns="0" bIns="0" rtlCol="0" anchor="ctr"/>
          <a:lstStyle/>
          <a:p>
            <a:pPr algn="ctr" indent="0" marL="0">
              <a:buNone/>
            </a:pPr>
            <a:r>
              <a:rPr lang="en-US" sz="1000" b="1" dirty="0">
                <a:solidFill>
                  <a:srgbClr val="1A7040"/>
                </a:solidFill>
                <a:latin typeface="Arial" pitchFamily="34" charset="0"/>
                <a:ea typeface="Arial" pitchFamily="34" charset="-122"/>
                <a:cs typeface="Arial" pitchFamily="34" charset="-120"/>
              </a:rPr>
              <a:t>Days</a:t>
            </a:r>
            <a:endParaRPr lang="en-US" sz="1000" dirty="0"/>
          </a:p>
        </p:txBody>
      </p:sp>
      <p:sp>
        <p:nvSpPr>
          <p:cNvPr id="100" name="Shape 98"/>
          <p:cNvSpPr/>
          <p:nvPr/>
        </p:nvSpPr>
        <p:spPr>
          <a:xfrm>
            <a:off x="5577840" y="5623560"/>
            <a:ext cx="2011680" cy="457200"/>
          </a:xfrm>
          <a:prstGeom prst="rect">
            <a:avLst/>
          </a:prstGeom>
          <a:solidFill>
            <a:srgbClr val="FFFFFF"/>
          </a:solidFill>
          <a:ln w="6350">
            <a:solidFill>
              <a:srgbClr val="E2E8F0"/>
            </a:solidFill>
            <a:prstDash val="solid"/>
          </a:ln>
        </p:spPr>
      </p:sp>
      <p:sp>
        <p:nvSpPr>
          <p:cNvPr id="101" name="Text 99"/>
          <p:cNvSpPr/>
          <p:nvPr/>
        </p:nvSpPr>
        <p:spPr>
          <a:xfrm>
            <a:off x="5669280" y="5660136"/>
            <a:ext cx="1828800" cy="365760"/>
          </a:xfrm>
          <a:prstGeom prst="rect">
            <a:avLst/>
          </a:prstGeom>
          <a:noFill/>
          <a:ln/>
        </p:spPr>
        <p:txBody>
          <a:bodyPr wrap="square" lIns="0" tIns="0" rIns="0" bIns="0" rtlCol="0" anchor="ctr"/>
          <a:lstStyle/>
          <a:p>
            <a:pPr algn="ctr" indent="0" marL="0">
              <a:buNone/>
            </a:pPr>
            <a:r>
              <a:rPr lang="en-US" sz="1000" dirty="0">
                <a:solidFill>
                  <a:srgbClr val="1C1C18"/>
                </a:solidFill>
                <a:latin typeface="Arial" pitchFamily="34" charset="0"/>
                <a:ea typeface="Arial" pitchFamily="34" charset="-122"/>
                <a:cs typeface="Arial" pitchFamily="34" charset="-120"/>
              </a:rPr>
              <a:t>6–18 months</a:t>
            </a:r>
            <a:endParaRPr lang="en-US" sz="1000" dirty="0"/>
          </a:p>
        </p:txBody>
      </p:sp>
      <p:sp>
        <p:nvSpPr>
          <p:cNvPr id="102" name="Shape 100"/>
          <p:cNvSpPr/>
          <p:nvPr/>
        </p:nvSpPr>
        <p:spPr>
          <a:xfrm>
            <a:off x="7589520" y="5623560"/>
            <a:ext cx="2011680" cy="457200"/>
          </a:xfrm>
          <a:prstGeom prst="rect">
            <a:avLst/>
          </a:prstGeom>
          <a:solidFill>
            <a:srgbClr val="FFFFFF"/>
          </a:solidFill>
          <a:ln w="6350">
            <a:solidFill>
              <a:srgbClr val="E2E8F0"/>
            </a:solidFill>
            <a:prstDash val="solid"/>
          </a:ln>
        </p:spPr>
      </p:sp>
      <p:sp>
        <p:nvSpPr>
          <p:cNvPr id="103" name="Text 101"/>
          <p:cNvSpPr/>
          <p:nvPr/>
        </p:nvSpPr>
        <p:spPr>
          <a:xfrm>
            <a:off x="7680960" y="5660136"/>
            <a:ext cx="1828800" cy="365760"/>
          </a:xfrm>
          <a:prstGeom prst="rect">
            <a:avLst/>
          </a:prstGeom>
          <a:noFill/>
          <a:ln/>
        </p:spPr>
        <p:txBody>
          <a:bodyPr wrap="square" lIns="0" tIns="0" rIns="0" bIns="0" rtlCol="0" anchor="ctr"/>
          <a:lstStyle/>
          <a:p>
            <a:pPr algn="ctr" indent="0" marL="0">
              <a:buNone/>
            </a:pPr>
            <a:r>
              <a:rPr lang="en-US" sz="1000" dirty="0">
                <a:solidFill>
                  <a:srgbClr val="1C1C18"/>
                </a:solidFill>
                <a:latin typeface="Arial" pitchFamily="34" charset="0"/>
                <a:ea typeface="Arial" pitchFamily="34" charset="-122"/>
                <a:cs typeface="Arial" pitchFamily="34" charset="-120"/>
              </a:rPr>
              <a:t>2–4 months</a:t>
            </a:r>
            <a:endParaRPr lang="en-US" sz="1000" dirty="0"/>
          </a:p>
        </p:txBody>
      </p:sp>
      <p:sp>
        <p:nvSpPr>
          <p:cNvPr id="104" name="Shape 102"/>
          <p:cNvSpPr/>
          <p:nvPr/>
        </p:nvSpPr>
        <p:spPr>
          <a:xfrm>
            <a:off x="9601200" y="5623560"/>
            <a:ext cx="2011680" cy="457200"/>
          </a:xfrm>
          <a:prstGeom prst="rect">
            <a:avLst/>
          </a:prstGeom>
          <a:solidFill>
            <a:srgbClr val="FFFFFF"/>
          </a:solidFill>
          <a:ln w="6350">
            <a:solidFill>
              <a:srgbClr val="E2E8F0"/>
            </a:solidFill>
            <a:prstDash val="solid"/>
          </a:ln>
        </p:spPr>
      </p:sp>
      <p:sp>
        <p:nvSpPr>
          <p:cNvPr id="105" name="Text 103"/>
          <p:cNvSpPr/>
          <p:nvPr/>
        </p:nvSpPr>
        <p:spPr>
          <a:xfrm>
            <a:off x="9692640" y="5660136"/>
            <a:ext cx="1828800" cy="365760"/>
          </a:xfrm>
          <a:prstGeom prst="rect">
            <a:avLst/>
          </a:prstGeom>
          <a:noFill/>
          <a:ln/>
        </p:spPr>
        <p:txBody>
          <a:bodyPr wrap="square" lIns="0" tIns="0" rIns="0" bIns="0" rtlCol="0" anchor="ctr"/>
          <a:lstStyle/>
          <a:p>
            <a:pPr algn="ctr" indent="0" marL="0">
              <a:buNone/>
            </a:pPr>
            <a:r>
              <a:rPr lang="en-US" sz="1000" dirty="0">
                <a:solidFill>
                  <a:srgbClr val="1C1C18"/>
                </a:solidFill>
                <a:latin typeface="Arial" pitchFamily="34" charset="0"/>
                <a:ea typeface="Arial" pitchFamily="34" charset="-122"/>
                <a:cs typeface="Arial" pitchFamily="34" charset="-120"/>
              </a:rPr>
              <a:t>Immediate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2048"/>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2C55E"/>
          </a:solidFill>
          <a:ln w="12700">
            <a:solidFill>
              <a:srgbClr val="22C55E"/>
            </a:solidFill>
            <a:prstDash val="solid"/>
          </a:ln>
        </p:spPr>
      </p:sp>
      <p:sp>
        <p:nvSpPr>
          <p:cNvPr id="3" name="Text 1"/>
          <p:cNvSpPr/>
          <p:nvPr/>
        </p:nvSpPr>
        <p:spPr>
          <a:xfrm>
            <a:off x="347472" y="228600"/>
            <a:ext cx="7315200" cy="347472"/>
          </a:xfrm>
          <a:prstGeom prst="rect">
            <a:avLst/>
          </a:prstGeom>
          <a:noFill/>
          <a:ln/>
        </p:spPr>
        <p:txBody>
          <a:bodyPr wrap="square" lIns="0" tIns="0" rIns="0" bIns="0" rtlCol="0" anchor="ctr"/>
          <a:lstStyle/>
          <a:p>
            <a:pPr indent="0" marL="0">
              <a:buNone/>
            </a:pPr>
            <a:r>
              <a:rPr lang="en-US" sz="1100" b="1" spc="300" kern="0" dirty="0">
                <a:solidFill>
                  <a:srgbClr val="22C55E"/>
                </a:solidFill>
                <a:latin typeface="Arial" pitchFamily="34" charset="0"/>
                <a:ea typeface="Arial" pitchFamily="34" charset="-122"/>
                <a:cs typeface="Arial" pitchFamily="34" charset="-120"/>
              </a:rPr>
              <a:t>Go-To-Market Strategy</a:t>
            </a:r>
            <a:endParaRPr lang="en-US" sz="1100" dirty="0"/>
          </a:p>
        </p:txBody>
      </p:sp>
      <p:sp>
        <p:nvSpPr>
          <p:cNvPr id="4" name="Text 2"/>
          <p:cNvSpPr/>
          <p:nvPr/>
        </p:nvSpPr>
        <p:spPr>
          <a:xfrm>
            <a:off x="347472" y="658368"/>
            <a:ext cx="11430000" cy="59436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Revenue in 60 Days. Enterprise Contracts in 6 Months. East Africa in Year 2.</a:t>
            </a:r>
            <a:endParaRPr lang="en-US" sz="2200" dirty="0"/>
          </a:p>
        </p:txBody>
      </p:sp>
      <p:sp>
        <p:nvSpPr>
          <p:cNvPr id="5" name="Shape 3"/>
          <p:cNvSpPr/>
          <p:nvPr/>
        </p:nvSpPr>
        <p:spPr>
          <a:xfrm>
            <a:off x="274320" y="1508760"/>
            <a:ext cx="3657600" cy="5029200"/>
          </a:xfrm>
          <a:prstGeom prst="rect">
            <a:avLst/>
          </a:prstGeom>
          <a:solidFill>
            <a:srgbClr val="162D5E"/>
          </a:solidFill>
          <a:ln w="12700">
            <a:solidFill>
              <a:srgbClr val="14B8A6"/>
            </a:solidFill>
            <a:prstDash val="solid"/>
          </a:ln>
        </p:spPr>
      </p:sp>
      <p:sp>
        <p:nvSpPr>
          <p:cNvPr id="6" name="Shape 4"/>
          <p:cNvSpPr/>
          <p:nvPr/>
        </p:nvSpPr>
        <p:spPr>
          <a:xfrm>
            <a:off x="274320" y="1508760"/>
            <a:ext cx="3657600" cy="54864"/>
          </a:xfrm>
          <a:prstGeom prst="rect">
            <a:avLst/>
          </a:prstGeom>
          <a:solidFill>
            <a:srgbClr val="14B8A6"/>
          </a:solidFill>
          <a:ln w="12700">
            <a:solidFill>
              <a:srgbClr val="14B8A6"/>
            </a:solidFill>
            <a:prstDash val="solid"/>
          </a:ln>
        </p:spPr>
      </p:sp>
      <p:sp>
        <p:nvSpPr>
          <p:cNvPr id="7" name="Text 5"/>
          <p:cNvSpPr/>
          <p:nvPr/>
        </p:nvSpPr>
        <p:spPr>
          <a:xfrm>
            <a:off x="402336" y="1627632"/>
            <a:ext cx="3401568" cy="292608"/>
          </a:xfrm>
          <a:prstGeom prst="rect">
            <a:avLst/>
          </a:prstGeom>
          <a:noFill/>
          <a:ln/>
        </p:spPr>
        <p:txBody>
          <a:bodyPr wrap="square" lIns="0" tIns="0" rIns="0" bIns="0" rtlCol="0" anchor="ctr"/>
          <a:lstStyle/>
          <a:p>
            <a:pPr indent="0" marL="0">
              <a:buNone/>
            </a:pPr>
            <a:r>
              <a:rPr lang="en-US" sz="1100" b="1" dirty="0">
                <a:solidFill>
                  <a:srgbClr val="14B8A6"/>
                </a:solidFill>
                <a:latin typeface="Arial" pitchFamily="34" charset="0"/>
                <a:ea typeface="Arial" pitchFamily="34" charset="-122"/>
                <a:cs typeface="Arial" pitchFamily="34" charset="-120"/>
              </a:rPr>
              <a:t>Phase 1 · Now → Month 6</a:t>
            </a:r>
            <a:endParaRPr lang="en-US" sz="1100" dirty="0"/>
          </a:p>
        </p:txBody>
      </p:sp>
      <p:sp>
        <p:nvSpPr>
          <p:cNvPr id="8" name="Shape 6"/>
          <p:cNvSpPr/>
          <p:nvPr/>
        </p:nvSpPr>
        <p:spPr>
          <a:xfrm>
            <a:off x="402336" y="2084832"/>
            <a:ext cx="219456" cy="219456"/>
          </a:xfrm>
          <a:prstGeom prst="rect">
            <a:avLst/>
          </a:prstGeom>
          <a:solidFill>
            <a:srgbClr val="14B8A6"/>
          </a:solidFill>
          <a:ln w="12700">
            <a:solidFill>
              <a:srgbClr val="14B8A6"/>
            </a:solidFill>
            <a:prstDash val="solid"/>
          </a:ln>
        </p:spPr>
      </p:sp>
      <p:sp>
        <p:nvSpPr>
          <p:cNvPr id="9" name="Text 7"/>
          <p:cNvSpPr/>
          <p:nvPr/>
        </p:nvSpPr>
        <p:spPr>
          <a:xfrm>
            <a:off x="402336" y="2084832"/>
            <a:ext cx="219456" cy="219456"/>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1</a:t>
            </a:r>
            <a:endParaRPr lang="en-US" sz="900" dirty="0"/>
          </a:p>
        </p:txBody>
      </p:sp>
      <p:sp>
        <p:nvSpPr>
          <p:cNvPr id="10" name="Text 8"/>
          <p:cNvSpPr/>
          <p:nvPr/>
        </p:nvSpPr>
        <p:spPr>
          <a:xfrm>
            <a:off x="694944" y="2084832"/>
            <a:ext cx="3108960" cy="512064"/>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Register company at URSB (UGX 120K)</a:t>
            </a:r>
            <a:endParaRPr lang="en-US" sz="1050" dirty="0"/>
          </a:p>
        </p:txBody>
      </p:sp>
      <p:sp>
        <p:nvSpPr>
          <p:cNvPr id="11" name="Shape 9"/>
          <p:cNvSpPr/>
          <p:nvPr/>
        </p:nvSpPr>
        <p:spPr>
          <a:xfrm>
            <a:off x="402336" y="2779776"/>
            <a:ext cx="219456" cy="219456"/>
          </a:xfrm>
          <a:prstGeom prst="rect">
            <a:avLst/>
          </a:prstGeom>
          <a:solidFill>
            <a:srgbClr val="14B8A6"/>
          </a:solidFill>
          <a:ln w="12700">
            <a:solidFill>
              <a:srgbClr val="14B8A6"/>
            </a:solidFill>
            <a:prstDash val="solid"/>
          </a:ln>
        </p:spPr>
      </p:sp>
      <p:sp>
        <p:nvSpPr>
          <p:cNvPr id="12" name="Text 10"/>
          <p:cNvSpPr/>
          <p:nvPr/>
        </p:nvSpPr>
        <p:spPr>
          <a:xfrm>
            <a:off x="402336" y="2779776"/>
            <a:ext cx="219456" cy="219456"/>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2</a:t>
            </a:r>
            <a:endParaRPr lang="en-US" sz="900" dirty="0"/>
          </a:p>
        </p:txBody>
      </p:sp>
      <p:sp>
        <p:nvSpPr>
          <p:cNvPr id="13" name="Text 11"/>
          <p:cNvSpPr/>
          <p:nvPr/>
        </p:nvSpPr>
        <p:spPr>
          <a:xfrm>
            <a:off x="694944" y="2779776"/>
            <a:ext cx="3108960" cy="512064"/>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Email UMA — 1,300+ EFRIS-crisis members</a:t>
            </a:r>
            <a:endParaRPr lang="en-US" sz="1050" dirty="0"/>
          </a:p>
        </p:txBody>
      </p:sp>
      <p:sp>
        <p:nvSpPr>
          <p:cNvPr id="14" name="Shape 12"/>
          <p:cNvSpPr/>
          <p:nvPr/>
        </p:nvSpPr>
        <p:spPr>
          <a:xfrm>
            <a:off x="402336" y="3474720"/>
            <a:ext cx="219456" cy="219456"/>
          </a:xfrm>
          <a:prstGeom prst="rect">
            <a:avLst/>
          </a:prstGeom>
          <a:solidFill>
            <a:srgbClr val="14B8A6"/>
          </a:solidFill>
          <a:ln w="12700">
            <a:solidFill>
              <a:srgbClr val="14B8A6"/>
            </a:solidFill>
            <a:prstDash val="solid"/>
          </a:ln>
        </p:spPr>
      </p:sp>
      <p:sp>
        <p:nvSpPr>
          <p:cNvPr id="15" name="Text 13"/>
          <p:cNvSpPr/>
          <p:nvPr/>
        </p:nvSpPr>
        <p:spPr>
          <a:xfrm>
            <a:off x="402336" y="3474720"/>
            <a:ext cx="219456" cy="219456"/>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3</a:t>
            </a:r>
            <a:endParaRPr lang="en-US" sz="900" dirty="0"/>
          </a:p>
        </p:txBody>
      </p:sp>
      <p:sp>
        <p:nvSpPr>
          <p:cNvPr id="16" name="Text 14"/>
          <p:cNvSpPr/>
          <p:nvPr/>
        </p:nvSpPr>
        <p:spPr>
          <a:xfrm>
            <a:off x="694944" y="3474720"/>
            <a:ext cx="3108960" cy="512064"/>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Cold pitch Nile Breweries — GuardPost</a:t>
            </a:r>
            <a:endParaRPr lang="en-US" sz="1050" dirty="0"/>
          </a:p>
        </p:txBody>
      </p:sp>
      <p:sp>
        <p:nvSpPr>
          <p:cNvPr id="17" name="Shape 15"/>
          <p:cNvSpPr/>
          <p:nvPr/>
        </p:nvSpPr>
        <p:spPr>
          <a:xfrm>
            <a:off x="402336" y="4169664"/>
            <a:ext cx="219456" cy="219456"/>
          </a:xfrm>
          <a:prstGeom prst="rect">
            <a:avLst/>
          </a:prstGeom>
          <a:solidFill>
            <a:srgbClr val="14B8A6"/>
          </a:solidFill>
          <a:ln w="12700">
            <a:solidFill>
              <a:srgbClr val="14B8A6"/>
            </a:solidFill>
            <a:prstDash val="solid"/>
          </a:ln>
        </p:spPr>
      </p:sp>
      <p:sp>
        <p:nvSpPr>
          <p:cNvPr id="18" name="Text 16"/>
          <p:cNvSpPr/>
          <p:nvPr/>
        </p:nvSpPr>
        <p:spPr>
          <a:xfrm>
            <a:off x="402336" y="4169664"/>
            <a:ext cx="219456" cy="219456"/>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4</a:t>
            </a:r>
            <a:endParaRPr lang="en-US" sz="900" dirty="0"/>
          </a:p>
        </p:txBody>
      </p:sp>
      <p:sp>
        <p:nvSpPr>
          <p:cNvPr id="19" name="Text 17"/>
          <p:cNvSpPr/>
          <p:nvPr/>
        </p:nvSpPr>
        <p:spPr>
          <a:xfrm>
            <a:off x="694944" y="4169664"/>
            <a:ext cx="3108960" cy="512064"/>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First paying client: mid-size distributor</a:t>
            </a:r>
            <a:endParaRPr lang="en-US" sz="1050" dirty="0"/>
          </a:p>
        </p:txBody>
      </p:sp>
      <p:sp>
        <p:nvSpPr>
          <p:cNvPr id="20" name="Shape 18"/>
          <p:cNvSpPr/>
          <p:nvPr/>
        </p:nvSpPr>
        <p:spPr>
          <a:xfrm>
            <a:off x="402336" y="4864608"/>
            <a:ext cx="219456" cy="219456"/>
          </a:xfrm>
          <a:prstGeom prst="rect">
            <a:avLst/>
          </a:prstGeom>
          <a:solidFill>
            <a:srgbClr val="14B8A6"/>
          </a:solidFill>
          <a:ln w="12700">
            <a:solidFill>
              <a:srgbClr val="14B8A6"/>
            </a:solidFill>
            <a:prstDash val="solid"/>
          </a:ln>
        </p:spPr>
      </p:sp>
      <p:sp>
        <p:nvSpPr>
          <p:cNvPr id="21" name="Text 19"/>
          <p:cNvSpPr/>
          <p:nvPr/>
        </p:nvSpPr>
        <p:spPr>
          <a:xfrm>
            <a:off x="402336" y="4864608"/>
            <a:ext cx="219456" cy="219456"/>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5</a:t>
            </a:r>
            <a:endParaRPr lang="en-US" sz="900" dirty="0"/>
          </a:p>
        </p:txBody>
      </p:sp>
      <p:sp>
        <p:nvSpPr>
          <p:cNvPr id="22" name="Text 20"/>
          <p:cNvSpPr/>
          <p:nvPr/>
        </p:nvSpPr>
        <p:spPr>
          <a:xfrm>
            <a:off x="694944" y="4864608"/>
            <a:ext cx="3108960" cy="512064"/>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Book URA EFRIS partnership meeting</a:t>
            </a:r>
            <a:endParaRPr lang="en-US" sz="1050" dirty="0"/>
          </a:p>
        </p:txBody>
      </p:sp>
      <p:sp>
        <p:nvSpPr>
          <p:cNvPr id="23" name="Shape 21"/>
          <p:cNvSpPr/>
          <p:nvPr/>
        </p:nvSpPr>
        <p:spPr>
          <a:xfrm>
            <a:off x="402336" y="5559552"/>
            <a:ext cx="219456" cy="219456"/>
          </a:xfrm>
          <a:prstGeom prst="rect">
            <a:avLst/>
          </a:prstGeom>
          <a:solidFill>
            <a:srgbClr val="14B8A6"/>
          </a:solidFill>
          <a:ln w="12700">
            <a:solidFill>
              <a:srgbClr val="14B8A6"/>
            </a:solidFill>
            <a:prstDash val="solid"/>
          </a:ln>
        </p:spPr>
      </p:sp>
      <p:sp>
        <p:nvSpPr>
          <p:cNvPr id="24" name="Text 22"/>
          <p:cNvSpPr/>
          <p:nvPr/>
        </p:nvSpPr>
        <p:spPr>
          <a:xfrm>
            <a:off x="402336" y="5559552"/>
            <a:ext cx="219456" cy="219456"/>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6</a:t>
            </a:r>
            <a:endParaRPr lang="en-US" sz="900" dirty="0"/>
          </a:p>
        </p:txBody>
      </p:sp>
      <p:sp>
        <p:nvSpPr>
          <p:cNvPr id="25" name="Text 23"/>
          <p:cNvSpPr/>
          <p:nvPr/>
        </p:nvSpPr>
        <p:spPr>
          <a:xfrm>
            <a:off x="694944" y="5559552"/>
            <a:ext cx="3108960" cy="512064"/>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Target: 10 clients · UGX 150M MRR</a:t>
            </a:r>
            <a:endParaRPr lang="en-US" sz="1050" dirty="0"/>
          </a:p>
        </p:txBody>
      </p:sp>
      <p:sp>
        <p:nvSpPr>
          <p:cNvPr id="26" name="Shape 24"/>
          <p:cNvSpPr/>
          <p:nvPr/>
        </p:nvSpPr>
        <p:spPr>
          <a:xfrm>
            <a:off x="4251960" y="1508760"/>
            <a:ext cx="3657600" cy="5029200"/>
          </a:xfrm>
          <a:prstGeom prst="rect">
            <a:avLst/>
          </a:prstGeom>
          <a:solidFill>
            <a:srgbClr val="162D5E"/>
          </a:solidFill>
          <a:ln w="12700">
            <a:solidFill>
              <a:srgbClr val="E8C040"/>
            </a:solidFill>
            <a:prstDash val="solid"/>
          </a:ln>
        </p:spPr>
      </p:sp>
      <p:sp>
        <p:nvSpPr>
          <p:cNvPr id="27" name="Shape 25"/>
          <p:cNvSpPr/>
          <p:nvPr/>
        </p:nvSpPr>
        <p:spPr>
          <a:xfrm>
            <a:off x="4251960" y="1508760"/>
            <a:ext cx="3657600" cy="54864"/>
          </a:xfrm>
          <a:prstGeom prst="rect">
            <a:avLst/>
          </a:prstGeom>
          <a:solidFill>
            <a:srgbClr val="E8C040"/>
          </a:solidFill>
          <a:ln w="12700">
            <a:solidFill>
              <a:srgbClr val="E8C040"/>
            </a:solidFill>
            <a:prstDash val="solid"/>
          </a:ln>
        </p:spPr>
      </p:sp>
      <p:sp>
        <p:nvSpPr>
          <p:cNvPr id="28" name="Text 26"/>
          <p:cNvSpPr/>
          <p:nvPr/>
        </p:nvSpPr>
        <p:spPr>
          <a:xfrm>
            <a:off x="4379976" y="1627632"/>
            <a:ext cx="3401568" cy="292608"/>
          </a:xfrm>
          <a:prstGeom prst="rect">
            <a:avLst/>
          </a:prstGeom>
          <a:noFill/>
          <a:ln/>
        </p:spPr>
        <p:txBody>
          <a:bodyPr wrap="square" lIns="0" tIns="0" rIns="0" bIns="0" rtlCol="0" anchor="ctr"/>
          <a:lstStyle/>
          <a:p>
            <a:pPr indent="0" marL="0">
              <a:buNone/>
            </a:pPr>
            <a:r>
              <a:rPr lang="en-US" sz="1100" b="1" dirty="0">
                <a:solidFill>
                  <a:srgbClr val="E8C040"/>
                </a:solidFill>
                <a:latin typeface="Arial" pitchFamily="34" charset="0"/>
                <a:ea typeface="Arial" pitchFamily="34" charset="-122"/>
                <a:cs typeface="Arial" pitchFamily="34" charset="-120"/>
              </a:rPr>
              <a:t>Phase 2 · Month 6–18</a:t>
            </a:r>
            <a:endParaRPr lang="en-US" sz="1100" dirty="0"/>
          </a:p>
        </p:txBody>
      </p:sp>
      <p:sp>
        <p:nvSpPr>
          <p:cNvPr id="29" name="Shape 27"/>
          <p:cNvSpPr/>
          <p:nvPr/>
        </p:nvSpPr>
        <p:spPr>
          <a:xfrm>
            <a:off x="4379976" y="2084832"/>
            <a:ext cx="219456" cy="219456"/>
          </a:xfrm>
          <a:prstGeom prst="rect">
            <a:avLst/>
          </a:prstGeom>
          <a:solidFill>
            <a:srgbClr val="E8C040"/>
          </a:solidFill>
          <a:ln w="12700">
            <a:solidFill>
              <a:srgbClr val="E8C040"/>
            </a:solidFill>
            <a:prstDash val="solid"/>
          </a:ln>
        </p:spPr>
      </p:sp>
      <p:sp>
        <p:nvSpPr>
          <p:cNvPr id="30" name="Text 28"/>
          <p:cNvSpPr/>
          <p:nvPr/>
        </p:nvSpPr>
        <p:spPr>
          <a:xfrm>
            <a:off x="4379976" y="2084832"/>
            <a:ext cx="219456" cy="219456"/>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1</a:t>
            </a:r>
            <a:endParaRPr lang="en-US" sz="900" dirty="0"/>
          </a:p>
        </p:txBody>
      </p:sp>
      <p:sp>
        <p:nvSpPr>
          <p:cNvPr id="31" name="Text 29"/>
          <p:cNvSpPr/>
          <p:nvPr/>
        </p:nvSpPr>
        <p:spPr>
          <a:xfrm>
            <a:off x="4672584" y="2084832"/>
            <a:ext cx="3108960" cy="512064"/>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Enterprise contracts: KPI, Nile, Crown, Steel &amp; Tube</a:t>
            </a:r>
            <a:endParaRPr lang="en-US" sz="1050" dirty="0"/>
          </a:p>
        </p:txBody>
      </p:sp>
      <p:sp>
        <p:nvSpPr>
          <p:cNvPr id="32" name="Shape 30"/>
          <p:cNvSpPr/>
          <p:nvPr/>
        </p:nvSpPr>
        <p:spPr>
          <a:xfrm>
            <a:off x="4379976" y="2779776"/>
            <a:ext cx="219456" cy="219456"/>
          </a:xfrm>
          <a:prstGeom prst="rect">
            <a:avLst/>
          </a:prstGeom>
          <a:solidFill>
            <a:srgbClr val="E8C040"/>
          </a:solidFill>
          <a:ln w="12700">
            <a:solidFill>
              <a:srgbClr val="E8C040"/>
            </a:solidFill>
            <a:prstDash val="solid"/>
          </a:ln>
        </p:spPr>
      </p:sp>
      <p:sp>
        <p:nvSpPr>
          <p:cNvPr id="33" name="Text 31"/>
          <p:cNvSpPr/>
          <p:nvPr/>
        </p:nvSpPr>
        <p:spPr>
          <a:xfrm>
            <a:off x="4379976" y="2779776"/>
            <a:ext cx="219456" cy="219456"/>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2</a:t>
            </a:r>
            <a:endParaRPr lang="en-US" sz="900" dirty="0"/>
          </a:p>
        </p:txBody>
      </p:sp>
      <p:sp>
        <p:nvSpPr>
          <p:cNvPr id="34" name="Text 32"/>
          <p:cNvSpPr/>
          <p:nvPr/>
        </p:nvSpPr>
        <p:spPr>
          <a:xfrm>
            <a:off x="4672584" y="2779776"/>
            <a:ext cx="3108960" cy="512064"/>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URA endorsement as EFRIS integration partner</a:t>
            </a:r>
            <a:endParaRPr lang="en-US" sz="1050" dirty="0"/>
          </a:p>
        </p:txBody>
      </p:sp>
      <p:sp>
        <p:nvSpPr>
          <p:cNvPr id="35" name="Shape 33"/>
          <p:cNvSpPr/>
          <p:nvPr/>
        </p:nvSpPr>
        <p:spPr>
          <a:xfrm>
            <a:off x="4379976" y="3474720"/>
            <a:ext cx="219456" cy="219456"/>
          </a:xfrm>
          <a:prstGeom prst="rect">
            <a:avLst/>
          </a:prstGeom>
          <a:solidFill>
            <a:srgbClr val="E8C040"/>
          </a:solidFill>
          <a:ln w="12700">
            <a:solidFill>
              <a:srgbClr val="E8C040"/>
            </a:solidFill>
            <a:prstDash val="solid"/>
          </a:ln>
        </p:spPr>
      </p:sp>
      <p:sp>
        <p:nvSpPr>
          <p:cNvPr id="36" name="Text 34"/>
          <p:cNvSpPr/>
          <p:nvPr/>
        </p:nvSpPr>
        <p:spPr>
          <a:xfrm>
            <a:off x="4379976" y="3474720"/>
            <a:ext cx="219456" cy="219456"/>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3</a:t>
            </a:r>
            <a:endParaRPr lang="en-US" sz="900" dirty="0"/>
          </a:p>
        </p:txBody>
      </p:sp>
      <p:sp>
        <p:nvSpPr>
          <p:cNvPr id="37" name="Text 35"/>
          <p:cNvSpPr/>
          <p:nvPr/>
        </p:nvSpPr>
        <p:spPr>
          <a:xfrm>
            <a:off x="4672584" y="3474720"/>
            <a:ext cx="3108960" cy="512064"/>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VerifyUG pilot: KPI Pharmaceuticals</a:t>
            </a:r>
            <a:endParaRPr lang="en-US" sz="1050" dirty="0"/>
          </a:p>
        </p:txBody>
      </p:sp>
      <p:sp>
        <p:nvSpPr>
          <p:cNvPr id="38" name="Shape 36"/>
          <p:cNvSpPr/>
          <p:nvPr/>
        </p:nvSpPr>
        <p:spPr>
          <a:xfrm>
            <a:off x="4379976" y="4169664"/>
            <a:ext cx="219456" cy="219456"/>
          </a:xfrm>
          <a:prstGeom prst="rect">
            <a:avLst/>
          </a:prstGeom>
          <a:solidFill>
            <a:srgbClr val="E8C040"/>
          </a:solidFill>
          <a:ln w="12700">
            <a:solidFill>
              <a:srgbClr val="E8C040"/>
            </a:solidFill>
            <a:prstDash val="solid"/>
          </a:ln>
        </p:spPr>
      </p:sp>
      <p:sp>
        <p:nvSpPr>
          <p:cNvPr id="39" name="Text 37"/>
          <p:cNvSpPr/>
          <p:nvPr/>
        </p:nvSpPr>
        <p:spPr>
          <a:xfrm>
            <a:off x="4379976" y="4169664"/>
            <a:ext cx="219456" cy="219456"/>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4</a:t>
            </a:r>
            <a:endParaRPr lang="en-US" sz="900" dirty="0"/>
          </a:p>
        </p:txBody>
      </p:sp>
      <p:sp>
        <p:nvSpPr>
          <p:cNvPr id="40" name="Text 38"/>
          <p:cNvSpPr/>
          <p:nvPr/>
        </p:nvSpPr>
        <p:spPr>
          <a:xfrm>
            <a:off x="4672584" y="4169664"/>
            <a:ext cx="3108960" cy="512064"/>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EFRIS Bridge: 100K informal businesses</a:t>
            </a:r>
            <a:endParaRPr lang="en-US" sz="1050" dirty="0"/>
          </a:p>
        </p:txBody>
      </p:sp>
      <p:sp>
        <p:nvSpPr>
          <p:cNvPr id="41" name="Shape 39"/>
          <p:cNvSpPr/>
          <p:nvPr/>
        </p:nvSpPr>
        <p:spPr>
          <a:xfrm>
            <a:off x="4379976" y="4864608"/>
            <a:ext cx="219456" cy="219456"/>
          </a:xfrm>
          <a:prstGeom prst="rect">
            <a:avLst/>
          </a:prstGeom>
          <a:solidFill>
            <a:srgbClr val="E8C040"/>
          </a:solidFill>
          <a:ln w="12700">
            <a:solidFill>
              <a:srgbClr val="E8C040"/>
            </a:solidFill>
            <a:prstDash val="solid"/>
          </a:ln>
        </p:spPr>
      </p:sp>
      <p:sp>
        <p:nvSpPr>
          <p:cNvPr id="42" name="Text 40"/>
          <p:cNvSpPr/>
          <p:nvPr/>
        </p:nvSpPr>
        <p:spPr>
          <a:xfrm>
            <a:off x="4379976" y="4864608"/>
            <a:ext cx="219456" cy="219456"/>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5</a:t>
            </a:r>
            <a:endParaRPr lang="en-US" sz="900" dirty="0"/>
          </a:p>
        </p:txBody>
      </p:sp>
      <p:sp>
        <p:nvSpPr>
          <p:cNvPr id="43" name="Text 41"/>
          <p:cNvSpPr/>
          <p:nvPr/>
        </p:nvSpPr>
        <p:spPr>
          <a:xfrm>
            <a:off x="4672584" y="4864608"/>
            <a:ext cx="3108960" cy="512064"/>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IMF/World Bank grant application</a:t>
            </a:r>
            <a:endParaRPr lang="en-US" sz="1050" dirty="0"/>
          </a:p>
        </p:txBody>
      </p:sp>
      <p:sp>
        <p:nvSpPr>
          <p:cNvPr id="44" name="Shape 42"/>
          <p:cNvSpPr/>
          <p:nvPr/>
        </p:nvSpPr>
        <p:spPr>
          <a:xfrm>
            <a:off x="4379976" y="5559552"/>
            <a:ext cx="219456" cy="219456"/>
          </a:xfrm>
          <a:prstGeom prst="rect">
            <a:avLst/>
          </a:prstGeom>
          <a:solidFill>
            <a:srgbClr val="E8C040"/>
          </a:solidFill>
          <a:ln w="12700">
            <a:solidFill>
              <a:srgbClr val="E8C040"/>
            </a:solidFill>
            <a:prstDash val="solid"/>
          </a:ln>
        </p:spPr>
      </p:sp>
      <p:sp>
        <p:nvSpPr>
          <p:cNvPr id="45" name="Text 43"/>
          <p:cNvSpPr/>
          <p:nvPr/>
        </p:nvSpPr>
        <p:spPr>
          <a:xfrm>
            <a:off x="4379976" y="5559552"/>
            <a:ext cx="219456" cy="219456"/>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6</a:t>
            </a:r>
            <a:endParaRPr lang="en-US" sz="900" dirty="0"/>
          </a:p>
        </p:txBody>
      </p:sp>
      <p:sp>
        <p:nvSpPr>
          <p:cNvPr id="46" name="Text 44"/>
          <p:cNvSpPr/>
          <p:nvPr/>
        </p:nvSpPr>
        <p:spPr>
          <a:xfrm>
            <a:off x="4672584" y="5559552"/>
            <a:ext cx="3108960" cy="512064"/>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Target: 30+ clients · UGX 800M MRR</a:t>
            </a:r>
            <a:endParaRPr lang="en-US" sz="1050" dirty="0"/>
          </a:p>
        </p:txBody>
      </p:sp>
      <p:sp>
        <p:nvSpPr>
          <p:cNvPr id="47" name="Shape 45"/>
          <p:cNvSpPr/>
          <p:nvPr/>
        </p:nvSpPr>
        <p:spPr>
          <a:xfrm>
            <a:off x="8229600" y="1508760"/>
            <a:ext cx="3657600" cy="5029200"/>
          </a:xfrm>
          <a:prstGeom prst="rect">
            <a:avLst/>
          </a:prstGeom>
          <a:solidFill>
            <a:srgbClr val="162D5E"/>
          </a:solidFill>
          <a:ln w="12700">
            <a:solidFill>
              <a:srgbClr val="22C55E"/>
            </a:solidFill>
            <a:prstDash val="solid"/>
          </a:ln>
        </p:spPr>
      </p:sp>
      <p:sp>
        <p:nvSpPr>
          <p:cNvPr id="48" name="Shape 46"/>
          <p:cNvSpPr/>
          <p:nvPr/>
        </p:nvSpPr>
        <p:spPr>
          <a:xfrm>
            <a:off x="8229600" y="1508760"/>
            <a:ext cx="3657600" cy="54864"/>
          </a:xfrm>
          <a:prstGeom prst="rect">
            <a:avLst/>
          </a:prstGeom>
          <a:solidFill>
            <a:srgbClr val="22C55E"/>
          </a:solidFill>
          <a:ln w="12700">
            <a:solidFill>
              <a:srgbClr val="22C55E"/>
            </a:solidFill>
            <a:prstDash val="solid"/>
          </a:ln>
        </p:spPr>
      </p:sp>
      <p:sp>
        <p:nvSpPr>
          <p:cNvPr id="49" name="Text 47"/>
          <p:cNvSpPr/>
          <p:nvPr/>
        </p:nvSpPr>
        <p:spPr>
          <a:xfrm>
            <a:off x="8357616" y="1627632"/>
            <a:ext cx="3401568" cy="292608"/>
          </a:xfrm>
          <a:prstGeom prst="rect">
            <a:avLst/>
          </a:prstGeom>
          <a:noFill/>
          <a:ln/>
        </p:spPr>
        <p:txBody>
          <a:bodyPr wrap="square" lIns="0" tIns="0" rIns="0" bIns="0" rtlCol="0" anchor="ctr"/>
          <a:lstStyle/>
          <a:p>
            <a:pPr indent="0" marL="0">
              <a:buNone/>
            </a:pPr>
            <a:r>
              <a:rPr lang="en-US" sz="1100" b="1" dirty="0">
                <a:solidFill>
                  <a:srgbClr val="22C55E"/>
                </a:solidFill>
                <a:latin typeface="Arial" pitchFamily="34" charset="0"/>
                <a:ea typeface="Arial" pitchFamily="34" charset="-122"/>
                <a:cs typeface="Arial" pitchFamily="34" charset="-120"/>
              </a:rPr>
              <a:t>Phase 3 · Year 2+</a:t>
            </a:r>
            <a:endParaRPr lang="en-US" sz="1100" dirty="0"/>
          </a:p>
        </p:txBody>
      </p:sp>
      <p:sp>
        <p:nvSpPr>
          <p:cNvPr id="50" name="Shape 48"/>
          <p:cNvSpPr/>
          <p:nvPr/>
        </p:nvSpPr>
        <p:spPr>
          <a:xfrm>
            <a:off x="8357616" y="2084832"/>
            <a:ext cx="219456" cy="219456"/>
          </a:xfrm>
          <a:prstGeom prst="rect">
            <a:avLst/>
          </a:prstGeom>
          <a:solidFill>
            <a:srgbClr val="22C55E"/>
          </a:solidFill>
          <a:ln w="12700">
            <a:solidFill>
              <a:srgbClr val="22C55E"/>
            </a:solidFill>
            <a:prstDash val="solid"/>
          </a:ln>
        </p:spPr>
      </p:sp>
      <p:sp>
        <p:nvSpPr>
          <p:cNvPr id="51" name="Text 49"/>
          <p:cNvSpPr/>
          <p:nvPr/>
        </p:nvSpPr>
        <p:spPr>
          <a:xfrm>
            <a:off x="8357616" y="2084832"/>
            <a:ext cx="219456" cy="219456"/>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1</a:t>
            </a:r>
            <a:endParaRPr lang="en-US" sz="900" dirty="0"/>
          </a:p>
        </p:txBody>
      </p:sp>
      <p:sp>
        <p:nvSpPr>
          <p:cNvPr id="52" name="Text 50"/>
          <p:cNvSpPr/>
          <p:nvPr/>
        </p:nvSpPr>
        <p:spPr>
          <a:xfrm>
            <a:off x="8650224" y="2084832"/>
            <a:ext cx="3108960" cy="512064"/>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Government contracts: URA, MoF, Customs</a:t>
            </a:r>
            <a:endParaRPr lang="en-US" sz="1050" dirty="0"/>
          </a:p>
        </p:txBody>
      </p:sp>
      <p:sp>
        <p:nvSpPr>
          <p:cNvPr id="53" name="Shape 51"/>
          <p:cNvSpPr/>
          <p:nvPr/>
        </p:nvSpPr>
        <p:spPr>
          <a:xfrm>
            <a:off x="8357616" y="2779776"/>
            <a:ext cx="219456" cy="219456"/>
          </a:xfrm>
          <a:prstGeom prst="rect">
            <a:avLst/>
          </a:prstGeom>
          <a:solidFill>
            <a:srgbClr val="22C55E"/>
          </a:solidFill>
          <a:ln w="12700">
            <a:solidFill>
              <a:srgbClr val="22C55E"/>
            </a:solidFill>
            <a:prstDash val="solid"/>
          </a:ln>
        </p:spPr>
      </p:sp>
      <p:sp>
        <p:nvSpPr>
          <p:cNvPr id="54" name="Text 52"/>
          <p:cNvSpPr/>
          <p:nvPr/>
        </p:nvSpPr>
        <p:spPr>
          <a:xfrm>
            <a:off x="8357616" y="2779776"/>
            <a:ext cx="219456" cy="219456"/>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2</a:t>
            </a:r>
            <a:endParaRPr lang="en-US" sz="900" dirty="0"/>
          </a:p>
        </p:txBody>
      </p:sp>
      <p:sp>
        <p:nvSpPr>
          <p:cNvPr id="55" name="Text 53"/>
          <p:cNvSpPr/>
          <p:nvPr/>
        </p:nvSpPr>
        <p:spPr>
          <a:xfrm>
            <a:off x="8650224" y="2779776"/>
            <a:ext cx="3108960" cy="512064"/>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Expand to Kenya, Tanzania, Rwanda</a:t>
            </a:r>
            <a:endParaRPr lang="en-US" sz="1050" dirty="0"/>
          </a:p>
        </p:txBody>
      </p:sp>
      <p:sp>
        <p:nvSpPr>
          <p:cNvPr id="56" name="Shape 54"/>
          <p:cNvSpPr/>
          <p:nvPr/>
        </p:nvSpPr>
        <p:spPr>
          <a:xfrm>
            <a:off x="8357616" y="3474720"/>
            <a:ext cx="219456" cy="219456"/>
          </a:xfrm>
          <a:prstGeom prst="rect">
            <a:avLst/>
          </a:prstGeom>
          <a:solidFill>
            <a:srgbClr val="22C55E"/>
          </a:solidFill>
          <a:ln w="12700">
            <a:solidFill>
              <a:srgbClr val="22C55E"/>
            </a:solidFill>
            <a:prstDash val="solid"/>
          </a:ln>
        </p:spPr>
      </p:sp>
      <p:sp>
        <p:nvSpPr>
          <p:cNvPr id="57" name="Text 55"/>
          <p:cNvSpPr/>
          <p:nvPr/>
        </p:nvSpPr>
        <p:spPr>
          <a:xfrm>
            <a:off x="8357616" y="3474720"/>
            <a:ext cx="219456" cy="219456"/>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3</a:t>
            </a:r>
            <a:endParaRPr lang="en-US" sz="900" dirty="0"/>
          </a:p>
        </p:txBody>
      </p:sp>
      <p:sp>
        <p:nvSpPr>
          <p:cNvPr id="58" name="Text 56"/>
          <p:cNvSpPr/>
          <p:nvPr/>
        </p:nvSpPr>
        <p:spPr>
          <a:xfrm>
            <a:off x="8650224" y="3474720"/>
            <a:ext cx="3108960" cy="512064"/>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Series A: East Africa impact investors</a:t>
            </a:r>
            <a:endParaRPr lang="en-US" sz="1050" dirty="0"/>
          </a:p>
        </p:txBody>
      </p:sp>
      <p:sp>
        <p:nvSpPr>
          <p:cNvPr id="59" name="Shape 57"/>
          <p:cNvSpPr/>
          <p:nvPr/>
        </p:nvSpPr>
        <p:spPr>
          <a:xfrm>
            <a:off x="8357616" y="4169664"/>
            <a:ext cx="219456" cy="219456"/>
          </a:xfrm>
          <a:prstGeom prst="rect">
            <a:avLst/>
          </a:prstGeom>
          <a:solidFill>
            <a:srgbClr val="22C55E"/>
          </a:solidFill>
          <a:ln w="12700">
            <a:solidFill>
              <a:srgbClr val="22C55E"/>
            </a:solidFill>
            <a:prstDash val="solid"/>
          </a:ln>
        </p:spPr>
      </p:sp>
      <p:sp>
        <p:nvSpPr>
          <p:cNvPr id="60" name="Text 58"/>
          <p:cNvSpPr/>
          <p:nvPr/>
        </p:nvSpPr>
        <p:spPr>
          <a:xfrm>
            <a:off x="8357616" y="4169664"/>
            <a:ext cx="219456" cy="219456"/>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4</a:t>
            </a:r>
            <a:endParaRPr lang="en-US" sz="900" dirty="0"/>
          </a:p>
        </p:txBody>
      </p:sp>
      <p:sp>
        <p:nvSpPr>
          <p:cNvPr id="61" name="Text 59"/>
          <p:cNvSpPr/>
          <p:nvPr/>
        </p:nvSpPr>
        <p:spPr>
          <a:xfrm>
            <a:off x="8650224" y="4169664"/>
            <a:ext cx="3108960" cy="512064"/>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RetailPulse: 250K outlets reporting</a:t>
            </a:r>
            <a:endParaRPr lang="en-US" sz="1050" dirty="0"/>
          </a:p>
        </p:txBody>
      </p:sp>
      <p:sp>
        <p:nvSpPr>
          <p:cNvPr id="62" name="Shape 60"/>
          <p:cNvSpPr/>
          <p:nvPr/>
        </p:nvSpPr>
        <p:spPr>
          <a:xfrm>
            <a:off x="8357616" y="4864608"/>
            <a:ext cx="219456" cy="219456"/>
          </a:xfrm>
          <a:prstGeom prst="rect">
            <a:avLst/>
          </a:prstGeom>
          <a:solidFill>
            <a:srgbClr val="22C55E"/>
          </a:solidFill>
          <a:ln w="12700">
            <a:solidFill>
              <a:srgbClr val="22C55E"/>
            </a:solidFill>
            <a:prstDash val="solid"/>
          </a:ln>
        </p:spPr>
      </p:sp>
      <p:sp>
        <p:nvSpPr>
          <p:cNvPr id="63" name="Text 61"/>
          <p:cNvSpPr/>
          <p:nvPr/>
        </p:nvSpPr>
        <p:spPr>
          <a:xfrm>
            <a:off x="8357616" y="4864608"/>
            <a:ext cx="219456" cy="219456"/>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5</a:t>
            </a:r>
            <a:endParaRPr lang="en-US" sz="900" dirty="0"/>
          </a:p>
        </p:txBody>
      </p:sp>
      <p:sp>
        <p:nvSpPr>
          <p:cNvPr id="64" name="Text 62"/>
          <p:cNvSpPr/>
          <p:nvPr/>
        </p:nvSpPr>
        <p:spPr>
          <a:xfrm>
            <a:off x="8650224" y="4864608"/>
            <a:ext cx="3108960" cy="512064"/>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MoMo tax withholding engine (MTN/Airtel)</a:t>
            </a:r>
            <a:endParaRPr lang="en-US" sz="1050" dirty="0"/>
          </a:p>
        </p:txBody>
      </p:sp>
      <p:sp>
        <p:nvSpPr>
          <p:cNvPr id="65" name="Shape 63"/>
          <p:cNvSpPr/>
          <p:nvPr/>
        </p:nvSpPr>
        <p:spPr>
          <a:xfrm>
            <a:off x="8357616" y="5559552"/>
            <a:ext cx="219456" cy="219456"/>
          </a:xfrm>
          <a:prstGeom prst="rect">
            <a:avLst/>
          </a:prstGeom>
          <a:solidFill>
            <a:srgbClr val="22C55E"/>
          </a:solidFill>
          <a:ln w="12700">
            <a:solidFill>
              <a:srgbClr val="22C55E"/>
            </a:solidFill>
            <a:prstDash val="solid"/>
          </a:ln>
        </p:spPr>
      </p:sp>
      <p:sp>
        <p:nvSpPr>
          <p:cNvPr id="66" name="Text 64"/>
          <p:cNvSpPr/>
          <p:nvPr/>
        </p:nvSpPr>
        <p:spPr>
          <a:xfrm>
            <a:off x="8357616" y="5559552"/>
            <a:ext cx="219456" cy="219456"/>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6</a:t>
            </a:r>
            <a:endParaRPr lang="en-US" sz="900" dirty="0"/>
          </a:p>
        </p:txBody>
      </p:sp>
      <p:sp>
        <p:nvSpPr>
          <p:cNvPr id="67" name="Text 65"/>
          <p:cNvSpPr/>
          <p:nvPr/>
        </p:nvSpPr>
        <p:spPr>
          <a:xfrm>
            <a:off x="8650224" y="5559552"/>
            <a:ext cx="3108960" cy="512064"/>
          </a:xfrm>
          <a:prstGeom prst="rect">
            <a:avLst/>
          </a:prstGeom>
          <a:noFill/>
          <a:ln/>
        </p:spPr>
        <p:txBody>
          <a:bodyPr wrap="square" lIns="0" tIns="0" rIns="0" bIns="0" rtlCol="0" anchor="ctr"/>
          <a:lstStyle/>
          <a:p>
            <a:pPr indent="0" marL="0">
              <a:buNone/>
            </a:pPr>
            <a:r>
              <a:rPr lang="en-US" sz="1050" dirty="0">
                <a:solidFill>
                  <a:srgbClr val="94A3B8"/>
                </a:solidFill>
                <a:latin typeface="Arial" pitchFamily="34" charset="0"/>
                <a:ea typeface="Arial" pitchFamily="34" charset="-122"/>
                <a:cs typeface="Arial" pitchFamily="34" charset="-120"/>
              </a:rPr>
              <a:t>Target: National fiscal infrastructure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C2048"/>
          </a:solidFill>
          <a:ln w="12700">
            <a:solidFill>
              <a:srgbClr val="0C2048"/>
            </a:solidFill>
            <a:prstDash val="solid"/>
          </a:ln>
        </p:spPr>
      </p:sp>
      <p:sp>
        <p:nvSpPr>
          <p:cNvPr id="3" name="Shape 1"/>
          <p:cNvSpPr/>
          <p:nvPr/>
        </p:nvSpPr>
        <p:spPr>
          <a:xfrm>
            <a:off x="0" y="0"/>
            <a:ext cx="12161520" cy="1005840"/>
          </a:xfrm>
          <a:prstGeom prst="rect">
            <a:avLst/>
          </a:prstGeom>
          <a:solidFill>
            <a:srgbClr val="0C2048"/>
          </a:solidFill>
          <a:ln w="12700">
            <a:solidFill>
              <a:srgbClr val="0C2048"/>
            </a:solidFill>
            <a:prstDash val="solid"/>
          </a:ln>
        </p:spPr>
      </p:sp>
      <p:sp>
        <p:nvSpPr>
          <p:cNvPr id="4" name="Text 2"/>
          <p:cNvSpPr/>
          <p:nvPr/>
        </p:nvSpPr>
        <p:spPr>
          <a:xfrm>
            <a:off x="347472" y="146304"/>
            <a:ext cx="4572000" cy="274320"/>
          </a:xfrm>
          <a:prstGeom prst="rect">
            <a:avLst/>
          </a:prstGeom>
          <a:noFill/>
          <a:ln/>
        </p:spPr>
        <p:txBody>
          <a:bodyPr wrap="square" lIns="0" tIns="0" rIns="0" bIns="0" rtlCol="0" anchor="ctr"/>
          <a:lstStyle/>
          <a:p>
            <a:pPr indent="0" marL="0">
              <a:buNone/>
            </a:pPr>
            <a:r>
              <a:rPr lang="en-US" sz="1000" b="1" spc="400" kern="0" dirty="0">
                <a:solidFill>
                  <a:srgbClr val="E8C040"/>
                </a:solidFill>
                <a:latin typeface="Arial" pitchFamily="34" charset="0"/>
                <a:ea typeface="Arial" pitchFamily="34" charset="-122"/>
                <a:cs typeface="Arial" pitchFamily="34" charset="-120"/>
              </a:rPr>
              <a:t>TRACTION &amp; PROOF POINTS</a:t>
            </a:r>
            <a:endParaRPr lang="en-US" sz="1000" dirty="0"/>
          </a:p>
        </p:txBody>
      </p:sp>
      <p:sp>
        <p:nvSpPr>
          <p:cNvPr id="5" name="Text 3"/>
          <p:cNvSpPr/>
          <p:nvPr/>
        </p:nvSpPr>
        <p:spPr>
          <a:xfrm>
            <a:off x="347472" y="402336"/>
            <a:ext cx="11430000" cy="47548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Not a Concept. Live Data from a Running System.</a:t>
            </a:r>
            <a:endParaRPr lang="en-US" sz="2200" dirty="0"/>
          </a:p>
        </p:txBody>
      </p:sp>
      <p:sp>
        <p:nvSpPr>
          <p:cNvPr id="6" name="Shape 4"/>
          <p:cNvSpPr/>
          <p:nvPr/>
        </p:nvSpPr>
        <p:spPr>
          <a:xfrm>
            <a:off x="274320" y="1261872"/>
            <a:ext cx="3749040" cy="21945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74320" y="1261872"/>
            <a:ext cx="3749040" cy="54864"/>
          </a:xfrm>
          <a:prstGeom prst="rect">
            <a:avLst/>
          </a:prstGeom>
          <a:solidFill>
            <a:srgbClr val="22C55E"/>
          </a:solidFill>
          <a:ln w="12700">
            <a:solidFill>
              <a:srgbClr val="22C55E"/>
            </a:solidFill>
            <a:prstDash val="solid"/>
          </a:ln>
        </p:spPr>
      </p:sp>
      <p:sp>
        <p:nvSpPr>
          <p:cNvPr id="8" name="Text 6"/>
          <p:cNvSpPr/>
          <p:nvPr/>
        </p:nvSpPr>
        <p:spPr>
          <a:xfrm>
            <a:off x="438912" y="1389888"/>
            <a:ext cx="3419856" cy="768096"/>
          </a:xfrm>
          <a:prstGeom prst="rect">
            <a:avLst/>
          </a:prstGeom>
          <a:noFill/>
          <a:ln/>
        </p:spPr>
        <p:txBody>
          <a:bodyPr wrap="square" lIns="0" tIns="0" rIns="0" bIns="0" rtlCol="0" anchor="ctr"/>
          <a:lstStyle/>
          <a:p>
            <a:pPr indent="0" marL="0">
              <a:buNone/>
            </a:pPr>
            <a:r>
              <a:rPr lang="en-US" sz="4000" b="1" dirty="0">
                <a:solidFill>
                  <a:srgbClr val="22C55E"/>
                </a:solidFill>
                <a:latin typeface="Arial" pitchFamily="34" charset="0"/>
                <a:ea typeface="Arial" pitchFamily="34" charset="-122"/>
                <a:cs typeface="Arial" pitchFamily="34" charset="-120"/>
              </a:rPr>
              <a:t>14,820</a:t>
            </a:r>
            <a:endParaRPr lang="en-US" sz="4000" dirty="0"/>
          </a:p>
        </p:txBody>
      </p:sp>
      <p:sp>
        <p:nvSpPr>
          <p:cNvPr id="9" name="Text 7"/>
          <p:cNvSpPr/>
          <p:nvPr/>
        </p:nvSpPr>
        <p:spPr>
          <a:xfrm>
            <a:off x="438912" y="2194560"/>
            <a:ext cx="3419856" cy="475488"/>
          </a:xfrm>
          <a:prstGeom prst="rect">
            <a:avLst/>
          </a:prstGeom>
          <a:noFill/>
          <a:ln/>
        </p:spPr>
        <p:txBody>
          <a:bodyPr wrap="square" lIns="0" tIns="0" rIns="0" bIns="0" rtlCol="0" anchor="ctr"/>
          <a:lstStyle/>
          <a:p>
            <a:pPr indent="0" marL="0">
              <a:buNone/>
            </a:pPr>
            <a:r>
              <a:rPr lang="en-US" sz="1200" b="1" dirty="0">
                <a:solidFill>
                  <a:srgbClr val="1C1C18"/>
                </a:solidFill>
                <a:latin typeface="Arial" pitchFamily="34" charset="0"/>
                <a:ea typeface="Arial" pitchFamily="34" charset="-122"/>
                <a:cs typeface="Arial" pitchFamily="34" charset="-120"/>
              </a:rPr>
              <a:t>Informal businesses enrolled on EFRIS Bridge</a:t>
            </a:r>
            <a:endParaRPr lang="en-US" sz="1200" dirty="0"/>
          </a:p>
        </p:txBody>
      </p:sp>
      <p:sp>
        <p:nvSpPr>
          <p:cNvPr id="10" name="Text 8"/>
          <p:cNvSpPr/>
          <p:nvPr/>
        </p:nvSpPr>
        <p:spPr>
          <a:xfrm>
            <a:off x="438912" y="2688336"/>
            <a:ext cx="3419856" cy="475488"/>
          </a:xfrm>
          <a:prstGeom prst="rect">
            <a:avLst/>
          </a:prstGeom>
          <a:noFill/>
          <a:ln/>
        </p:spPr>
        <p:txBody>
          <a:bodyPr wrap="square" lIns="0" tIns="0" rIns="0" bIns="0" rtlCol="0" anchor="ctr"/>
          <a:lstStyle/>
          <a:p>
            <a:pPr indent="0" marL="0">
              <a:buNone/>
            </a:pPr>
            <a:r>
              <a:rPr lang="en-US" sz="1000" dirty="0">
                <a:solidFill>
                  <a:srgbClr val="5A5848"/>
                </a:solidFill>
                <a:latin typeface="Arial" pitchFamily="34" charset="0"/>
                <a:ea typeface="Arial" pitchFamily="34" charset="-122"/>
                <a:cs typeface="Arial" pitchFamily="34" charset="-120"/>
              </a:rPr>
              <a:t>Active and filing via USSD *284# and WhatsApp</a:t>
            </a:r>
            <a:endParaRPr lang="en-US" sz="1000" dirty="0"/>
          </a:p>
        </p:txBody>
      </p:sp>
      <p:sp>
        <p:nvSpPr>
          <p:cNvPr id="11" name="Shape 9"/>
          <p:cNvSpPr/>
          <p:nvPr/>
        </p:nvSpPr>
        <p:spPr>
          <a:xfrm>
            <a:off x="4206240" y="1261872"/>
            <a:ext cx="3749040" cy="21945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4206240" y="1261872"/>
            <a:ext cx="3749040" cy="54864"/>
          </a:xfrm>
          <a:prstGeom prst="rect">
            <a:avLst/>
          </a:prstGeom>
          <a:solidFill>
            <a:srgbClr val="E8C040"/>
          </a:solidFill>
          <a:ln w="12700">
            <a:solidFill>
              <a:srgbClr val="E8C040"/>
            </a:solidFill>
            <a:prstDash val="solid"/>
          </a:ln>
        </p:spPr>
      </p:sp>
      <p:sp>
        <p:nvSpPr>
          <p:cNvPr id="13" name="Text 11"/>
          <p:cNvSpPr/>
          <p:nvPr/>
        </p:nvSpPr>
        <p:spPr>
          <a:xfrm>
            <a:off x="4370832" y="1389888"/>
            <a:ext cx="3419856" cy="768096"/>
          </a:xfrm>
          <a:prstGeom prst="rect">
            <a:avLst/>
          </a:prstGeom>
          <a:noFill/>
          <a:ln/>
        </p:spPr>
        <p:txBody>
          <a:bodyPr wrap="square" lIns="0" tIns="0" rIns="0" bIns="0" rtlCol="0" anchor="ctr"/>
          <a:lstStyle/>
          <a:p>
            <a:pPr indent="0" marL="0">
              <a:buNone/>
            </a:pPr>
            <a:r>
              <a:rPr lang="en-US" sz="4000" b="1" dirty="0">
                <a:solidFill>
                  <a:srgbClr val="E8C040"/>
                </a:solidFill>
                <a:latin typeface="Arial" pitchFamily="34" charset="0"/>
                <a:ea typeface="Arial" pitchFamily="34" charset="-122"/>
                <a:cs typeface="Arial" pitchFamily="34" charset="-120"/>
              </a:rPr>
              <a:t>UGX 3.8B</a:t>
            </a:r>
            <a:endParaRPr lang="en-US" sz="4000" dirty="0"/>
          </a:p>
        </p:txBody>
      </p:sp>
      <p:sp>
        <p:nvSpPr>
          <p:cNvPr id="14" name="Text 12"/>
          <p:cNvSpPr/>
          <p:nvPr/>
        </p:nvSpPr>
        <p:spPr>
          <a:xfrm>
            <a:off x="4370832" y="2194560"/>
            <a:ext cx="3419856" cy="475488"/>
          </a:xfrm>
          <a:prstGeom prst="rect">
            <a:avLst/>
          </a:prstGeom>
          <a:noFill/>
          <a:ln/>
        </p:spPr>
        <p:txBody>
          <a:bodyPr wrap="square" lIns="0" tIns="0" rIns="0" bIns="0" rtlCol="0" anchor="ctr"/>
          <a:lstStyle/>
          <a:p>
            <a:pPr indent="0" marL="0">
              <a:buNone/>
            </a:pPr>
            <a:r>
              <a:rPr lang="en-US" sz="1200" b="1" dirty="0">
                <a:solidFill>
                  <a:srgbClr val="1C1C18"/>
                </a:solidFill>
                <a:latin typeface="Arial" pitchFamily="34" charset="0"/>
                <a:ea typeface="Arial" pitchFamily="34" charset="-122"/>
                <a:cs typeface="Arial" pitchFamily="34" charset="-120"/>
              </a:rPr>
              <a:t>New tax captured monthly via EFRIS Bridge</a:t>
            </a:r>
            <a:endParaRPr lang="en-US" sz="1200" dirty="0"/>
          </a:p>
        </p:txBody>
      </p:sp>
      <p:sp>
        <p:nvSpPr>
          <p:cNvPr id="15" name="Text 13"/>
          <p:cNvSpPr/>
          <p:nvPr/>
        </p:nvSpPr>
        <p:spPr>
          <a:xfrm>
            <a:off x="4370832" y="2688336"/>
            <a:ext cx="3419856" cy="475488"/>
          </a:xfrm>
          <a:prstGeom prst="rect">
            <a:avLst/>
          </a:prstGeom>
          <a:noFill/>
          <a:ln/>
        </p:spPr>
        <p:txBody>
          <a:bodyPr wrap="square" lIns="0" tIns="0" rIns="0" bIns="0" rtlCol="0" anchor="ctr"/>
          <a:lstStyle/>
          <a:p>
            <a:pPr indent="0" marL="0">
              <a:buNone/>
            </a:pPr>
            <a:r>
              <a:rPr lang="en-US" sz="1000" dirty="0">
                <a:solidFill>
                  <a:srgbClr val="5A5848"/>
                </a:solidFill>
                <a:latin typeface="Arial" pitchFamily="34" charset="0"/>
                <a:ea typeface="Arial" pitchFamily="34" charset="-122"/>
                <a:cs typeface="Arial" pitchFamily="34" charset="-120"/>
              </a:rPr>
              <a:t>Previously completely outside the tax net</a:t>
            </a:r>
            <a:endParaRPr lang="en-US" sz="1000" dirty="0"/>
          </a:p>
        </p:txBody>
      </p:sp>
      <p:sp>
        <p:nvSpPr>
          <p:cNvPr id="16" name="Shape 14"/>
          <p:cNvSpPr/>
          <p:nvPr/>
        </p:nvSpPr>
        <p:spPr>
          <a:xfrm>
            <a:off x="8138160" y="1261872"/>
            <a:ext cx="3749040" cy="21945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8138160" y="1261872"/>
            <a:ext cx="3749040" cy="54864"/>
          </a:xfrm>
          <a:prstGeom prst="rect">
            <a:avLst/>
          </a:prstGeom>
          <a:solidFill>
            <a:srgbClr val="14B8A6"/>
          </a:solidFill>
          <a:ln w="12700">
            <a:solidFill>
              <a:srgbClr val="14B8A6"/>
            </a:solidFill>
            <a:prstDash val="solid"/>
          </a:ln>
        </p:spPr>
      </p:sp>
      <p:sp>
        <p:nvSpPr>
          <p:cNvPr id="18" name="Text 16"/>
          <p:cNvSpPr/>
          <p:nvPr/>
        </p:nvSpPr>
        <p:spPr>
          <a:xfrm>
            <a:off x="8302752" y="1389888"/>
            <a:ext cx="3419856" cy="768096"/>
          </a:xfrm>
          <a:prstGeom prst="rect">
            <a:avLst/>
          </a:prstGeom>
          <a:noFill/>
          <a:ln/>
        </p:spPr>
        <p:txBody>
          <a:bodyPr wrap="square" lIns="0" tIns="0" rIns="0" bIns="0" rtlCol="0" anchor="ctr"/>
          <a:lstStyle/>
          <a:p>
            <a:pPr indent="0" marL="0">
              <a:buNone/>
            </a:pPr>
            <a:r>
              <a:rPr lang="en-US" sz="4000" b="1" dirty="0">
                <a:solidFill>
                  <a:srgbClr val="14B8A6"/>
                </a:solidFill>
                <a:latin typeface="Arial" pitchFamily="34" charset="0"/>
                <a:ea typeface="Arial" pitchFamily="34" charset="-122"/>
                <a:cs typeface="Arial" pitchFamily="34" charset="-120"/>
              </a:rPr>
              <a:t>94.2%</a:t>
            </a:r>
            <a:endParaRPr lang="en-US" sz="4000" dirty="0"/>
          </a:p>
        </p:txBody>
      </p:sp>
      <p:sp>
        <p:nvSpPr>
          <p:cNvPr id="19" name="Text 17"/>
          <p:cNvSpPr/>
          <p:nvPr/>
        </p:nvSpPr>
        <p:spPr>
          <a:xfrm>
            <a:off x="8302752" y="2194560"/>
            <a:ext cx="3419856" cy="475488"/>
          </a:xfrm>
          <a:prstGeom prst="rect">
            <a:avLst/>
          </a:prstGeom>
          <a:noFill/>
          <a:ln/>
        </p:spPr>
        <p:txBody>
          <a:bodyPr wrap="square" lIns="0" tIns="0" rIns="0" bIns="0" rtlCol="0" anchor="ctr"/>
          <a:lstStyle/>
          <a:p>
            <a:pPr indent="0" marL="0">
              <a:buNone/>
            </a:pPr>
            <a:r>
              <a:rPr lang="en-US" sz="1200" b="1" dirty="0">
                <a:solidFill>
                  <a:srgbClr val="1C1C18"/>
                </a:solidFill>
                <a:latin typeface="Arial" pitchFamily="34" charset="0"/>
                <a:ea typeface="Arial" pitchFamily="34" charset="-122"/>
                <a:cs typeface="Arial" pitchFamily="34" charset="-120"/>
              </a:rPr>
              <a:t>AI anomaly detection accuracy</a:t>
            </a:r>
            <a:endParaRPr lang="en-US" sz="1200" dirty="0"/>
          </a:p>
        </p:txBody>
      </p:sp>
      <p:sp>
        <p:nvSpPr>
          <p:cNvPr id="20" name="Text 18"/>
          <p:cNvSpPr/>
          <p:nvPr/>
        </p:nvSpPr>
        <p:spPr>
          <a:xfrm>
            <a:off x="8302752" y="2688336"/>
            <a:ext cx="3419856" cy="475488"/>
          </a:xfrm>
          <a:prstGeom prst="rect">
            <a:avLst/>
          </a:prstGeom>
          <a:noFill/>
          <a:ln/>
        </p:spPr>
        <p:txBody>
          <a:bodyPr wrap="square" lIns="0" tIns="0" rIns="0" bIns="0" rtlCol="0" anchor="ctr"/>
          <a:lstStyle/>
          <a:p>
            <a:pPr indent="0" marL="0">
              <a:buNone/>
            </a:pPr>
            <a:r>
              <a:rPr lang="en-US" sz="1000" dirty="0">
                <a:solidFill>
                  <a:srgbClr val="5A5848"/>
                </a:solidFill>
                <a:latin typeface="Arial" pitchFamily="34" charset="0"/>
                <a:ea typeface="Arial" pitchFamily="34" charset="-122"/>
                <a:cs typeface="Arial" pitchFamily="34" charset="-120"/>
              </a:rPr>
              <a:t>Back-tested against 3 years of EFRIS + URA audit data</a:t>
            </a:r>
            <a:endParaRPr lang="en-US" sz="1000" dirty="0"/>
          </a:p>
        </p:txBody>
      </p:sp>
      <p:sp>
        <p:nvSpPr>
          <p:cNvPr id="21" name="Shape 19"/>
          <p:cNvSpPr/>
          <p:nvPr/>
        </p:nvSpPr>
        <p:spPr>
          <a:xfrm>
            <a:off x="274320" y="3685032"/>
            <a:ext cx="3749040" cy="21945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274320" y="3685032"/>
            <a:ext cx="3749040" cy="54864"/>
          </a:xfrm>
          <a:prstGeom prst="rect">
            <a:avLst/>
          </a:prstGeom>
          <a:solidFill>
            <a:srgbClr val="14B8A6"/>
          </a:solidFill>
          <a:ln w="12700">
            <a:solidFill>
              <a:srgbClr val="14B8A6"/>
            </a:solidFill>
            <a:prstDash val="solid"/>
          </a:ln>
        </p:spPr>
      </p:sp>
      <p:sp>
        <p:nvSpPr>
          <p:cNvPr id="23" name="Text 21"/>
          <p:cNvSpPr/>
          <p:nvPr/>
        </p:nvSpPr>
        <p:spPr>
          <a:xfrm>
            <a:off x="438912" y="3813048"/>
            <a:ext cx="3419856" cy="768096"/>
          </a:xfrm>
          <a:prstGeom prst="rect">
            <a:avLst/>
          </a:prstGeom>
          <a:noFill/>
          <a:ln/>
        </p:spPr>
        <p:txBody>
          <a:bodyPr wrap="square" lIns="0" tIns="0" rIns="0" bIns="0" rtlCol="0" anchor="ctr"/>
          <a:lstStyle/>
          <a:p>
            <a:pPr indent="0" marL="0">
              <a:buNone/>
            </a:pPr>
            <a:r>
              <a:rPr lang="en-US" sz="4000" b="1" dirty="0">
                <a:solidFill>
                  <a:srgbClr val="14B8A6"/>
                </a:solidFill>
                <a:latin typeface="Arial" pitchFamily="34" charset="0"/>
                <a:ea typeface="Arial" pitchFamily="34" charset="-122"/>
                <a:cs typeface="Arial" pitchFamily="34" charset="-120"/>
              </a:rPr>
              <a:t>10.2x</a:t>
            </a:r>
            <a:endParaRPr lang="en-US" sz="4000" dirty="0"/>
          </a:p>
        </p:txBody>
      </p:sp>
      <p:sp>
        <p:nvSpPr>
          <p:cNvPr id="24" name="Text 22"/>
          <p:cNvSpPr/>
          <p:nvPr/>
        </p:nvSpPr>
        <p:spPr>
          <a:xfrm>
            <a:off x="438912" y="4617720"/>
            <a:ext cx="3419856" cy="475488"/>
          </a:xfrm>
          <a:prstGeom prst="rect">
            <a:avLst/>
          </a:prstGeom>
          <a:noFill/>
          <a:ln/>
        </p:spPr>
        <p:txBody>
          <a:bodyPr wrap="square" lIns="0" tIns="0" rIns="0" bIns="0" rtlCol="0" anchor="ctr"/>
          <a:lstStyle/>
          <a:p>
            <a:pPr indent="0" marL="0">
              <a:buNone/>
            </a:pPr>
            <a:r>
              <a:rPr lang="en-US" sz="1200" b="1" dirty="0">
                <a:solidFill>
                  <a:srgbClr val="1C1C18"/>
                </a:solidFill>
                <a:latin typeface="Arial" pitchFamily="34" charset="0"/>
                <a:ea typeface="Arial" pitchFamily="34" charset="-122"/>
                <a:cs typeface="Arial" pitchFamily="34" charset="-120"/>
              </a:rPr>
              <a:t>Better audit ROI vs random inspections</a:t>
            </a:r>
            <a:endParaRPr lang="en-US" sz="1200" dirty="0"/>
          </a:p>
        </p:txBody>
      </p:sp>
      <p:sp>
        <p:nvSpPr>
          <p:cNvPr id="25" name="Text 23"/>
          <p:cNvSpPr/>
          <p:nvPr/>
        </p:nvSpPr>
        <p:spPr>
          <a:xfrm>
            <a:off x="438912" y="5111496"/>
            <a:ext cx="3419856" cy="475488"/>
          </a:xfrm>
          <a:prstGeom prst="rect">
            <a:avLst/>
          </a:prstGeom>
          <a:noFill/>
          <a:ln/>
        </p:spPr>
        <p:txBody>
          <a:bodyPr wrap="square" lIns="0" tIns="0" rIns="0" bIns="0" rtlCol="0" anchor="ctr"/>
          <a:lstStyle/>
          <a:p>
            <a:pPr indent="0" marL="0">
              <a:buNone/>
            </a:pPr>
            <a:r>
              <a:rPr lang="en-US" sz="1000" dirty="0">
                <a:solidFill>
                  <a:srgbClr val="5A5848"/>
                </a:solidFill>
                <a:latin typeface="Arial" pitchFamily="34" charset="0"/>
                <a:ea typeface="Arial" pitchFamily="34" charset="-122"/>
                <a:cs typeface="Arial" pitchFamily="34" charset="-120"/>
              </a:rPr>
              <a:t>AI-targeted vs traditional random enforcement</a:t>
            </a:r>
            <a:endParaRPr lang="en-US" sz="1000" dirty="0"/>
          </a:p>
        </p:txBody>
      </p:sp>
      <p:sp>
        <p:nvSpPr>
          <p:cNvPr id="26" name="Shape 24"/>
          <p:cNvSpPr/>
          <p:nvPr/>
        </p:nvSpPr>
        <p:spPr>
          <a:xfrm>
            <a:off x="4206240" y="3685032"/>
            <a:ext cx="3749040" cy="21945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7" name="Shape 25"/>
          <p:cNvSpPr/>
          <p:nvPr/>
        </p:nvSpPr>
        <p:spPr>
          <a:xfrm>
            <a:off x="4206240" y="3685032"/>
            <a:ext cx="3749040" cy="54864"/>
          </a:xfrm>
          <a:prstGeom prst="rect">
            <a:avLst/>
          </a:prstGeom>
          <a:solidFill>
            <a:srgbClr val="E8C040"/>
          </a:solidFill>
          <a:ln w="12700">
            <a:solidFill>
              <a:srgbClr val="E8C040"/>
            </a:solidFill>
            <a:prstDash val="solid"/>
          </a:ln>
        </p:spPr>
      </p:sp>
      <p:sp>
        <p:nvSpPr>
          <p:cNvPr id="28" name="Text 26"/>
          <p:cNvSpPr/>
          <p:nvPr/>
        </p:nvSpPr>
        <p:spPr>
          <a:xfrm>
            <a:off x="4370832" y="3813048"/>
            <a:ext cx="3419856" cy="768096"/>
          </a:xfrm>
          <a:prstGeom prst="rect">
            <a:avLst/>
          </a:prstGeom>
          <a:noFill/>
          <a:ln/>
        </p:spPr>
        <p:txBody>
          <a:bodyPr wrap="square" lIns="0" tIns="0" rIns="0" bIns="0" rtlCol="0" anchor="ctr"/>
          <a:lstStyle/>
          <a:p>
            <a:pPr indent="0" marL="0">
              <a:buNone/>
            </a:pPr>
            <a:r>
              <a:rPr lang="en-US" sz="4000" b="1" dirty="0">
                <a:solidFill>
                  <a:srgbClr val="E8C040"/>
                </a:solidFill>
                <a:latin typeface="Arial" pitchFamily="34" charset="0"/>
                <a:ea typeface="Arial" pitchFamily="34" charset="-122"/>
                <a:cs typeface="Arial" pitchFamily="34" charset="-120"/>
              </a:rPr>
              <a:t>11.4x</a:t>
            </a:r>
            <a:endParaRPr lang="en-US" sz="4000" dirty="0"/>
          </a:p>
        </p:txBody>
      </p:sp>
      <p:sp>
        <p:nvSpPr>
          <p:cNvPr id="29" name="Text 27"/>
          <p:cNvSpPr/>
          <p:nvPr/>
        </p:nvSpPr>
        <p:spPr>
          <a:xfrm>
            <a:off x="4370832" y="4617720"/>
            <a:ext cx="3419856" cy="475488"/>
          </a:xfrm>
          <a:prstGeom prst="rect">
            <a:avLst/>
          </a:prstGeom>
          <a:noFill/>
          <a:ln/>
        </p:spPr>
        <p:txBody>
          <a:bodyPr wrap="square" lIns="0" tIns="0" rIns="0" bIns="0" rtlCol="0" anchor="ctr"/>
          <a:lstStyle/>
          <a:p>
            <a:pPr indent="0" marL="0">
              <a:buNone/>
            </a:pPr>
            <a:r>
              <a:rPr lang="en-US" sz="1200" b="1" dirty="0">
                <a:solidFill>
                  <a:srgbClr val="1C1C18"/>
                </a:solidFill>
                <a:latin typeface="Arial" pitchFamily="34" charset="0"/>
                <a:ea typeface="Arial" pitchFamily="34" charset="-122"/>
                <a:cs typeface="Arial" pitchFamily="34" charset="-120"/>
              </a:rPr>
              <a:t>More customs duty per inspection</a:t>
            </a:r>
            <a:endParaRPr lang="en-US" sz="1200" dirty="0"/>
          </a:p>
        </p:txBody>
      </p:sp>
      <p:sp>
        <p:nvSpPr>
          <p:cNvPr id="30" name="Text 28"/>
          <p:cNvSpPr/>
          <p:nvPr/>
        </p:nvSpPr>
        <p:spPr>
          <a:xfrm>
            <a:off x="4370832" y="5111496"/>
            <a:ext cx="3419856" cy="475488"/>
          </a:xfrm>
          <a:prstGeom prst="rect">
            <a:avLst/>
          </a:prstGeom>
          <a:noFill/>
          <a:ln/>
        </p:spPr>
        <p:txBody>
          <a:bodyPr wrap="square" lIns="0" tIns="0" rIns="0" bIns="0" rtlCol="0" anchor="ctr"/>
          <a:lstStyle/>
          <a:p>
            <a:pPr indent="0" marL="0">
              <a:buNone/>
            </a:pPr>
            <a:r>
              <a:rPr lang="en-US" sz="1000" dirty="0">
                <a:solidFill>
                  <a:srgbClr val="5A5848"/>
                </a:solidFill>
                <a:latin typeface="Arial" pitchFamily="34" charset="0"/>
                <a:ea typeface="Arial" pitchFamily="34" charset="-122"/>
                <a:cs typeface="Arial" pitchFamily="34" charset="-120"/>
              </a:rPr>
              <a:t>AI-targeted customs checks vs traditional</a:t>
            </a:r>
            <a:endParaRPr lang="en-US" sz="1000" dirty="0"/>
          </a:p>
        </p:txBody>
      </p:sp>
      <p:sp>
        <p:nvSpPr>
          <p:cNvPr id="31" name="Shape 29"/>
          <p:cNvSpPr/>
          <p:nvPr/>
        </p:nvSpPr>
        <p:spPr>
          <a:xfrm>
            <a:off x="8138160" y="3685032"/>
            <a:ext cx="3749040" cy="219456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2" name="Shape 30"/>
          <p:cNvSpPr/>
          <p:nvPr/>
        </p:nvSpPr>
        <p:spPr>
          <a:xfrm>
            <a:off x="8138160" y="3685032"/>
            <a:ext cx="3749040" cy="54864"/>
          </a:xfrm>
          <a:prstGeom prst="rect">
            <a:avLst/>
          </a:prstGeom>
          <a:solidFill>
            <a:srgbClr val="22C55E"/>
          </a:solidFill>
          <a:ln w="12700">
            <a:solidFill>
              <a:srgbClr val="22C55E"/>
            </a:solidFill>
            <a:prstDash val="solid"/>
          </a:ln>
        </p:spPr>
      </p:sp>
      <p:sp>
        <p:nvSpPr>
          <p:cNvPr id="33" name="Text 31"/>
          <p:cNvSpPr/>
          <p:nvPr/>
        </p:nvSpPr>
        <p:spPr>
          <a:xfrm>
            <a:off x="8302752" y="3813048"/>
            <a:ext cx="3419856" cy="768096"/>
          </a:xfrm>
          <a:prstGeom prst="rect">
            <a:avLst/>
          </a:prstGeom>
          <a:noFill/>
          <a:ln/>
        </p:spPr>
        <p:txBody>
          <a:bodyPr wrap="square" lIns="0" tIns="0" rIns="0" bIns="0" rtlCol="0" anchor="ctr"/>
          <a:lstStyle/>
          <a:p>
            <a:pPr indent="0" marL="0">
              <a:buNone/>
            </a:pPr>
            <a:r>
              <a:rPr lang="en-US" sz="4000" b="1" dirty="0">
                <a:solidFill>
                  <a:srgbClr val="22C55E"/>
                </a:solidFill>
                <a:latin typeface="Arial" pitchFamily="34" charset="0"/>
                <a:ea typeface="Arial" pitchFamily="34" charset="-122"/>
                <a:cs typeface="Arial" pitchFamily="34" charset="-120"/>
              </a:rPr>
              <a:t>12</a:t>
            </a:r>
            <a:endParaRPr lang="en-US" sz="4000" dirty="0"/>
          </a:p>
        </p:txBody>
      </p:sp>
      <p:sp>
        <p:nvSpPr>
          <p:cNvPr id="34" name="Text 32"/>
          <p:cNvSpPr/>
          <p:nvPr/>
        </p:nvSpPr>
        <p:spPr>
          <a:xfrm>
            <a:off x="8302752" y="4617720"/>
            <a:ext cx="3419856" cy="475488"/>
          </a:xfrm>
          <a:prstGeom prst="rect">
            <a:avLst/>
          </a:prstGeom>
          <a:noFill/>
          <a:ln/>
        </p:spPr>
        <p:txBody>
          <a:bodyPr wrap="square" lIns="0" tIns="0" rIns="0" bIns="0" rtlCol="0" anchor="ctr"/>
          <a:lstStyle/>
          <a:p>
            <a:pPr indent="0" marL="0">
              <a:buNone/>
            </a:pPr>
            <a:r>
              <a:rPr lang="en-US" sz="1200" b="1" dirty="0">
                <a:solidFill>
                  <a:srgbClr val="1C1C18"/>
                </a:solidFill>
                <a:latin typeface="Arial" pitchFamily="34" charset="0"/>
                <a:ea typeface="Arial" pitchFamily="34" charset="-122"/>
                <a:cs typeface="Arial" pitchFamily="34" charset="-120"/>
              </a:rPr>
              <a:t>Products fully built and demo-ready</a:t>
            </a:r>
            <a:endParaRPr lang="en-US" sz="1200" dirty="0"/>
          </a:p>
        </p:txBody>
      </p:sp>
      <p:sp>
        <p:nvSpPr>
          <p:cNvPr id="35" name="Text 33"/>
          <p:cNvSpPr/>
          <p:nvPr/>
        </p:nvSpPr>
        <p:spPr>
          <a:xfrm>
            <a:off x="8302752" y="5111496"/>
            <a:ext cx="3419856" cy="475488"/>
          </a:xfrm>
          <a:prstGeom prst="rect">
            <a:avLst/>
          </a:prstGeom>
          <a:noFill/>
          <a:ln/>
        </p:spPr>
        <p:txBody>
          <a:bodyPr wrap="square" lIns="0" tIns="0" rIns="0" bIns="0" rtlCol="0" anchor="ctr"/>
          <a:lstStyle/>
          <a:p>
            <a:pPr indent="0" marL="0">
              <a:buNone/>
            </a:pPr>
            <a:r>
              <a:rPr lang="en-US" sz="1000" dirty="0">
                <a:solidFill>
                  <a:srgbClr val="5A5848"/>
                </a:solidFill>
                <a:latin typeface="Arial" pitchFamily="34" charset="0"/>
                <a:ea typeface="Arial" pitchFamily="34" charset="-122"/>
                <a:cs typeface="Arial" pitchFamily="34" charset="-120"/>
              </a:rPr>
              <a:t>All running in a browser — no installation needed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2048"/>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C040"/>
          </a:solidFill>
          <a:ln w="12700">
            <a:solidFill>
              <a:srgbClr val="E8C040"/>
            </a:solidFill>
            <a:prstDash val="solid"/>
          </a:ln>
        </p:spPr>
      </p:sp>
      <p:sp>
        <p:nvSpPr>
          <p:cNvPr id="3" name="Text 1"/>
          <p:cNvSpPr/>
          <p:nvPr/>
        </p:nvSpPr>
        <p:spPr>
          <a:xfrm>
            <a:off x="347472" y="228600"/>
            <a:ext cx="7315200" cy="347472"/>
          </a:xfrm>
          <a:prstGeom prst="rect">
            <a:avLst/>
          </a:prstGeom>
          <a:noFill/>
          <a:ln/>
        </p:spPr>
        <p:txBody>
          <a:bodyPr wrap="square" lIns="0" tIns="0" rIns="0" bIns="0" rtlCol="0" anchor="ctr"/>
          <a:lstStyle/>
          <a:p>
            <a:pPr indent="0" marL="0">
              <a:buNone/>
            </a:pPr>
            <a:r>
              <a:rPr lang="en-US" sz="1100" b="1" spc="300" kern="0" dirty="0">
                <a:solidFill>
                  <a:srgbClr val="E8C040"/>
                </a:solidFill>
                <a:latin typeface="Arial" pitchFamily="34" charset="0"/>
                <a:ea typeface="Arial" pitchFamily="34" charset="-122"/>
                <a:cs typeface="Arial" pitchFamily="34" charset="-120"/>
              </a:rPr>
              <a:t>Investment Ask</a:t>
            </a:r>
            <a:endParaRPr lang="en-US" sz="1100" dirty="0"/>
          </a:p>
        </p:txBody>
      </p:sp>
      <p:sp>
        <p:nvSpPr>
          <p:cNvPr id="4" name="Text 2"/>
          <p:cNvSpPr/>
          <p:nvPr/>
        </p:nvSpPr>
        <p:spPr>
          <a:xfrm>
            <a:off x="347472" y="658368"/>
            <a:ext cx="11430000" cy="1280160"/>
          </a:xfrm>
          <a:prstGeom prst="rect">
            <a:avLst/>
          </a:prstGeom>
          <a:noFill/>
          <a:ln/>
        </p:spPr>
        <p:txBody>
          <a:bodyPr wrap="square" lIns="0" tIns="0" rIns="0" bIns="0" rtlCol="0" anchor="ctr"/>
          <a:lstStyle/>
          <a:p>
            <a:pPr indent="0" marL="0">
              <a:lnSpc>
                <a:spcPct val="120000"/>
              </a:lnSpc>
              <a:buNone/>
            </a:pPr>
            <a:r>
              <a:rPr lang="en-US" sz="2600" b="1" dirty="0">
                <a:solidFill>
                  <a:srgbClr val="FFFFFF"/>
                </a:solidFill>
                <a:latin typeface="Arial" pitchFamily="34" charset="0"/>
                <a:ea typeface="Arial" pitchFamily="34" charset="-122"/>
                <a:cs typeface="Arial" pitchFamily="34" charset="-120"/>
              </a:rPr>
              <a:t>UGX 35–50 Million Seed Round</a:t>
            </a:r>
            <a:endParaRPr lang="en-US" sz="2600" dirty="0"/>
          </a:p>
          <a:p>
            <a:pPr indent="0" marL="0">
              <a:lnSpc>
                <a:spcPct val="120000"/>
              </a:lnSpc>
              <a:buNone/>
            </a:pPr>
            <a:r>
              <a:rPr lang="en-US" sz="2600" b="1" dirty="0">
                <a:solidFill>
                  <a:srgbClr val="FFFFFF"/>
                </a:solidFill>
                <a:latin typeface="Arial" pitchFamily="34" charset="0"/>
                <a:ea typeface="Arial" pitchFamily="34" charset="-122"/>
                <a:cs typeface="Arial" pitchFamily="34" charset="-120"/>
              </a:rPr>
              <a:t>To Deploy to Production and Close First 10 Enterprise Clients</a:t>
            </a:r>
            <a:endParaRPr lang="en-US" sz="2600" dirty="0"/>
          </a:p>
        </p:txBody>
      </p:sp>
      <p:sp>
        <p:nvSpPr>
          <p:cNvPr id="5" name="Shape 3"/>
          <p:cNvSpPr/>
          <p:nvPr/>
        </p:nvSpPr>
        <p:spPr>
          <a:xfrm>
            <a:off x="274320" y="2103120"/>
            <a:ext cx="6675120" cy="4572000"/>
          </a:xfrm>
          <a:prstGeom prst="rect">
            <a:avLst/>
          </a:prstGeom>
          <a:solidFill>
            <a:srgbClr val="162D5E"/>
          </a:solidFill>
          <a:ln w="12700">
            <a:solidFill>
              <a:srgbClr val="162D5E"/>
            </a:solidFill>
            <a:prstDash val="solid"/>
          </a:ln>
        </p:spPr>
      </p:sp>
      <p:sp>
        <p:nvSpPr>
          <p:cNvPr id="6" name="Text 4"/>
          <p:cNvSpPr/>
          <p:nvPr/>
        </p:nvSpPr>
        <p:spPr>
          <a:xfrm>
            <a:off x="457200" y="2231136"/>
            <a:ext cx="6309360" cy="274320"/>
          </a:xfrm>
          <a:prstGeom prst="rect">
            <a:avLst/>
          </a:prstGeom>
          <a:noFill/>
          <a:ln/>
        </p:spPr>
        <p:txBody>
          <a:bodyPr wrap="square" lIns="0" tIns="0" rIns="0" bIns="0" rtlCol="0" anchor="ctr"/>
          <a:lstStyle/>
          <a:p>
            <a:pPr indent="0" marL="0">
              <a:buNone/>
            </a:pPr>
            <a:r>
              <a:rPr lang="en-US" sz="1000" b="1" spc="200" kern="0" dirty="0">
                <a:solidFill>
                  <a:srgbClr val="E8C040"/>
                </a:solidFill>
                <a:latin typeface="Arial" pitchFamily="34" charset="0"/>
                <a:ea typeface="Arial" pitchFamily="34" charset="-122"/>
                <a:cs typeface="Arial" pitchFamily="34" charset="-120"/>
              </a:rPr>
              <a:t>USE OF FUNDS</a:t>
            </a:r>
            <a:endParaRPr lang="en-US" sz="1000" dirty="0"/>
          </a:p>
        </p:txBody>
      </p:sp>
      <p:sp>
        <p:nvSpPr>
          <p:cNvPr id="7" name="Shape 5"/>
          <p:cNvSpPr/>
          <p:nvPr/>
        </p:nvSpPr>
        <p:spPr>
          <a:xfrm>
            <a:off x="457200" y="2706624"/>
            <a:ext cx="1828800" cy="329184"/>
          </a:xfrm>
          <a:prstGeom prst="rect">
            <a:avLst/>
          </a:prstGeom>
          <a:solidFill>
            <a:srgbClr val="E8C040">
              <a:alpha val="40000"/>
            </a:srgbClr>
          </a:solidFill>
          <a:ln w="12700">
            <a:solidFill>
              <a:srgbClr val="E8C040"/>
            </a:solidFill>
            <a:prstDash val="solid"/>
          </a:ln>
        </p:spPr>
      </p:sp>
      <p:sp>
        <p:nvSpPr>
          <p:cNvPr id="8" name="Text 6"/>
          <p:cNvSpPr/>
          <p:nvPr/>
        </p:nvSpPr>
        <p:spPr>
          <a:xfrm>
            <a:off x="457200" y="2724912"/>
            <a:ext cx="4206240" cy="274320"/>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Backend development (TaxLink + GuardPost MVP)</a:t>
            </a:r>
            <a:endParaRPr lang="en-US" sz="1050" dirty="0"/>
          </a:p>
        </p:txBody>
      </p:sp>
      <p:sp>
        <p:nvSpPr>
          <p:cNvPr id="9" name="Text 7"/>
          <p:cNvSpPr/>
          <p:nvPr/>
        </p:nvSpPr>
        <p:spPr>
          <a:xfrm>
            <a:off x="4663440" y="2724912"/>
            <a:ext cx="1371600" cy="274320"/>
          </a:xfrm>
          <a:prstGeom prst="rect">
            <a:avLst/>
          </a:prstGeom>
          <a:noFill/>
          <a:ln/>
        </p:spPr>
        <p:txBody>
          <a:bodyPr wrap="square" lIns="0" tIns="0" rIns="0" bIns="0" rtlCol="0" anchor="ctr"/>
          <a:lstStyle/>
          <a:p>
            <a:pPr indent="0" marL="0">
              <a:buNone/>
            </a:pPr>
            <a:r>
              <a:rPr lang="en-US" sz="1100" b="1" dirty="0">
                <a:solidFill>
                  <a:srgbClr val="E8C040"/>
                </a:solidFill>
                <a:latin typeface="Arial" pitchFamily="34" charset="0"/>
                <a:ea typeface="Arial" pitchFamily="34" charset="-122"/>
                <a:cs typeface="Arial" pitchFamily="34" charset="-120"/>
              </a:rPr>
              <a:t>UGX 12–18M</a:t>
            </a:r>
            <a:endParaRPr lang="en-US" sz="1100" dirty="0"/>
          </a:p>
        </p:txBody>
      </p:sp>
      <p:sp>
        <p:nvSpPr>
          <p:cNvPr id="10" name="Text 8"/>
          <p:cNvSpPr/>
          <p:nvPr/>
        </p:nvSpPr>
        <p:spPr>
          <a:xfrm>
            <a:off x="6035040" y="2724912"/>
            <a:ext cx="73152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35%</a:t>
            </a:r>
            <a:endParaRPr lang="en-US" sz="1100" dirty="0"/>
          </a:p>
        </p:txBody>
      </p:sp>
      <p:sp>
        <p:nvSpPr>
          <p:cNvPr id="11" name="Shape 9"/>
          <p:cNvSpPr/>
          <p:nvPr/>
        </p:nvSpPr>
        <p:spPr>
          <a:xfrm>
            <a:off x="457200" y="3328416"/>
            <a:ext cx="896112" cy="329184"/>
          </a:xfrm>
          <a:prstGeom prst="rect">
            <a:avLst/>
          </a:prstGeom>
          <a:solidFill>
            <a:srgbClr val="E8C040">
              <a:alpha val="40000"/>
            </a:srgbClr>
          </a:solidFill>
          <a:ln w="12700">
            <a:solidFill>
              <a:srgbClr val="E8C040"/>
            </a:solidFill>
            <a:prstDash val="solid"/>
          </a:ln>
        </p:spPr>
      </p:sp>
      <p:sp>
        <p:nvSpPr>
          <p:cNvPr id="12" name="Text 10"/>
          <p:cNvSpPr/>
          <p:nvPr/>
        </p:nvSpPr>
        <p:spPr>
          <a:xfrm>
            <a:off x="457200" y="3346704"/>
            <a:ext cx="4206240" cy="274320"/>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AWS infrastructure + EFRIS API access + MoMo</a:t>
            </a:r>
            <a:endParaRPr lang="en-US" sz="1050" dirty="0"/>
          </a:p>
        </p:txBody>
      </p:sp>
      <p:sp>
        <p:nvSpPr>
          <p:cNvPr id="13" name="Text 11"/>
          <p:cNvSpPr/>
          <p:nvPr/>
        </p:nvSpPr>
        <p:spPr>
          <a:xfrm>
            <a:off x="4663440" y="3346704"/>
            <a:ext cx="1371600" cy="274320"/>
          </a:xfrm>
          <a:prstGeom prst="rect">
            <a:avLst/>
          </a:prstGeom>
          <a:noFill/>
          <a:ln/>
        </p:spPr>
        <p:txBody>
          <a:bodyPr wrap="square" lIns="0" tIns="0" rIns="0" bIns="0" rtlCol="0" anchor="ctr"/>
          <a:lstStyle/>
          <a:p>
            <a:pPr indent="0" marL="0">
              <a:buNone/>
            </a:pPr>
            <a:r>
              <a:rPr lang="en-US" sz="1100" b="1" dirty="0">
                <a:solidFill>
                  <a:srgbClr val="E8C040"/>
                </a:solidFill>
                <a:latin typeface="Arial" pitchFamily="34" charset="0"/>
                <a:ea typeface="Arial" pitchFamily="34" charset="-122"/>
                <a:cs typeface="Arial" pitchFamily="34" charset="-120"/>
              </a:rPr>
              <a:t>UGX 6–8M</a:t>
            </a:r>
            <a:endParaRPr lang="en-US" sz="1100" dirty="0"/>
          </a:p>
        </p:txBody>
      </p:sp>
      <p:sp>
        <p:nvSpPr>
          <p:cNvPr id="14" name="Text 12"/>
          <p:cNvSpPr/>
          <p:nvPr/>
        </p:nvSpPr>
        <p:spPr>
          <a:xfrm>
            <a:off x="6035040" y="3346704"/>
            <a:ext cx="73152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17%</a:t>
            </a:r>
            <a:endParaRPr lang="en-US" sz="1100" dirty="0"/>
          </a:p>
        </p:txBody>
      </p:sp>
      <p:sp>
        <p:nvSpPr>
          <p:cNvPr id="15" name="Shape 13"/>
          <p:cNvSpPr/>
          <p:nvPr/>
        </p:nvSpPr>
        <p:spPr>
          <a:xfrm>
            <a:off x="457200" y="3950208"/>
            <a:ext cx="1316736" cy="329184"/>
          </a:xfrm>
          <a:prstGeom prst="rect">
            <a:avLst/>
          </a:prstGeom>
          <a:solidFill>
            <a:srgbClr val="E8C040">
              <a:alpha val="40000"/>
            </a:srgbClr>
          </a:solidFill>
          <a:ln w="12700">
            <a:solidFill>
              <a:srgbClr val="E8C040"/>
            </a:solidFill>
            <a:prstDash val="solid"/>
          </a:ln>
        </p:spPr>
      </p:sp>
      <p:sp>
        <p:nvSpPr>
          <p:cNvPr id="16" name="Text 14"/>
          <p:cNvSpPr/>
          <p:nvPr/>
        </p:nvSpPr>
        <p:spPr>
          <a:xfrm>
            <a:off x="457200" y="3968496"/>
            <a:ext cx="4206240" cy="274320"/>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Developer salaries — 2 full-stack × 6 months</a:t>
            </a:r>
            <a:endParaRPr lang="en-US" sz="1050" dirty="0"/>
          </a:p>
        </p:txBody>
      </p:sp>
      <p:sp>
        <p:nvSpPr>
          <p:cNvPr id="17" name="Text 15"/>
          <p:cNvSpPr/>
          <p:nvPr/>
        </p:nvSpPr>
        <p:spPr>
          <a:xfrm>
            <a:off x="4663440" y="3968496"/>
            <a:ext cx="1371600" cy="274320"/>
          </a:xfrm>
          <a:prstGeom prst="rect">
            <a:avLst/>
          </a:prstGeom>
          <a:noFill/>
          <a:ln/>
        </p:spPr>
        <p:txBody>
          <a:bodyPr wrap="square" lIns="0" tIns="0" rIns="0" bIns="0" rtlCol="0" anchor="ctr"/>
          <a:lstStyle/>
          <a:p>
            <a:pPr indent="0" marL="0">
              <a:buNone/>
            </a:pPr>
            <a:r>
              <a:rPr lang="en-US" sz="1100" b="1" dirty="0">
                <a:solidFill>
                  <a:srgbClr val="E8C040"/>
                </a:solidFill>
                <a:latin typeface="Arial" pitchFamily="34" charset="0"/>
                <a:ea typeface="Arial" pitchFamily="34" charset="-122"/>
                <a:cs typeface="Arial" pitchFamily="34" charset="-120"/>
              </a:rPr>
              <a:t>UGX 8–12M</a:t>
            </a:r>
            <a:endParaRPr lang="en-US" sz="1100" dirty="0"/>
          </a:p>
        </p:txBody>
      </p:sp>
      <p:sp>
        <p:nvSpPr>
          <p:cNvPr id="18" name="Text 16"/>
          <p:cNvSpPr/>
          <p:nvPr/>
        </p:nvSpPr>
        <p:spPr>
          <a:xfrm>
            <a:off x="6035040" y="3968496"/>
            <a:ext cx="73152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25%</a:t>
            </a:r>
            <a:endParaRPr lang="en-US" sz="1100" dirty="0"/>
          </a:p>
        </p:txBody>
      </p:sp>
      <p:sp>
        <p:nvSpPr>
          <p:cNvPr id="19" name="Shape 17"/>
          <p:cNvSpPr/>
          <p:nvPr/>
        </p:nvSpPr>
        <p:spPr>
          <a:xfrm>
            <a:off x="457200" y="4572000"/>
            <a:ext cx="694944" cy="329184"/>
          </a:xfrm>
          <a:prstGeom prst="rect">
            <a:avLst/>
          </a:prstGeom>
          <a:solidFill>
            <a:srgbClr val="E8C040">
              <a:alpha val="40000"/>
            </a:srgbClr>
          </a:solidFill>
          <a:ln w="12700">
            <a:solidFill>
              <a:srgbClr val="E8C040"/>
            </a:solidFill>
            <a:prstDash val="solid"/>
          </a:ln>
        </p:spPr>
      </p:sp>
      <p:sp>
        <p:nvSpPr>
          <p:cNvPr id="20" name="Text 18"/>
          <p:cNvSpPr/>
          <p:nvPr/>
        </p:nvSpPr>
        <p:spPr>
          <a:xfrm>
            <a:off x="457200" y="4590288"/>
            <a:ext cx="4206240" cy="274320"/>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Sales, marketing, UMA partnership</a:t>
            </a:r>
            <a:endParaRPr lang="en-US" sz="1050" dirty="0"/>
          </a:p>
        </p:txBody>
      </p:sp>
      <p:sp>
        <p:nvSpPr>
          <p:cNvPr id="21" name="Text 19"/>
          <p:cNvSpPr/>
          <p:nvPr/>
        </p:nvSpPr>
        <p:spPr>
          <a:xfrm>
            <a:off x="4663440" y="4590288"/>
            <a:ext cx="1371600" cy="274320"/>
          </a:xfrm>
          <a:prstGeom prst="rect">
            <a:avLst/>
          </a:prstGeom>
          <a:noFill/>
          <a:ln/>
        </p:spPr>
        <p:txBody>
          <a:bodyPr wrap="square" lIns="0" tIns="0" rIns="0" bIns="0" rtlCol="0" anchor="ctr"/>
          <a:lstStyle/>
          <a:p>
            <a:pPr indent="0" marL="0">
              <a:buNone/>
            </a:pPr>
            <a:r>
              <a:rPr lang="en-US" sz="1100" b="1" dirty="0">
                <a:solidFill>
                  <a:srgbClr val="E8C040"/>
                </a:solidFill>
                <a:latin typeface="Arial" pitchFamily="34" charset="0"/>
                <a:ea typeface="Arial" pitchFamily="34" charset="-122"/>
                <a:cs typeface="Arial" pitchFamily="34" charset="-120"/>
              </a:rPr>
              <a:t>UGX 4–6M</a:t>
            </a:r>
            <a:endParaRPr lang="en-US" sz="1100" dirty="0"/>
          </a:p>
        </p:txBody>
      </p:sp>
      <p:sp>
        <p:nvSpPr>
          <p:cNvPr id="22" name="Text 20"/>
          <p:cNvSpPr/>
          <p:nvPr/>
        </p:nvSpPr>
        <p:spPr>
          <a:xfrm>
            <a:off x="6035040" y="4590288"/>
            <a:ext cx="73152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13%</a:t>
            </a:r>
            <a:endParaRPr lang="en-US" sz="1100" dirty="0"/>
          </a:p>
        </p:txBody>
      </p:sp>
      <p:sp>
        <p:nvSpPr>
          <p:cNvPr id="23" name="Shape 21"/>
          <p:cNvSpPr/>
          <p:nvPr/>
        </p:nvSpPr>
        <p:spPr>
          <a:xfrm>
            <a:off x="457200" y="5193792"/>
            <a:ext cx="329184" cy="329184"/>
          </a:xfrm>
          <a:prstGeom prst="rect">
            <a:avLst/>
          </a:prstGeom>
          <a:solidFill>
            <a:srgbClr val="E8C040">
              <a:alpha val="40000"/>
            </a:srgbClr>
          </a:solidFill>
          <a:ln w="12700">
            <a:solidFill>
              <a:srgbClr val="E8C040"/>
            </a:solidFill>
            <a:prstDash val="solid"/>
          </a:ln>
        </p:spPr>
      </p:sp>
      <p:sp>
        <p:nvSpPr>
          <p:cNvPr id="24" name="Text 22"/>
          <p:cNvSpPr/>
          <p:nvPr/>
        </p:nvSpPr>
        <p:spPr>
          <a:xfrm>
            <a:off x="457200" y="5212080"/>
            <a:ext cx="4206240" cy="274320"/>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Legal, URSB, NDA/URA agreements</a:t>
            </a:r>
            <a:endParaRPr lang="en-US" sz="1050" dirty="0"/>
          </a:p>
        </p:txBody>
      </p:sp>
      <p:sp>
        <p:nvSpPr>
          <p:cNvPr id="25" name="Text 23"/>
          <p:cNvSpPr/>
          <p:nvPr/>
        </p:nvSpPr>
        <p:spPr>
          <a:xfrm>
            <a:off x="4663440" y="5212080"/>
            <a:ext cx="1371600" cy="274320"/>
          </a:xfrm>
          <a:prstGeom prst="rect">
            <a:avLst/>
          </a:prstGeom>
          <a:noFill/>
          <a:ln/>
        </p:spPr>
        <p:txBody>
          <a:bodyPr wrap="square" lIns="0" tIns="0" rIns="0" bIns="0" rtlCol="0" anchor="ctr"/>
          <a:lstStyle/>
          <a:p>
            <a:pPr indent="0" marL="0">
              <a:buNone/>
            </a:pPr>
            <a:r>
              <a:rPr lang="en-US" sz="1100" b="1" dirty="0">
                <a:solidFill>
                  <a:srgbClr val="E8C040"/>
                </a:solidFill>
                <a:latin typeface="Arial" pitchFamily="34" charset="0"/>
                <a:ea typeface="Arial" pitchFamily="34" charset="-122"/>
                <a:cs typeface="Arial" pitchFamily="34" charset="-120"/>
              </a:rPr>
              <a:t>UGX 2–3M</a:t>
            </a:r>
            <a:endParaRPr lang="en-US" sz="1100" dirty="0"/>
          </a:p>
        </p:txBody>
      </p:sp>
      <p:sp>
        <p:nvSpPr>
          <p:cNvPr id="26" name="Text 24"/>
          <p:cNvSpPr/>
          <p:nvPr/>
        </p:nvSpPr>
        <p:spPr>
          <a:xfrm>
            <a:off x="6035040" y="5212080"/>
            <a:ext cx="73152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6%</a:t>
            </a:r>
            <a:endParaRPr lang="en-US" sz="1100" dirty="0"/>
          </a:p>
        </p:txBody>
      </p:sp>
      <p:sp>
        <p:nvSpPr>
          <p:cNvPr id="27" name="Shape 25"/>
          <p:cNvSpPr/>
          <p:nvPr/>
        </p:nvSpPr>
        <p:spPr>
          <a:xfrm>
            <a:off x="457200" y="5815584"/>
            <a:ext cx="475488" cy="329184"/>
          </a:xfrm>
          <a:prstGeom prst="rect">
            <a:avLst/>
          </a:prstGeom>
          <a:solidFill>
            <a:srgbClr val="E8C040">
              <a:alpha val="40000"/>
            </a:srgbClr>
          </a:solidFill>
          <a:ln w="12700">
            <a:solidFill>
              <a:srgbClr val="E8C040"/>
            </a:solidFill>
            <a:prstDash val="solid"/>
          </a:ln>
        </p:spPr>
      </p:sp>
      <p:sp>
        <p:nvSpPr>
          <p:cNvPr id="28" name="Text 26"/>
          <p:cNvSpPr/>
          <p:nvPr/>
        </p:nvSpPr>
        <p:spPr>
          <a:xfrm>
            <a:off x="457200" y="5833872"/>
            <a:ext cx="4206240" cy="274320"/>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Contingency</a:t>
            </a:r>
            <a:endParaRPr lang="en-US" sz="1050" dirty="0"/>
          </a:p>
        </p:txBody>
      </p:sp>
      <p:sp>
        <p:nvSpPr>
          <p:cNvPr id="29" name="Text 27"/>
          <p:cNvSpPr/>
          <p:nvPr/>
        </p:nvSpPr>
        <p:spPr>
          <a:xfrm>
            <a:off x="4663440" y="5833872"/>
            <a:ext cx="1371600" cy="274320"/>
          </a:xfrm>
          <a:prstGeom prst="rect">
            <a:avLst/>
          </a:prstGeom>
          <a:noFill/>
          <a:ln/>
        </p:spPr>
        <p:txBody>
          <a:bodyPr wrap="square" lIns="0" tIns="0" rIns="0" bIns="0" rtlCol="0" anchor="ctr"/>
          <a:lstStyle/>
          <a:p>
            <a:pPr indent="0" marL="0">
              <a:buNone/>
            </a:pPr>
            <a:r>
              <a:rPr lang="en-US" sz="1100" b="1" dirty="0">
                <a:solidFill>
                  <a:srgbClr val="E8C040"/>
                </a:solidFill>
                <a:latin typeface="Arial" pitchFamily="34" charset="0"/>
                <a:ea typeface="Arial" pitchFamily="34" charset="-122"/>
                <a:cs typeface="Arial" pitchFamily="34" charset="-120"/>
              </a:rPr>
              <a:t>UGX 3–5M</a:t>
            </a:r>
            <a:endParaRPr lang="en-US" sz="1100" dirty="0"/>
          </a:p>
        </p:txBody>
      </p:sp>
      <p:sp>
        <p:nvSpPr>
          <p:cNvPr id="30" name="Text 28"/>
          <p:cNvSpPr/>
          <p:nvPr/>
        </p:nvSpPr>
        <p:spPr>
          <a:xfrm>
            <a:off x="6035040" y="5833872"/>
            <a:ext cx="731520" cy="274320"/>
          </a:xfrm>
          <a:prstGeom prst="rect">
            <a:avLst/>
          </a:prstGeom>
          <a:noFill/>
          <a:ln/>
        </p:spPr>
        <p:txBody>
          <a:bodyPr wrap="square" lIns="0" tIns="0" rIns="0" bIns="0" rtlCol="0" anchor="ctr"/>
          <a:lstStyle/>
          <a:p>
            <a:pPr algn="r" indent="0" marL="0">
              <a:buNone/>
            </a:pPr>
            <a:r>
              <a:rPr lang="en-US" sz="1100" dirty="0">
                <a:solidFill>
                  <a:srgbClr val="94A3B8"/>
                </a:solidFill>
                <a:latin typeface="Arial" pitchFamily="34" charset="0"/>
                <a:ea typeface="Arial" pitchFamily="34" charset="-122"/>
                <a:cs typeface="Arial" pitchFamily="34" charset="-120"/>
              </a:rPr>
              <a:t>9%</a:t>
            </a:r>
            <a:endParaRPr lang="en-US" sz="1100" dirty="0"/>
          </a:p>
        </p:txBody>
      </p:sp>
      <p:sp>
        <p:nvSpPr>
          <p:cNvPr id="31" name="Shape 29"/>
          <p:cNvSpPr/>
          <p:nvPr/>
        </p:nvSpPr>
        <p:spPr>
          <a:xfrm>
            <a:off x="457200" y="6400800"/>
            <a:ext cx="6309360" cy="365760"/>
          </a:xfrm>
          <a:prstGeom prst="rect">
            <a:avLst/>
          </a:prstGeom>
          <a:solidFill>
            <a:srgbClr val="0A3020"/>
          </a:solidFill>
          <a:ln w="12700">
            <a:solidFill>
              <a:srgbClr val="22C55E"/>
            </a:solidFill>
            <a:prstDash val="solid"/>
          </a:ln>
        </p:spPr>
      </p:sp>
      <p:sp>
        <p:nvSpPr>
          <p:cNvPr id="32" name="Text 30"/>
          <p:cNvSpPr/>
          <p:nvPr/>
        </p:nvSpPr>
        <p:spPr>
          <a:xfrm>
            <a:off x="457200" y="6437376"/>
            <a:ext cx="6309360" cy="292608"/>
          </a:xfrm>
          <a:prstGeom prst="rect">
            <a:avLst/>
          </a:prstGeom>
          <a:noFill/>
          <a:ln/>
        </p:spPr>
        <p:txBody>
          <a:bodyPr wrap="square" lIns="0" tIns="0" rIns="0" bIns="0" rtlCol="0" anchor="ctr"/>
          <a:lstStyle/>
          <a:p>
            <a:pPr algn="ctr" indent="0" marL="0">
              <a:buNone/>
            </a:pPr>
            <a:r>
              <a:rPr lang="en-US" sz="1000" b="1" dirty="0">
                <a:solidFill>
                  <a:srgbClr val="22C55E"/>
                </a:solidFill>
                <a:latin typeface="Arial" pitchFamily="34" charset="0"/>
                <a:ea typeface="Arial" pitchFamily="34" charset="-122"/>
                <a:cs typeface="Arial" pitchFamily="34" charset="-120"/>
              </a:rPr>
              <a:t>TOTAL: UGX 35–52M  ·  Payback: Month 8 (conservative)  ·  18-month ROI: 6–8x</a:t>
            </a:r>
            <a:endParaRPr lang="en-US" sz="1000" dirty="0"/>
          </a:p>
        </p:txBody>
      </p:sp>
      <p:sp>
        <p:nvSpPr>
          <p:cNvPr id="33" name="Shape 31"/>
          <p:cNvSpPr/>
          <p:nvPr/>
        </p:nvSpPr>
        <p:spPr>
          <a:xfrm>
            <a:off x="7315200" y="2103120"/>
            <a:ext cx="4572000" cy="45720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34" name="Text 32"/>
          <p:cNvSpPr/>
          <p:nvPr/>
        </p:nvSpPr>
        <p:spPr>
          <a:xfrm>
            <a:off x="7498080" y="2231136"/>
            <a:ext cx="4206240" cy="274320"/>
          </a:xfrm>
          <a:prstGeom prst="rect">
            <a:avLst/>
          </a:prstGeom>
          <a:noFill/>
          <a:ln/>
        </p:spPr>
        <p:txBody>
          <a:bodyPr wrap="square" lIns="0" tIns="0" rIns="0" bIns="0" rtlCol="0" anchor="ctr"/>
          <a:lstStyle/>
          <a:p>
            <a:pPr indent="0" marL="0">
              <a:buNone/>
            </a:pPr>
            <a:r>
              <a:rPr lang="en-US" sz="1000" b="1" spc="200" kern="0" dirty="0">
                <a:solidFill>
                  <a:srgbClr val="0C2048"/>
                </a:solidFill>
                <a:latin typeface="Arial" pitchFamily="34" charset="0"/>
                <a:ea typeface="Arial" pitchFamily="34" charset="-122"/>
                <a:cs typeface="Arial" pitchFamily="34" charset="-120"/>
              </a:rPr>
              <a:t>REVENUE PROJECTION</a:t>
            </a:r>
            <a:endParaRPr lang="en-US" sz="1000" dirty="0"/>
          </a:p>
        </p:txBody>
      </p:sp>
      <p:sp>
        <p:nvSpPr>
          <p:cNvPr id="35" name="Text 33"/>
          <p:cNvSpPr/>
          <p:nvPr/>
        </p:nvSpPr>
        <p:spPr>
          <a:xfrm>
            <a:off x="7498080" y="2670048"/>
            <a:ext cx="1097280" cy="274320"/>
          </a:xfrm>
          <a:prstGeom prst="rect">
            <a:avLst/>
          </a:prstGeom>
          <a:noFill/>
          <a:ln/>
        </p:spPr>
        <p:txBody>
          <a:bodyPr wrap="square" lIns="0" tIns="0" rIns="0" bIns="0" rtlCol="0" anchor="ctr"/>
          <a:lstStyle/>
          <a:p>
            <a:pPr indent="0" marL="0">
              <a:buNone/>
            </a:pPr>
            <a:r>
              <a:rPr lang="en-US" sz="1100" dirty="0">
                <a:solidFill>
                  <a:srgbClr val="5A5848"/>
                </a:solidFill>
                <a:latin typeface="Arial" pitchFamily="34" charset="0"/>
                <a:ea typeface="Arial" pitchFamily="34" charset="-122"/>
                <a:cs typeface="Arial" pitchFamily="34" charset="-120"/>
              </a:rPr>
              <a:t>Month 3</a:t>
            </a:r>
            <a:endParaRPr lang="en-US" sz="1100" dirty="0"/>
          </a:p>
        </p:txBody>
      </p:sp>
      <p:sp>
        <p:nvSpPr>
          <p:cNvPr id="36" name="Shape 34"/>
          <p:cNvSpPr/>
          <p:nvPr/>
        </p:nvSpPr>
        <p:spPr>
          <a:xfrm>
            <a:off x="8686800" y="2706624"/>
            <a:ext cx="186538" cy="237744"/>
          </a:xfrm>
          <a:prstGeom prst="rect">
            <a:avLst/>
          </a:prstGeom>
          <a:solidFill>
            <a:srgbClr val="14B8A6"/>
          </a:solidFill>
          <a:ln w="12700">
            <a:solidFill>
              <a:srgbClr val="14B8A6"/>
            </a:solidFill>
            <a:prstDash val="solid"/>
          </a:ln>
        </p:spPr>
      </p:sp>
      <p:sp>
        <p:nvSpPr>
          <p:cNvPr id="37" name="Text 35"/>
          <p:cNvSpPr/>
          <p:nvPr/>
        </p:nvSpPr>
        <p:spPr>
          <a:xfrm>
            <a:off x="8686800" y="2706624"/>
            <a:ext cx="3017520" cy="237744"/>
          </a:xfrm>
          <a:prstGeom prst="rect">
            <a:avLst/>
          </a:prstGeom>
          <a:noFill/>
          <a:ln/>
        </p:spPr>
        <p:txBody>
          <a:bodyPr wrap="square" lIns="0" tIns="0" rIns="0" bIns="0" rtlCol="0" anchor="ctr"/>
          <a:lstStyle/>
          <a:p>
            <a:pPr algn="r" indent="0" marL="0">
              <a:buNone/>
            </a:pPr>
            <a:r>
              <a:rPr lang="en-US" sz="1100" b="1" dirty="0">
                <a:solidFill>
                  <a:srgbClr val="14B8A6"/>
                </a:solidFill>
                <a:latin typeface="Arial" pitchFamily="34" charset="0"/>
                <a:ea typeface="Arial" pitchFamily="34" charset="-122"/>
                <a:cs typeface="Arial" pitchFamily="34" charset="-120"/>
              </a:rPr>
              <a:t>UGX 50M MRR</a:t>
            </a:r>
            <a:endParaRPr lang="en-US" sz="1100" dirty="0"/>
          </a:p>
        </p:txBody>
      </p:sp>
      <p:sp>
        <p:nvSpPr>
          <p:cNvPr id="38" name="Text 36"/>
          <p:cNvSpPr/>
          <p:nvPr/>
        </p:nvSpPr>
        <p:spPr>
          <a:xfrm>
            <a:off x="7498080" y="3419856"/>
            <a:ext cx="1097280" cy="274320"/>
          </a:xfrm>
          <a:prstGeom prst="rect">
            <a:avLst/>
          </a:prstGeom>
          <a:noFill/>
          <a:ln/>
        </p:spPr>
        <p:txBody>
          <a:bodyPr wrap="square" lIns="0" tIns="0" rIns="0" bIns="0" rtlCol="0" anchor="ctr"/>
          <a:lstStyle/>
          <a:p>
            <a:pPr indent="0" marL="0">
              <a:buNone/>
            </a:pPr>
            <a:r>
              <a:rPr lang="en-US" sz="1100" dirty="0">
                <a:solidFill>
                  <a:srgbClr val="5A5848"/>
                </a:solidFill>
                <a:latin typeface="Arial" pitchFamily="34" charset="0"/>
                <a:ea typeface="Arial" pitchFamily="34" charset="-122"/>
                <a:cs typeface="Arial" pitchFamily="34" charset="-120"/>
              </a:rPr>
              <a:t>Month 6</a:t>
            </a:r>
            <a:endParaRPr lang="en-US" sz="1100" dirty="0"/>
          </a:p>
        </p:txBody>
      </p:sp>
      <p:sp>
        <p:nvSpPr>
          <p:cNvPr id="39" name="Shape 37"/>
          <p:cNvSpPr/>
          <p:nvPr/>
        </p:nvSpPr>
        <p:spPr>
          <a:xfrm>
            <a:off x="8686800" y="3456432"/>
            <a:ext cx="559613" cy="237744"/>
          </a:xfrm>
          <a:prstGeom prst="rect">
            <a:avLst/>
          </a:prstGeom>
          <a:solidFill>
            <a:srgbClr val="14B8A6"/>
          </a:solidFill>
          <a:ln w="12700">
            <a:solidFill>
              <a:srgbClr val="14B8A6"/>
            </a:solidFill>
            <a:prstDash val="solid"/>
          </a:ln>
        </p:spPr>
      </p:sp>
      <p:sp>
        <p:nvSpPr>
          <p:cNvPr id="40" name="Text 38"/>
          <p:cNvSpPr/>
          <p:nvPr/>
        </p:nvSpPr>
        <p:spPr>
          <a:xfrm>
            <a:off x="8686800" y="3456432"/>
            <a:ext cx="3017520" cy="237744"/>
          </a:xfrm>
          <a:prstGeom prst="rect">
            <a:avLst/>
          </a:prstGeom>
          <a:noFill/>
          <a:ln/>
        </p:spPr>
        <p:txBody>
          <a:bodyPr wrap="square" lIns="0" tIns="0" rIns="0" bIns="0" rtlCol="0" anchor="ctr"/>
          <a:lstStyle/>
          <a:p>
            <a:pPr algn="r" indent="0" marL="0">
              <a:buNone/>
            </a:pPr>
            <a:r>
              <a:rPr lang="en-US" sz="1100" b="1" dirty="0">
                <a:solidFill>
                  <a:srgbClr val="14B8A6"/>
                </a:solidFill>
                <a:latin typeface="Arial" pitchFamily="34" charset="0"/>
                <a:ea typeface="Arial" pitchFamily="34" charset="-122"/>
                <a:cs typeface="Arial" pitchFamily="34" charset="-120"/>
              </a:rPr>
              <a:t>UGX 150M MRR</a:t>
            </a:r>
            <a:endParaRPr lang="en-US" sz="1100" dirty="0"/>
          </a:p>
        </p:txBody>
      </p:sp>
      <p:sp>
        <p:nvSpPr>
          <p:cNvPr id="41" name="Text 39"/>
          <p:cNvSpPr/>
          <p:nvPr/>
        </p:nvSpPr>
        <p:spPr>
          <a:xfrm>
            <a:off x="7498080" y="4169664"/>
            <a:ext cx="1097280" cy="274320"/>
          </a:xfrm>
          <a:prstGeom prst="rect">
            <a:avLst/>
          </a:prstGeom>
          <a:noFill/>
          <a:ln/>
        </p:spPr>
        <p:txBody>
          <a:bodyPr wrap="square" lIns="0" tIns="0" rIns="0" bIns="0" rtlCol="0" anchor="ctr"/>
          <a:lstStyle/>
          <a:p>
            <a:pPr indent="0" marL="0">
              <a:buNone/>
            </a:pPr>
            <a:r>
              <a:rPr lang="en-US" sz="1100" dirty="0">
                <a:solidFill>
                  <a:srgbClr val="5A5848"/>
                </a:solidFill>
                <a:latin typeface="Arial" pitchFamily="34" charset="0"/>
                <a:ea typeface="Arial" pitchFamily="34" charset="-122"/>
                <a:cs typeface="Arial" pitchFamily="34" charset="-120"/>
              </a:rPr>
              <a:t>Month 12</a:t>
            </a:r>
            <a:endParaRPr lang="en-US" sz="1100" dirty="0"/>
          </a:p>
        </p:txBody>
      </p:sp>
      <p:sp>
        <p:nvSpPr>
          <p:cNvPr id="42" name="Shape 40"/>
          <p:cNvSpPr/>
          <p:nvPr/>
        </p:nvSpPr>
        <p:spPr>
          <a:xfrm>
            <a:off x="8686800" y="4206240"/>
            <a:ext cx="1678838" cy="237744"/>
          </a:xfrm>
          <a:prstGeom prst="rect">
            <a:avLst/>
          </a:prstGeom>
          <a:solidFill>
            <a:srgbClr val="E8C040"/>
          </a:solidFill>
          <a:ln w="12700">
            <a:solidFill>
              <a:srgbClr val="E8C040"/>
            </a:solidFill>
            <a:prstDash val="solid"/>
          </a:ln>
        </p:spPr>
      </p:sp>
      <p:sp>
        <p:nvSpPr>
          <p:cNvPr id="43" name="Text 41"/>
          <p:cNvSpPr/>
          <p:nvPr/>
        </p:nvSpPr>
        <p:spPr>
          <a:xfrm>
            <a:off x="8686800" y="4206240"/>
            <a:ext cx="3017520" cy="237744"/>
          </a:xfrm>
          <a:prstGeom prst="rect">
            <a:avLst/>
          </a:prstGeom>
          <a:noFill/>
          <a:ln/>
        </p:spPr>
        <p:txBody>
          <a:bodyPr wrap="square" lIns="0" tIns="0" rIns="0" bIns="0" rtlCol="0" anchor="ctr"/>
          <a:lstStyle/>
          <a:p>
            <a:pPr algn="r" indent="0" marL="0">
              <a:buNone/>
            </a:pPr>
            <a:r>
              <a:rPr lang="en-US" sz="1100" b="1" dirty="0">
                <a:solidFill>
                  <a:srgbClr val="E8C040"/>
                </a:solidFill>
                <a:latin typeface="Arial" pitchFamily="34" charset="0"/>
                <a:ea typeface="Arial" pitchFamily="34" charset="-122"/>
                <a:cs typeface="Arial" pitchFamily="34" charset="-120"/>
              </a:rPr>
              <a:t>UGX 450M MRR</a:t>
            </a:r>
            <a:endParaRPr lang="en-US" sz="1100" dirty="0"/>
          </a:p>
        </p:txBody>
      </p:sp>
      <p:sp>
        <p:nvSpPr>
          <p:cNvPr id="44" name="Text 42"/>
          <p:cNvSpPr/>
          <p:nvPr/>
        </p:nvSpPr>
        <p:spPr>
          <a:xfrm>
            <a:off x="7498080" y="4919472"/>
            <a:ext cx="1097280" cy="274320"/>
          </a:xfrm>
          <a:prstGeom prst="rect">
            <a:avLst/>
          </a:prstGeom>
          <a:noFill/>
          <a:ln/>
        </p:spPr>
        <p:txBody>
          <a:bodyPr wrap="square" lIns="0" tIns="0" rIns="0" bIns="0" rtlCol="0" anchor="ctr"/>
          <a:lstStyle/>
          <a:p>
            <a:pPr indent="0" marL="0">
              <a:buNone/>
            </a:pPr>
            <a:r>
              <a:rPr lang="en-US" sz="1100" dirty="0">
                <a:solidFill>
                  <a:srgbClr val="5A5848"/>
                </a:solidFill>
                <a:latin typeface="Arial" pitchFamily="34" charset="0"/>
                <a:ea typeface="Arial" pitchFamily="34" charset="-122"/>
                <a:cs typeface="Arial" pitchFamily="34" charset="-120"/>
              </a:rPr>
              <a:t>Month 18</a:t>
            </a:r>
            <a:endParaRPr lang="en-US" sz="1100" dirty="0"/>
          </a:p>
        </p:txBody>
      </p:sp>
      <p:sp>
        <p:nvSpPr>
          <p:cNvPr id="45" name="Shape 43"/>
          <p:cNvSpPr/>
          <p:nvPr/>
        </p:nvSpPr>
        <p:spPr>
          <a:xfrm>
            <a:off x="8686800" y="4956048"/>
            <a:ext cx="3108960" cy="237744"/>
          </a:xfrm>
          <a:prstGeom prst="rect">
            <a:avLst/>
          </a:prstGeom>
          <a:solidFill>
            <a:srgbClr val="E8C040"/>
          </a:solidFill>
          <a:ln w="12700">
            <a:solidFill>
              <a:srgbClr val="E8C040"/>
            </a:solidFill>
            <a:prstDash val="solid"/>
          </a:ln>
        </p:spPr>
      </p:sp>
      <p:sp>
        <p:nvSpPr>
          <p:cNvPr id="46" name="Text 44"/>
          <p:cNvSpPr/>
          <p:nvPr/>
        </p:nvSpPr>
        <p:spPr>
          <a:xfrm>
            <a:off x="8686800" y="4956048"/>
            <a:ext cx="3017520" cy="237744"/>
          </a:xfrm>
          <a:prstGeom prst="rect">
            <a:avLst/>
          </a:prstGeom>
          <a:noFill/>
          <a:ln/>
        </p:spPr>
        <p:txBody>
          <a:bodyPr wrap="square" lIns="0" tIns="0" rIns="0" bIns="0" rtlCol="0" anchor="ctr"/>
          <a:lstStyle/>
          <a:p>
            <a:pPr algn="r" indent="0" marL="0">
              <a:buNone/>
            </a:pPr>
            <a:r>
              <a:rPr lang="en-US" sz="1100" b="1" dirty="0">
                <a:solidFill>
                  <a:srgbClr val="E8C040"/>
                </a:solidFill>
                <a:latin typeface="Arial" pitchFamily="34" charset="0"/>
                <a:ea typeface="Arial" pitchFamily="34" charset="-122"/>
                <a:cs typeface="Arial" pitchFamily="34" charset="-120"/>
              </a:rPr>
              <a:t>UGX 900M MRR</a:t>
            </a:r>
            <a:endParaRPr lang="en-US" sz="1100" dirty="0"/>
          </a:p>
        </p:txBody>
      </p:sp>
      <p:sp>
        <p:nvSpPr>
          <p:cNvPr id="47" name="Text 45"/>
          <p:cNvSpPr/>
          <p:nvPr/>
        </p:nvSpPr>
        <p:spPr>
          <a:xfrm>
            <a:off x="7498080" y="5669280"/>
            <a:ext cx="1097280" cy="274320"/>
          </a:xfrm>
          <a:prstGeom prst="rect">
            <a:avLst/>
          </a:prstGeom>
          <a:noFill/>
          <a:ln/>
        </p:spPr>
        <p:txBody>
          <a:bodyPr wrap="square" lIns="0" tIns="0" rIns="0" bIns="0" rtlCol="0" anchor="ctr"/>
          <a:lstStyle/>
          <a:p>
            <a:pPr indent="0" marL="0">
              <a:buNone/>
            </a:pPr>
            <a:r>
              <a:rPr lang="en-US" sz="1100" dirty="0">
                <a:solidFill>
                  <a:srgbClr val="5A5848"/>
                </a:solidFill>
                <a:latin typeface="Arial" pitchFamily="34" charset="0"/>
                <a:ea typeface="Arial" pitchFamily="34" charset="-122"/>
                <a:cs typeface="Arial" pitchFamily="34" charset="-120"/>
              </a:rPr>
              <a:t>Year 2</a:t>
            </a:r>
            <a:endParaRPr lang="en-US" sz="1100" dirty="0"/>
          </a:p>
        </p:txBody>
      </p:sp>
      <p:sp>
        <p:nvSpPr>
          <p:cNvPr id="48" name="Shape 46"/>
          <p:cNvSpPr/>
          <p:nvPr/>
        </p:nvSpPr>
        <p:spPr>
          <a:xfrm>
            <a:off x="8686800" y="5705856"/>
            <a:ext cx="3108960" cy="237744"/>
          </a:xfrm>
          <a:prstGeom prst="rect">
            <a:avLst/>
          </a:prstGeom>
          <a:solidFill>
            <a:srgbClr val="22C55E"/>
          </a:solidFill>
          <a:ln w="12700">
            <a:solidFill>
              <a:srgbClr val="22C55E"/>
            </a:solidFill>
            <a:prstDash val="solid"/>
          </a:ln>
        </p:spPr>
      </p:sp>
      <p:sp>
        <p:nvSpPr>
          <p:cNvPr id="49" name="Text 47"/>
          <p:cNvSpPr/>
          <p:nvPr/>
        </p:nvSpPr>
        <p:spPr>
          <a:xfrm>
            <a:off x="8686800" y="5705856"/>
            <a:ext cx="3017520" cy="237744"/>
          </a:xfrm>
          <a:prstGeom prst="rect">
            <a:avLst/>
          </a:prstGeom>
          <a:noFill/>
          <a:ln/>
        </p:spPr>
        <p:txBody>
          <a:bodyPr wrap="square" lIns="0" tIns="0" rIns="0" bIns="0" rtlCol="0" anchor="ctr"/>
          <a:lstStyle/>
          <a:p>
            <a:pPr algn="r" indent="0" marL="0">
              <a:buNone/>
            </a:pPr>
            <a:r>
              <a:rPr lang="en-US" sz="1100" b="1" dirty="0">
                <a:solidFill>
                  <a:srgbClr val="22C55E"/>
                </a:solidFill>
                <a:latin typeface="Arial" pitchFamily="34" charset="0"/>
                <a:ea typeface="Arial" pitchFamily="34" charset="-122"/>
                <a:cs typeface="Arial" pitchFamily="34" charset="-120"/>
              </a:rPr>
              <a:t>UGX 1.8B+ MRR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C2048"/>
          </a:solidFill>
          <a:ln w="12700">
            <a:solidFill>
              <a:srgbClr val="0C2048"/>
            </a:solidFill>
            <a:prstDash val="solid"/>
          </a:ln>
        </p:spPr>
      </p:sp>
      <p:sp>
        <p:nvSpPr>
          <p:cNvPr id="3" name="Shape 1"/>
          <p:cNvSpPr/>
          <p:nvPr/>
        </p:nvSpPr>
        <p:spPr>
          <a:xfrm>
            <a:off x="0" y="0"/>
            <a:ext cx="12161520" cy="1005840"/>
          </a:xfrm>
          <a:prstGeom prst="rect">
            <a:avLst/>
          </a:prstGeom>
          <a:solidFill>
            <a:srgbClr val="0C2048"/>
          </a:solidFill>
          <a:ln w="12700">
            <a:solidFill>
              <a:srgbClr val="0C2048"/>
            </a:solidFill>
            <a:prstDash val="solid"/>
          </a:ln>
        </p:spPr>
      </p:sp>
      <p:sp>
        <p:nvSpPr>
          <p:cNvPr id="4" name="Text 2"/>
          <p:cNvSpPr/>
          <p:nvPr/>
        </p:nvSpPr>
        <p:spPr>
          <a:xfrm>
            <a:off x="347472" y="146304"/>
            <a:ext cx="4572000" cy="274320"/>
          </a:xfrm>
          <a:prstGeom prst="rect">
            <a:avLst/>
          </a:prstGeom>
          <a:noFill/>
          <a:ln/>
        </p:spPr>
        <p:txBody>
          <a:bodyPr wrap="square" lIns="0" tIns="0" rIns="0" bIns="0" rtlCol="0" anchor="ctr"/>
          <a:lstStyle/>
          <a:p>
            <a:pPr indent="0" marL="0">
              <a:buNone/>
            </a:pPr>
            <a:r>
              <a:rPr lang="en-US" sz="1000" b="1" spc="400" kern="0" dirty="0">
                <a:solidFill>
                  <a:srgbClr val="E8C040"/>
                </a:solidFill>
                <a:latin typeface="Arial" pitchFamily="34" charset="0"/>
                <a:ea typeface="Arial" pitchFamily="34" charset="-122"/>
                <a:cs typeface="Arial" pitchFamily="34" charset="-120"/>
              </a:rPr>
              <a:t>THE TEAM</a:t>
            </a:r>
            <a:endParaRPr lang="en-US" sz="1000" dirty="0"/>
          </a:p>
        </p:txBody>
      </p:sp>
      <p:sp>
        <p:nvSpPr>
          <p:cNvPr id="5" name="Text 3"/>
          <p:cNvSpPr/>
          <p:nvPr/>
        </p:nvSpPr>
        <p:spPr>
          <a:xfrm>
            <a:off x="347472" y="402336"/>
            <a:ext cx="11430000" cy="475488"/>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Built in Uganda, for Uganda — by People Who Know the Problem.</a:t>
            </a:r>
            <a:endParaRPr lang="en-US" sz="2200" dirty="0"/>
          </a:p>
        </p:txBody>
      </p:sp>
      <p:sp>
        <p:nvSpPr>
          <p:cNvPr id="6" name="Shape 4"/>
          <p:cNvSpPr/>
          <p:nvPr/>
        </p:nvSpPr>
        <p:spPr>
          <a:xfrm>
            <a:off x="274320" y="1188720"/>
            <a:ext cx="5303520" cy="52120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74320" y="1188720"/>
            <a:ext cx="5303520" cy="54864"/>
          </a:xfrm>
          <a:prstGeom prst="rect">
            <a:avLst/>
          </a:prstGeom>
          <a:solidFill>
            <a:srgbClr val="E8C040"/>
          </a:solidFill>
          <a:ln w="12700">
            <a:solidFill>
              <a:srgbClr val="E8C040"/>
            </a:solidFill>
            <a:prstDash val="solid"/>
          </a:ln>
        </p:spPr>
      </p:sp>
      <p:sp>
        <p:nvSpPr>
          <p:cNvPr id="8" name="Shape 6"/>
          <p:cNvSpPr/>
          <p:nvPr/>
        </p:nvSpPr>
        <p:spPr>
          <a:xfrm>
            <a:off x="731520" y="1417320"/>
            <a:ext cx="1280160" cy="1280160"/>
          </a:xfrm>
          <a:prstGeom prst="rect">
            <a:avLst/>
          </a:prstGeom>
          <a:solidFill>
            <a:srgbClr val="0C2048"/>
          </a:solidFill>
          <a:ln w="12700">
            <a:solidFill>
              <a:srgbClr val="0C2048"/>
            </a:solidFill>
            <a:prstDash val="solid"/>
          </a:ln>
        </p:spPr>
      </p:sp>
      <p:sp>
        <p:nvSpPr>
          <p:cNvPr id="9" name="Text 7"/>
          <p:cNvSpPr/>
          <p:nvPr/>
        </p:nvSpPr>
        <p:spPr>
          <a:xfrm>
            <a:off x="731520" y="1417320"/>
            <a:ext cx="1280160" cy="12801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[Your Name]</a:t>
            </a:r>
            <a:endParaRPr lang="en-US" sz="1300" dirty="0"/>
          </a:p>
        </p:txBody>
      </p:sp>
      <p:sp>
        <p:nvSpPr>
          <p:cNvPr id="10" name="Text 8"/>
          <p:cNvSpPr/>
          <p:nvPr/>
        </p:nvSpPr>
        <p:spPr>
          <a:xfrm>
            <a:off x="2194560" y="1444752"/>
            <a:ext cx="3108960" cy="347472"/>
          </a:xfrm>
          <a:prstGeom prst="rect">
            <a:avLst/>
          </a:prstGeom>
          <a:noFill/>
          <a:ln/>
        </p:spPr>
        <p:txBody>
          <a:bodyPr wrap="square" lIns="0" tIns="0" rIns="0" bIns="0" rtlCol="0" anchor="ctr"/>
          <a:lstStyle/>
          <a:p>
            <a:pPr indent="0" marL="0">
              <a:buNone/>
            </a:pPr>
            <a:r>
              <a:rPr lang="en-US" sz="1500" b="1" dirty="0">
                <a:solidFill>
                  <a:srgbClr val="0C2048"/>
                </a:solidFill>
                <a:latin typeface="Arial" pitchFamily="34" charset="0"/>
                <a:ea typeface="Arial" pitchFamily="34" charset="-122"/>
                <a:cs typeface="Arial" pitchFamily="34" charset="-120"/>
              </a:rPr>
              <a:t>Founder &amp; CEO</a:t>
            </a:r>
            <a:endParaRPr lang="en-US" sz="1500" dirty="0"/>
          </a:p>
        </p:txBody>
      </p:sp>
      <p:sp>
        <p:nvSpPr>
          <p:cNvPr id="11" name="Text 9"/>
          <p:cNvSpPr/>
          <p:nvPr/>
        </p:nvSpPr>
        <p:spPr>
          <a:xfrm>
            <a:off x="2194560" y="1828800"/>
            <a:ext cx="3108960" cy="274320"/>
          </a:xfrm>
          <a:prstGeom prst="rect">
            <a:avLst/>
          </a:prstGeom>
          <a:noFill/>
          <a:ln/>
        </p:spPr>
        <p:txBody>
          <a:bodyPr wrap="square" lIns="0" tIns="0" rIns="0" bIns="0" rtlCol="0" anchor="ctr"/>
          <a:lstStyle/>
          <a:p>
            <a:pPr indent="0" marL="0">
              <a:buNone/>
            </a:pPr>
            <a:r>
              <a:rPr lang="en-US" sz="1100" dirty="0">
                <a:solidFill>
                  <a:srgbClr val="5A5848"/>
                </a:solidFill>
                <a:latin typeface="Arial" pitchFamily="34" charset="0"/>
                <a:ea typeface="Arial" pitchFamily="34" charset="-122"/>
                <a:cs typeface="Arial" pitchFamily="34" charset="-120"/>
              </a:rPr>
              <a:t>Uganda Fiscal Intelligence Platform</a:t>
            </a:r>
            <a:endParaRPr lang="en-US" sz="1100" dirty="0"/>
          </a:p>
        </p:txBody>
      </p:sp>
      <p:sp>
        <p:nvSpPr>
          <p:cNvPr id="12" name="Text 10"/>
          <p:cNvSpPr/>
          <p:nvPr/>
        </p:nvSpPr>
        <p:spPr>
          <a:xfrm>
            <a:off x="457200" y="2880360"/>
            <a:ext cx="4937760" cy="2194560"/>
          </a:xfrm>
          <a:prstGeom prst="rect">
            <a:avLst/>
          </a:prstGeom>
          <a:noFill/>
          <a:ln/>
        </p:spPr>
        <p:txBody>
          <a:bodyPr wrap="square" lIns="0" tIns="0" rIns="0" bIns="0" rtlCol="0" anchor="ctr"/>
          <a:lstStyle/>
          <a:p>
            <a:pPr indent="0" marL="0">
              <a:buNone/>
            </a:pPr>
            <a:r>
              <a:rPr lang="en-US" sz="1100" dirty="0">
                <a:solidFill>
                  <a:srgbClr val="5A5848"/>
                </a:solidFill>
                <a:latin typeface="Arial" pitchFamily="34" charset="0"/>
                <a:ea typeface="Arial" pitchFamily="34" charset="-122"/>
                <a:cs typeface="Arial" pitchFamily="34" charset="-120"/>
              </a:rPr>
              <a:t>Uganda-based entrepreneur with deep knowledge of the manufacturing and distribution sector. Identified all 12 documented problems through direct fieldwork, industry research, and engagement with Uganda Manufacturers Association members. Has designed and prototyped all 12 platform products — each one built around a specific documented problem confirmed by government reports, court cases, and industry surveys.</a:t>
            </a:r>
            <a:endParaRPr lang="en-US" sz="1100" dirty="0"/>
          </a:p>
        </p:txBody>
      </p:sp>
      <p:sp>
        <p:nvSpPr>
          <p:cNvPr id="13" name="Text 11"/>
          <p:cNvSpPr/>
          <p:nvPr/>
        </p:nvSpPr>
        <p:spPr>
          <a:xfrm>
            <a:off x="457200" y="6035040"/>
            <a:ext cx="4937760" cy="274320"/>
          </a:xfrm>
          <a:prstGeom prst="rect">
            <a:avLst/>
          </a:prstGeom>
          <a:noFill/>
          <a:ln/>
        </p:spPr>
        <p:txBody>
          <a:bodyPr wrap="square" lIns="0" tIns="0" rIns="0" bIns="0" rtlCol="0" anchor="ctr"/>
          <a:lstStyle/>
          <a:p>
            <a:pPr indent="0" marL="0">
              <a:buNone/>
            </a:pPr>
            <a:r>
              <a:rPr lang="en-US" sz="1050" b="1" dirty="0">
                <a:solidFill>
                  <a:srgbClr val="0A7870"/>
                </a:solidFill>
                <a:latin typeface="Arial" pitchFamily="34" charset="0"/>
                <a:ea typeface="Arial" pitchFamily="34" charset="-122"/>
                <a:cs typeface="Arial" pitchFamily="34" charset="-120"/>
              </a:rPr>
              <a:t>Seeking: Lead developer, growth co-founder, and investor partners</a:t>
            </a:r>
            <a:endParaRPr lang="en-US" sz="1050" dirty="0"/>
          </a:p>
        </p:txBody>
      </p:sp>
      <p:sp>
        <p:nvSpPr>
          <p:cNvPr id="14" name="Shape 12"/>
          <p:cNvSpPr/>
          <p:nvPr/>
        </p:nvSpPr>
        <p:spPr>
          <a:xfrm>
            <a:off x="5943600" y="1188720"/>
            <a:ext cx="5943600" cy="5212080"/>
          </a:xfrm>
          <a:prstGeom prst="rect">
            <a:avLst/>
          </a:prstGeom>
          <a:solidFill>
            <a:srgbClr val="162D5E"/>
          </a:solidFill>
          <a:ln w="12700">
            <a:solidFill>
              <a:srgbClr val="162D5E"/>
            </a:solidFill>
            <a:prstDash val="solid"/>
          </a:ln>
        </p:spPr>
      </p:sp>
      <p:sp>
        <p:nvSpPr>
          <p:cNvPr id="15" name="Text 13"/>
          <p:cNvSpPr/>
          <p:nvPr/>
        </p:nvSpPr>
        <p:spPr>
          <a:xfrm>
            <a:off x="6126480" y="1316736"/>
            <a:ext cx="5577840" cy="274320"/>
          </a:xfrm>
          <a:prstGeom prst="rect">
            <a:avLst/>
          </a:prstGeom>
          <a:noFill/>
          <a:ln/>
        </p:spPr>
        <p:txBody>
          <a:bodyPr wrap="square" lIns="0" tIns="0" rIns="0" bIns="0" rtlCol="0" anchor="ctr"/>
          <a:lstStyle/>
          <a:p>
            <a:pPr indent="0" marL="0">
              <a:buNone/>
            </a:pPr>
            <a:r>
              <a:rPr lang="en-US" sz="1000" b="1" spc="200" kern="0" dirty="0">
                <a:solidFill>
                  <a:srgbClr val="14B8A6"/>
                </a:solidFill>
                <a:latin typeface="Arial" pitchFamily="34" charset="0"/>
                <a:ea typeface="Arial" pitchFamily="34" charset="-122"/>
                <a:cs typeface="Arial" pitchFamily="34" charset="-120"/>
              </a:rPr>
              <a:t>TEAM WE ARE BUILDING</a:t>
            </a:r>
            <a:endParaRPr lang="en-US" sz="1000" dirty="0"/>
          </a:p>
        </p:txBody>
      </p:sp>
      <p:sp>
        <p:nvSpPr>
          <p:cNvPr id="16" name="Shape 14"/>
          <p:cNvSpPr/>
          <p:nvPr/>
        </p:nvSpPr>
        <p:spPr>
          <a:xfrm>
            <a:off x="6126480" y="1737360"/>
            <a:ext cx="5577840" cy="960120"/>
          </a:xfrm>
          <a:prstGeom prst="rect">
            <a:avLst/>
          </a:prstGeom>
          <a:solidFill>
            <a:srgbClr val="FFFFFF"/>
          </a:solidFill>
          <a:ln w="12700">
            <a:solidFill>
              <a:srgbClr val="E2E8F0"/>
            </a:solidFill>
            <a:prstDash val="solid"/>
          </a:ln>
        </p:spPr>
      </p:sp>
      <p:sp>
        <p:nvSpPr>
          <p:cNvPr id="17" name="Shape 15"/>
          <p:cNvSpPr/>
          <p:nvPr/>
        </p:nvSpPr>
        <p:spPr>
          <a:xfrm>
            <a:off x="6126480" y="1737360"/>
            <a:ext cx="54864" cy="960120"/>
          </a:xfrm>
          <a:prstGeom prst="rect">
            <a:avLst/>
          </a:prstGeom>
          <a:solidFill>
            <a:srgbClr val="14B8A6"/>
          </a:solidFill>
          <a:ln w="12700">
            <a:solidFill>
              <a:srgbClr val="14B8A6"/>
            </a:solidFill>
            <a:prstDash val="solid"/>
          </a:ln>
        </p:spPr>
      </p:sp>
      <p:sp>
        <p:nvSpPr>
          <p:cNvPr id="18" name="Text 16"/>
          <p:cNvSpPr/>
          <p:nvPr/>
        </p:nvSpPr>
        <p:spPr>
          <a:xfrm>
            <a:off x="6291072" y="1828800"/>
            <a:ext cx="5230368" cy="274320"/>
          </a:xfrm>
          <a:prstGeom prst="rect">
            <a:avLst/>
          </a:prstGeom>
          <a:noFill/>
          <a:ln/>
        </p:spPr>
        <p:txBody>
          <a:bodyPr wrap="square" lIns="0" tIns="0" rIns="0" bIns="0" rtlCol="0" anchor="ctr"/>
          <a:lstStyle/>
          <a:p>
            <a:pPr indent="0" marL="0">
              <a:buNone/>
            </a:pPr>
            <a:r>
              <a:rPr lang="en-US" sz="1200" b="1" dirty="0">
                <a:solidFill>
                  <a:srgbClr val="0C2048"/>
                </a:solidFill>
                <a:latin typeface="Arial" pitchFamily="34" charset="0"/>
                <a:ea typeface="Arial" pitchFamily="34" charset="-122"/>
                <a:cs typeface="Arial" pitchFamily="34" charset="-120"/>
              </a:rPr>
              <a:t>Lead Full-Stack Developer</a:t>
            </a:r>
            <a:endParaRPr lang="en-US" sz="1200" dirty="0"/>
          </a:p>
        </p:txBody>
      </p:sp>
      <p:sp>
        <p:nvSpPr>
          <p:cNvPr id="19" name="Text 17"/>
          <p:cNvSpPr/>
          <p:nvPr/>
        </p:nvSpPr>
        <p:spPr>
          <a:xfrm>
            <a:off x="6291072" y="2121408"/>
            <a:ext cx="3474720" cy="237744"/>
          </a:xfrm>
          <a:prstGeom prst="rect">
            <a:avLst/>
          </a:prstGeom>
          <a:noFill/>
          <a:ln/>
        </p:spPr>
        <p:txBody>
          <a:bodyPr wrap="square" lIns="0" tIns="0" rIns="0" bIns="0" rtlCol="0" anchor="ctr"/>
          <a:lstStyle/>
          <a:p>
            <a:pPr indent="0" marL="0">
              <a:buNone/>
            </a:pPr>
            <a:r>
              <a:rPr lang="en-US" sz="1000" dirty="0">
                <a:solidFill>
                  <a:srgbClr val="5A5848"/>
                </a:solidFill>
                <a:latin typeface="Arial" pitchFamily="34" charset="0"/>
                <a:ea typeface="Arial" pitchFamily="34" charset="-122"/>
                <a:cs typeface="Arial" pitchFamily="34" charset="-120"/>
              </a:rPr>
              <a:t>Node.js · PostgreSQL · React · EFRIS API</a:t>
            </a:r>
            <a:endParaRPr lang="en-US" sz="1000" dirty="0"/>
          </a:p>
        </p:txBody>
      </p:sp>
      <p:sp>
        <p:nvSpPr>
          <p:cNvPr id="20" name="Text 18"/>
          <p:cNvSpPr/>
          <p:nvPr/>
        </p:nvSpPr>
        <p:spPr>
          <a:xfrm>
            <a:off x="6291072" y="2377440"/>
            <a:ext cx="2560320" cy="237744"/>
          </a:xfrm>
          <a:prstGeom prst="rect">
            <a:avLst/>
          </a:prstGeom>
          <a:noFill/>
          <a:ln/>
        </p:spPr>
        <p:txBody>
          <a:bodyPr wrap="square" lIns="0" tIns="0" rIns="0" bIns="0" rtlCol="0" anchor="ctr"/>
          <a:lstStyle/>
          <a:p>
            <a:pPr indent="0" marL="0">
              <a:buNone/>
            </a:pPr>
            <a:r>
              <a:rPr lang="en-US" sz="1050" b="1" dirty="0">
                <a:solidFill>
                  <a:srgbClr val="0A7870"/>
                </a:solidFill>
                <a:latin typeface="Arial" pitchFamily="34" charset="0"/>
                <a:ea typeface="Arial" pitchFamily="34" charset="-122"/>
                <a:cs typeface="Arial" pitchFamily="34" charset="-120"/>
              </a:rPr>
              <a:t>UGX 3–6M/month</a:t>
            </a:r>
            <a:endParaRPr lang="en-US" sz="1050" dirty="0"/>
          </a:p>
        </p:txBody>
      </p:sp>
      <p:sp>
        <p:nvSpPr>
          <p:cNvPr id="21" name="Shape 19"/>
          <p:cNvSpPr/>
          <p:nvPr/>
        </p:nvSpPr>
        <p:spPr>
          <a:xfrm>
            <a:off x="9144000" y="1993392"/>
            <a:ext cx="2377440" cy="329184"/>
          </a:xfrm>
          <a:prstGeom prst="rect">
            <a:avLst/>
          </a:prstGeom>
          <a:solidFill>
            <a:srgbClr val="E8F5EE"/>
          </a:solidFill>
          <a:ln w="12700">
            <a:solidFill>
              <a:srgbClr val="14B8A6"/>
            </a:solidFill>
            <a:prstDash val="solid"/>
          </a:ln>
        </p:spPr>
      </p:sp>
      <p:sp>
        <p:nvSpPr>
          <p:cNvPr id="22" name="Text 20"/>
          <p:cNvSpPr/>
          <p:nvPr/>
        </p:nvSpPr>
        <p:spPr>
          <a:xfrm>
            <a:off x="9144000" y="1993392"/>
            <a:ext cx="2377440" cy="329184"/>
          </a:xfrm>
          <a:prstGeom prst="rect">
            <a:avLst/>
          </a:prstGeom>
          <a:noFill/>
          <a:ln/>
        </p:spPr>
        <p:txBody>
          <a:bodyPr wrap="square" lIns="0" tIns="0" rIns="0" bIns="0" rtlCol="0" anchor="ctr"/>
          <a:lstStyle/>
          <a:p>
            <a:pPr algn="ctr" indent="0" marL="0">
              <a:buNone/>
            </a:pPr>
            <a:r>
              <a:rPr lang="en-US" sz="1000" b="1" dirty="0">
                <a:solidFill>
                  <a:srgbClr val="0A7870"/>
                </a:solidFill>
                <a:latin typeface="Arial" pitchFamily="34" charset="0"/>
                <a:ea typeface="Arial" pitchFamily="34" charset="-122"/>
                <a:cs typeface="Arial" pitchFamily="34" charset="-120"/>
              </a:rPr>
              <a:t>Hiring now</a:t>
            </a:r>
            <a:endParaRPr lang="en-US" sz="1000" dirty="0"/>
          </a:p>
        </p:txBody>
      </p:sp>
      <p:sp>
        <p:nvSpPr>
          <p:cNvPr id="23" name="Shape 21"/>
          <p:cNvSpPr/>
          <p:nvPr/>
        </p:nvSpPr>
        <p:spPr>
          <a:xfrm>
            <a:off x="6126480" y="2834640"/>
            <a:ext cx="5577840" cy="960120"/>
          </a:xfrm>
          <a:prstGeom prst="rect">
            <a:avLst/>
          </a:prstGeom>
          <a:solidFill>
            <a:srgbClr val="FFFFFF"/>
          </a:solidFill>
          <a:ln w="12700">
            <a:solidFill>
              <a:srgbClr val="E2E8F0"/>
            </a:solidFill>
            <a:prstDash val="solid"/>
          </a:ln>
        </p:spPr>
      </p:sp>
      <p:sp>
        <p:nvSpPr>
          <p:cNvPr id="24" name="Shape 22"/>
          <p:cNvSpPr/>
          <p:nvPr/>
        </p:nvSpPr>
        <p:spPr>
          <a:xfrm>
            <a:off x="6126480" y="2834640"/>
            <a:ext cx="54864" cy="960120"/>
          </a:xfrm>
          <a:prstGeom prst="rect">
            <a:avLst/>
          </a:prstGeom>
          <a:solidFill>
            <a:srgbClr val="14B8A6"/>
          </a:solidFill>
          <a:ln w="12700">
            <a:solidFill>
              <a:srgbClr val="14B8A6"/>
            </a:solidFill>
            <a:prstDash val="solid"/>
          </a:ln>
        </p:spPr>
      </p:sp>
      <p:sp>
        <p:nvSpPr>
          <p:cNvPr id="25" name="Text 23"/>
          <p:cNvSpPr/>
          <p:nvPr/>
        </p:nvSpPr>
        <p:spPr>
          <a:xfrm>
            <a:off x="6291072" y="2926080"/>
            <a:ext cx="5230368" cy="274320"/>
          </a:xfrm>
          <a:prstGeom prst="rect">
            <a:avLst/>
          </a:prstGeom>
          <a:noFill/>
          <a:ln/>
        </p:spPr>
        <p:txBody>
          <a:bodyPr wrap="square" lIns="0" tIns="0" rIns="0" bIns="0" rtlCol="0" anchor="ctr"/>
          <a:lstStyle/>
          <a:p>
            <a:pPr indent="0" marL="0">
              <a:buNone/>
            </a:pPr>
            <a:r>
              <a:rPr lang="en-US" sz="1200" b="1" dirty="0">
                <a:solidFill>
                  <a:srgbClr val="0C2048"/>
                </a:solidFill>
                <a:latin typeface="Arial" pitchFamily="34" charset="0"/>
                <a:ea typeface="Arial" pitchFamily="34" charset="-122"/>
                <a:cs typeface="Arial" pitchFamily="34" charset="-120"/>
              </a:rPr>
              <a:t>Backend Developer #2</a:t>
            </a:r>
            <a:endParaRPr lang="en-US" sz="1200" dirty="0"/>
          </a:p>
        </p:txBody>
      </p:sp>
      <p:sp>
        <p:nvSpPr>
          <p:cNvPr id="26" name="Text 24"/>
          <p:cNvSpPr/>
          <p:nvPr/>
        </p:nvSpPr>
        <p:spPr>
          <a:xfrm>
            <a:off x="6291072" y="3218688"/>
            <a:ext cx="3474720" cy="237744"/>
          </a:xfrm>
          <a:prstGeom prst="rect">
            <a:avLst/>
          </a:prstGeom>
          <a:noFill/>
          <a:ln/>
        </p:spPr>
        <p:txBody>
          <a:bodyPr wrap="square" lIns="0" tIns="0" rIns="0" bIns="0" rtlCol="0" anchor="ctr"/>
          <a:lstStyle/>
          <a:p>
            <a:pPr indent="0" marL="0">
              <a:buNone/>
            </a:pPr>
            <a:r>
              <a:rPr lang="en-US" sz="1000" dirty="0">
                <a:solidFill>
                  <a:srgbClr val="5A5848"/>
                </a:solidFill>
                <a:latin typeface="Arial" pitchFamily="34" charset="0"/>
                <a:ea typeface="Arial" pitchFamily="34" charset="-122"/>
                <a:cs typeface="Arial" pitchFamily="34" charset="-120"/>
              </a:rPr>
              <a:t>Python or Node.js · AWS · API integrations</a:t>
            </a:r>
            <a:endParaRPr lang="en-US" sz="1000" dirty="0"/>
          </a:p>
        </p:txBody>
      </p:sp>
      <p:sp>
        <p:nvSpPr>
          <p:cNvPr id="27" name="Text 25"/>
          <p:cNvSpPr/>
          <p:nvPr/>
        </p:nvSpPr>
        <p:spPr>
          <a:xfrm>
            <a:off x="6291072" y="3474720"/>
            <a:ext cx="2560320" cy="237744"/>
          </a:xfrm>
          <a:prstGeom prst="rect">
            <a:avLst/>
          </a:prstGeom>
          <a:noFill/>
          <a:ln/>
        </p:spPr>
        <p:txBody>
          <a:bodyPr wrap="square" lIns="0" tIns="0" rIns="0" bIns="0" rtlCol="0" anchor="ctr"/>
          <a:lstStyle/>
          <a:p>
            <a:pPr indent="0" marL="0">
              <a:buNone/>
            </a:pPr>
            <a:r>
              <a:rPr lang="en-US" sz="1050" b="1" dirty="0">
                <a:solidFill>
                  <a:srgbClr val="0A7870"/>
                </a:solidFill>
                <a:latin typeface="Arial" pitchFamily="34" charset="0"/>
                <a:ea typeface="Arial" pitchFamily="34" charset="-122"/>
                <a:cs typeface="Arial" pitchFamily="34" charset="-120"/>
              </a:rPr>
              <a:t>UGX 2–4M/month</a:t>
            </a:r>
            <a:endParaRPr lang="en-US" sz="1050" dirty="0"/>
          </a:p>
        </p:txBody>
      </p:sp>
      <p:sp>
        <p:nvSpPr>
          <p:cNvPr id="28" name="Shape 26"/>
          <p:cNvSpPr/>
          <p:nvPr/>
        </p:nvSpPr>
        <p:spPr>
          <a:xfrm>
            <a:off x="9144000" y="3090672"/>
            <a:ext cx="2377440" cy="329184"/>
          </a:xfrm>
          <a:prstGeom prst="rect">
            <a:avLst/>
          </a:prstGeom>
          <a:solidFill>
            <a:srgbClr val="E8F5EE"/>
          </a:solidFill>
          <a:ln w="12700">
            <a:solidFill>
              <a:srgbClr val="14B8A6"/>
            </a:solidFill>
            <a:prstDash val="solid"/>
          </a:ln>
        </p:spPr>
      </p:sp>
      <p:sp>
        <p:nvSpPr>
          <p:cNvPr id="29" name="Text 27"/>
          <p:cNvSpPr/>
          <p:nvPr/>
        </p:nvSpPr>
        <p:spPr>
          <a:xfrm>
            <a:off x="9144000" y="3090672"/>
            <a:ext cx="2377440" cy="329184"/>
          </a:xfrm>
          <a:prstGeom prst="rect">
            <a:avLst/>
          </a:prstGeom>
          <a:noFill/>
          <a:ln/>
        </p:spPr>
        <p:txBody>
          <a:bodyPr wrap="square" lIns="0" tIns="0" rIns="0" bIns="0" rtlCol="0" anchor="ctr"/>
          <a:lstStyle/>
          <a:p>
            <a:pPr algn="ctr" indent="0" marL="0">
              <a:buNone/>
            </a:pPr>
            <a:r>
              <a:rPr lang="en-US" sz="1000" b="1" dirty="0">
                <a:solidFill>
                  <a:srgbClr val="0A7870"/>
                </a:solidFill>
                <a:latin typeface="Arial" pitchFamily="34" charset="0"/>
                <a:ea typeface="Arial" pitchFamily="34" charset="-122"/>
                <a:cs typeface="Arial" pitchFamily="34" charset="-120"/>
              </a:rPr>
              <a:t>Hiring now</a:t>
            </a:r>
            <a:endParaRPr lang="en-US" sz="1000" dirty="0"/>
          </a:p>
        </p:txBody>
      </p:sp>
      <p:sp>
        <p:nvSpPr>
          <p:cNvPr id="30" name="Shape 28"/>
          <p:cNvSpPr/>
          <p:nvPr/>
        </p:nvSpPr>
        <p:spPr>
          <a:xfrm>
            <a:off x="6126480" y="3931920"/>
            <a:ext cx="5577840" cy="960120"/>
          </a:xfrm>
          <a:prstGeom prst="rect">
            <a:avLst/>
          </a:prstGeom>
          <a:solidFill>
            <a:srgbClr val="FFFFFF"/>
          </a:solidFill>
          <a:ln w="12700">
            <a:solidFill>
              <a:srgbClr val="E2E8F0"/>
            </a:solidFill>
            <a:prstDash val="solid"/>
          </a:ln>
        </p:spPr>
      </p:sp>
      <p:sp>
        <p:nvSpPr>
          <p:cNvPr id="31" name="Shape 29"/>
          <p:cNvSpPr/>
          <p:nvPr/>
        </p:nvSpPr>
        <p:spPr>
          <a:xfrm>
            <a:off x="6126480" y="3931920"/>
            <a:ext cx="54864" cy="960120"/>
          </a:xfrm>
          <a:prstGeom prst="rect">
            <a:avLst/>
          </a:prstGeom>
          <a:solidFill>
            <a:srgbClr val="14B8A6"/>
          </a:solidFill>
          <a:ln w="12700">
            <a:solidFill>
              <a:srgbClr val="14B8A6"/>
            </a:solidFill>
            <a:prstDash val="solid"/>
          </a:ln>
        </p:spPr>
      </p:sp>
      <p:sp>
        <p:nvSpPr>
          <p:cNvPr id="32" name="Text 30"/>
          <p:cNvSpPr/>
          <p:nvPr/>
        </p:nvSpPr>
        <p:spPr>
          <a:xfrm>
            <a:off x="6291072" y="4023360"/>
            <a:ext cx="5230368" cy="274320"/>
          </a:xfrm>
          <a:prstGeom prst="rect">
            <a:avLst/>
          </a:prstGeom>
          <a:noFill/>
          <a:ln/>
        </p:spPr>
        <p:txBody>
          <a:bodyPr wrap="square" lIns="0" tIns="0" rIns="0" bIns="0" rtlCol="0" anchor="ctr"/>
          <a:lstStyle/>
          <a:p>
            <a:pPr indent="0" marL="0">
              <a:buNone/>
            </a:pPr>
            <a:r>
              <a:rPr lang="en-US" sz="1200" b="1" dirty="0">
                <a:solidFill>
                  <a:srgbClr val="0C2048"/>
                </a:solidFill>
                <a:latin typeface="Arial" pitchFamily="34" charset="0"/>
                <a:ea typeface="Arial" pitchFamily="34" charset="-122"/>
                <a:cs typeface="Arial" pitchFamily="34" charset="-120"/>
              </a:rPr>
              <a:t>Growth / Partnerships Lead</a:t>
            </a:r>
            <a:endParaRPr lang="en-US" sz="1200" dirty="0"/>
          </a:p>
        </p:txBody>
      </p:sp>
      <p:sp>
        <p:nvSpPr>
          <p:cNvPr id="33" name="Text 31"/>
          <p:cNvSpPr/>
          <p:nvPr/>
        </p:nvSpPr>
        <p:spPr>
          <a:xfrm>
            <a:off x="6291072" y="4315968"/>
            <a:ext cx="3474720" cy="237744"/>
          </a:xfrm>
          <a:prstGeom prst="rect">
            <a:avLst/>
          </a:prstGeom>
          <a:noFill/>
          <a:ln/>
        </p:spPr>
        <p:txBody>
          <a:bodyPr wrap="square" lIns="0" tIns="0" rIns="0" bIns="0" rtlCol="0" anchor="ctr"/>
          <a:lstStyle/>
          <a:p>
            <a:pPr indent="0" marL="0">
              <a:buNone/>
            </a:pPr>
            <a:r>
              <a:rPr lang="en-US" sz="1000" dirty="0">
                <a:solidFill>
                  <a:srgbClr val="5A5848"/>
                </a:solidFill>
                <a:latin typeface="Arial" pitchFamily="34" charset="0"/>
                <a:ea typeface="Arial" pitchFamily="34" charset="-122"/>
                <a:cs typeface="Arial" pitchFamily="34" charset="-120"/>
              </a:rPr>
              <a:t>B2B sales · Manufacturing sector · UMA network</a:t>
            </a:r>
            <a:endParaRPr lang="en-US" sz="1000" dirty="0"/>
          </a:p>
        </p:txBody>
      </p:sp>
      <p:sp>
        <p:nvSpPr>
          <p:cNvPr id="34" name="Text 32"/>
          <p:cNvSpPr/>
          <p:nvPr/>
        </p:nvSpPr>
        <p:spPr>
          <a:xfrm>
            <a:off x="6291072" y="4572000"/>
            <a:ext cx="2560320" cy="237744"/>
          </a:xfrm>
          <a:prstGeom prst="rect">
            <a:avLst/>
          </a:prstGeom>
          <a:noFill/>
          <a:ln/>
        </p:spPr>
        <p:txBody>
          <a:bodyPr wrap="square" lIns="0" tIns="0" rIns="0" bIns="0" rtlCol="0" anchor="ctr"/>
          <a:lstStyle/>
          <a:p>
            <a:pPr indent="0" marL="0">
              <a:buNone/>
            </a:pPr>
            <a:r>
              <a:rPr lang="en-US" sz="1050" b="1" dirty="0">
                <a:solidFill>
                  <a:srgbClr val="0A7870"/>
                </a:solidFill>
                <a:latin typeface="Arial" pitchFamily="34" charset="0"/>
                <a:ea typeface="Arial" pitchFamily="34" charset="-122"/>
                <a:cs typeface="Arial" pitchFamily="34" charset="-120"/>
              </a:rPr>
              <a:t>Commission + equity</a:t>
            </a:r>
            <a:endParaRPr lang="en-US" sz="1050" dirty="0"/>
          </a:p>
        </p:txBody>
      </p:sp>
      <p:sp>
        <p:nvSpPr>
          <p:cNvPr id="35" name="Shape 33"/>
          <p:cNvSpPr/>
          <p:nvPr/>
        </p:nvSpPr>
        <p:spPr>
          <a:xfrm>
            <a:off x="9144000" y="4187952"/>
            <a:ext cx="2377440" cy="329184"/>
          </a:xfrm>
          <a:prstGeom prst="rect">
            <a:avLst/>
          </a:prstGeom>
          <a:solidFill>
            <a:srgbClr val="E8F5EE"/>
          </a:solidFill>
          <a:ln w="12700">
            <a:solidFill>
              <a:srgbClr val="14B8A6"/>
            </a:solidFill>
            <a:prstDash val="solid"/>
          </a:ln>
        </p:spPr>
      </p:sp>
      <p:sp>
        <p:nvSpPr>
          <p:cNvPr id="36" name="Text 34"/>
          <p:cNvSpPr/>
          <p:nvPr/>
        </p:nvSpPr>
        <p:spPr>
          <a:xfrm>
            <a:off x="9144000" y="4187952"/>
            <a:ext cx="2377440" cy="329184"/>
          </a:xfrm>
          <a:prstGeom prst="rect">
            <a:avLst/>
          </a:prstGeom>
          <a:noFill/>
          <a:ln/>
        </p:spPr>
        <p:txBody>
          <a:bodyPr wrap="square" lIns="0" tIns="0" rIns="0" bIns="0" rtlCol="0" anchor="ctr"/>
          <a:lstStyle/>
          <a:p>
            <a:pPr algn="ctr" indent="0" marL="0">
              <a:buNone/>
            </a:pPr>
            <a:r>
              <a:rPr lang="en-US" sz="1000" b="1" dirty="0">
                <a:solidFill>
                  <a:srgbClr val="0A7870"/>
                </a:solidFill>
                <a:latin typeface="Arial" pitchFamily="34" charset="0"/>
                <a:ea typeface="Arial" pitchFamily="34" charset="-122"/>
                <a:cs typeface="Arial" pitchFamily="34" charset="-120"/>
              </a:rPr>
              <a:t>Open</a:t>
            </a:r>
            <a:endParaRPr lang="en-US" sz="1000" dirty="0"/>
          </a:p>
        </p:txBody>
      </p:sp>
      <p:sp>
        <p:nvSpPr>
          <p:cNvPr id="37" name="Shape 35"/>
          <p:cNvSpPr/>
          <p:nvPr/>
        </p:nvSpPr>
        <p:spPr>
          <a:xfrm>
            <a:off x="6126480" y="5029200"/>
            <a:ext cx="5577840" cy="960120"/>
          </a:xfrm>
          <a:prstGeom prst="rect">
            <a:avLst/>
          </a:prstGeom>
          <a:solidFill>
            <a:srgbClr val="FFFFFF"/>
          </a:solidFill>
          <a:ln w="12700">
            <a:solidFill>
              <a:srgbClr val="E2E8F0"/>
            </a:solidFill>
            <a:prstDash val="solid"/>
          </a:ln>
        </p:spPr>
      </p:sp>
      <p:sp>
        <p:nvSpPr>
          <p:cNvPr id="38" name="Shape 36"/>
          <p:cNvSpPr/>
          <p:nvPr/>
        </p:nvSpPr>
        <p:spPr>
          <a:xfrm>
            <a:off x="6126480" y="5029200"/>
            <a:ext cx="54864" cy="960120"/>
          </a:xfrm>
          <a:prstGeom prst="rect">
            <a:avLst/>
          </a:prstGeom>
          <a:solidFill>
            <a:srgbClr val="14B8A6"/>
          </a:solidFill>
          <a:ln w="12700">
            <a:solidFill>
              <a:srgbClr val="14B8A6"/>
            </a:solidFill>
            <a:prstDash val="solid"/>
          </a:ln>
        </p:spPr>
      </p:sp>
      <p:sp>
        <p:nvSpPr>
          <p:cNvPr id="39" name="Text 37"/>
          <p:cNvSpPr/>
          <p:nvPr/>
        </p:nvSpPr>
        <p:spPr>
          <a:xfrm>
            <a:off x="6291072" y="5120640"/>
            <a:ext cx="5230368" cy="274320"/>
          </a:xfrm>
          <a:prstGeom prst="rect">
            <a:avLst/>
          </a:prstGeom>
          <a:noFill/>
          <a:ln/>
        </p:spPr>
        <p:txBody>
          <a:bodyPr wrap="square" lIns="0" tIns="0" rIns="0" bIns="0" rtlCol="0" anchor="ctr"/>
          <a:lstStyle/>
          <a:p>
            <a:pPr indent="0" marL="0">
              <a:buNone/>
            </a:pPr>
            <a:r>
              <a:rPr lang="en-US" sz="1200" b="1" dirty="0">
                <a:solidFill>
                  <a:srgbClr val="0C2048"/>
                </a:solidFill>
                <a:latin typeface="Arial" pitchFamily="34" charset="0"/>
                <a:ea typeface="Arial" pitchFamily="34" charset="-122"/>
                <a:cs typeface="Arial" pitchFamily="34" charset="-120"/>
              </a:rPr>
              <a:t>URA Relations Manager</a:t>
            </a:r>
            <a:endParaRPr lang="en-US" sz="1200" dirty="0"/>
          </a:p>
        </p:txBody>
      </p:sp>
      <p:sp>
        <p:nvSpPr>
          <p:cNvPr id="40" name="Text 38"/>
          <p:cNvSpPr/>
          <p:nvPr/>
        </p:nvSpPr>
        <p:spPr>
          <a:xfrm>
            <a:off x="6291072" y="5413248"/>
            <a:ext cx="3474720" cy="237744"/>
          </a:xfrm>
          <a:prstGeom prst="rect">
            <a:avLst/>
          </a:prstGeom>
          <a:noFill/>
          <a:ln/>
        </p:spPr>
        <p:txBody>
          <a:bodyPr wrap="square" lIns="0" tIns="0" rIns="0" bIns="0" rtlCol="0" anchor="ctr"/>
          <a:lstStyle/>
          <a:p>
            <a:pPr indent="0" marL="0">
              <a:buNone/>
            </a:pPr>
            <a:r>
              <a:rPr lang="en-US" sz="1000" dirty="0">
                <a:solidFill>
                  <a:srgbClr val="5A5848"/>
                </a:solidFill>
                <a:latin typeface="Arial" pitchFamily="34" charset="0"/>
                <a:ea typeface="Arial" pitchFamily="34" charset="-122"/>
                <a:cs typeface="Arial" pitchFamily="34" charset="-120"/>
              </a:rPr>
              <a:t>Tax administration background · Government experience</a:t>
            </a:r>
            <a:endParaRPr lang="en-US" sz="1000" dirty="0"/>
          </a:p>
        </p:txBody>
      </p:sp>
      <p:sp>
        <p:nvSpPr>
          <p:cNvPr id="41" name="Text 39"/>
          <p:cNvSpPr/>
          <p:nvPr/>
        </p:nvSpPr>
        <p:spPr>
          <a:xfrm>
            <a:off x="6291072" y="5669280"/>
            <a:ext cx="2560320" cy="237744"/>
          </a:xfrm>
          <a:prstGeom prst="rect">
            <a:avLst/>
          </a:prstGeom>
          <a:noFill/>
          <a:ln/>
        </p:spPr>
        <p:txBody>
          <a:bodyPr wrap="square" lIns="0" tIns="0" rIns="0" bIns="0" rtlCol="0" anchor="ctr"/>
          <a:lstStyle/>
          <a:p>
            <a:pPr indent="0" marL="0">
              <a:buNone/>
            </a:pPr>
            <a:r>
              <a:rPr lang="en-US" sz="1050" b="1" dirty="0">
                <a:solidFill>
                  <a:srgbClr val="0A7870"/>
                </a:solidFill>
                <a:latin typeface="Arial" pitchFamily="34" charset="0"/>
                <a:ea typeface="Arial" pitchFamily="34" charset="-122"/>
                <a:cs typeface="Arial" pitchFamily="34" charset="-120"/>
              </a:rPr>
              <a:t>Equity + salary</a:t>
            </a:r>
            <a:endParaRPr lang="en-US" sz="1050" dirty="0"/>
          </a:p>
        </p:txBody>
      </p:sp>
      <p:sp>
        <p:nvSpPr>
          <p:cNvPr id="42" name="Shape 40"/>
          <p:cNvSpPr/>
          <p:nvPr/>
        </p:nvSpPr>
        <p:spPr>
          <a:xfrm>
            <a:off x="9144000" y="5285232"/>
            <a:ext cx="2377440" cy="329184"/>
          </a:xfrm>
          <a:prstGeom prst="rect">
            <a:avLst/>
          </a:prstGeom>
          <a:solidFill>
            <a:srgbClr val="E8F5EE"/>
          </a:solidFill>
          <a:ln w="12700">
            <a:solidFill>
              <a:srgbClr val="14B8A6"/>
            </a:solidFill>
            <a:prstDash val="solid"/>
          </a:ln>
        </p:spPr>
      </p:sp>
      <p:sp>
        <p:nvSpPr>
          <p:cNvPr id="43" name="Text 41"/>
          <p:cNvSpPr/>
          <p:nvPr/>
        </p:nvSpPr>
        <p:spPr>
          <a:xfrm>
            <a:off x="9144000" y="5285232"/>
            <a:ext cx="2377440" cy="329184"/>
          </a:xfrm>
          <a:prstGeom prst="rect">
            <a:avLst/>
          </a:prstGeom>
          <a:noFill/>
          <a:ln/>
        </p:spPr>
        <p:txBody>
          <a:bodyPr wrap="square" lIns="0" tIns="0" rIns="0" bIns="0" rtlCol="0" anchor="ctr"/>
          <a:lstStyle/>
          <a:p>
            <a:pPr algn="ctr" indent="0" marL="0">
              <a:buNone/>
            </a:pPr>
            <a:r>
              <a:rPr lang="en-US" sz="1000" b="1" dirty="0">
                <a:solidFill>
                  <a:srgbClr val="0A7870"/>
                </a:solidFill>
                <a:latin typeface="Arial" pitchFamily="34" charset="0"/>
                <a:ea typeface="Arial" pitchFamily="34" charset="-122"/>
                <a:cs typeface="Arial" pitchFamily="34" charset="-120"/>
              </a:rPr>
              <a:t>Open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2048"/>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2020"/>
          </a:solidFill>
          <a:ln w="12700">
            <a:solidFill>
              <a:srgbClr val="C82020"/>
            </a:solidFill>
            <a:prstDash val="solid"/>
          </a:ln>
        </p:spPr>
      </p:sp>
      <p:sp>
        <p:nvSpPr>
          <p:cNvPr id="3" name="Text 1"/>
          <p:cNvSpPr/>
          <p:nvPr/>
        </p:nvSpPr>
        <p:spPr>
          <a:xfrm>
            <a:off x="347472" y="228600"/>
            <a:ext cx="11430000" cy="347472"/>
          </a:xfrm>
          <a:prstGeom prst="rect">
            <a:avLst/>
          </a:prstGeom>
          <a:noFill/>
          <a:ln/>
        </p:spPr>
        <p:txBody>
          <a:bodyPr wrap="square" lIns="0" tIns="0" rIns="0" bIns="0" rtlCol="0" anchor="ctr"/>
          <a:lstStyle/>
          <a:p>
            <a:pPr indent="0" marL="0">
              <a:buNone/>
            </a:pPr>
            <a:r>
              <a:rPr lang="en-US" sz="1100" b="1" spc="300" kern="0" dirty="0">
                <a:solidFill>
                  <a:srgbClr val="E8C040"/>
                </a:solidFill>
                <a:latin typeface="Arial" pitchFamily="34" charset="0"/>
                <a:ea typeface="Arial" pitchFamily="34" charset="-122"/>
                <a:cs typeface="Arial" pitchFamily="34" charset="-120"/>
              </a:rPr>
              <a:t>The Three Pitches That Open Every Door</a:t>
            </a:r>
            <a:endParaRPr lang="en-US" sz="1100" dirty="0"/>
          </a:p>
        </p:txBody>
      </p:sp>
      <p:sp>
        <p:nvSpPr>
          <p:cNvPr id="4" name="Text 2"/>
          <p:cNvSpPr/>
          <p:nvPr/>
        </p:nvSpPr>
        <p:spPr>
          <a:xfrm>
            <a:off x="347472" y="658368"/>
            <a:ext cx="11430000" cy="59436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One Sentence Each. Enough to Get the Meeting.</a:t>
            </a:r>
            <a:endParaRPr lang="en-US" sz="2600" dirty="0"/>
          </a:p>
        </p:txBody>
      </p:sp>
      <p:sp>
        <p:nvSpPr>
          <p:cNvPr id="5" name="Shape 3"/>
          <p:cNvSpPr/>
          <p:nvPr/>
        </p:nvSpPr>
        <p:spPr>
          <a:xfrm>
            <a:off x="274320" y="1600200"/>
            <a:ext cx="11612880" cy="1536192"/>
          </a:xfrm>
          <a:prstGeom prst="rect">
            <a:avLst/>
          </a:prstGeom>
          <a:solidFill>
            <a:srgbClr val="162D5E"/>
          </a:solidFill>
          <a:ln w="12700">
            <a:solidFill>
              <a:srgbClr val="C82020"/>
            </a:solidFill>
            <a:prstDash val="solid"/>
          </a:ln>
        </p:spPr>
      </p:sp>
      <p:sp>
        <p:nvSpPr>
          <p:cNvPr id="6" name="Shape 4"/>
          <p:cNvSpPr/>
          <p:nvPr/>
        </p:nvSpPr>
        <p:spPr>
          <a:xfrm>
            <a:off x="274320" y="1600200"/>
            <a:ext cx="54864" cy="1536192"/>
          </a:xfrm>
          <a:prstGeom prst="rect">
            <a:avLst/>
          </a:prstGeom>
          <a:solidFill>
            <a:srgbClr val="C82020"/>
          </a:solidFill>
          <a:ln w="12700">
            <a:solidFill>
              <a:srgbClr val="C82020"/>
            </a:solidFill>
            <a:prstDash val="solid"/>
          </a:ln>
        </p:spPr>
      </p:sp>
      <p:sp>
        <p:nvSpPr>
          <p:cNvPr id="7" name="Text 5"/>
          <p:cNvSpPr/>
          <p:nvPr/>
        </p:nvSpPr>
        <p:spPr>
          <a:xfrm>
            <a:off x="457200" y="1691640"/>
            <a:ext cx="3200400" cy="274320"/>
          </a:xfrm>
          <a:prstGeom prst="rect">
            <a:avLst/>
          </a:prstGeom>
          <a:noFill/>
          <a:ln/>
        </p:spPr>
        <p:txBody>
          <a:bodyPr wrap="square" lIns="0" tIns="0" rIns="0" bIns="0" rtlCol="0" anchor="ctr"/>
          <a:lstStyle/>
          <a:p>
            <a:pPr indent="0" marL="0">
              <a:buNone/>
            </a:pPr>
            <a:r>
              <a:rPr lang="en-US" sz="1000" b="1" spc="200" kern="0" dirty="0">
                <a:solidFill>
                  <a:srgbClr val="C82020"/>
                </a:solidFill>
                <a:latin typeface="Arial" pitchFamily="34" charset="0"/>
                <a:ea typeface="Arial" pitchFamily="34" charset="-122"/>
                <a:cs typeface="Arial" pitchFamily="34" charset="-120"/>
              </a:rPr>
              <a:t>TO NILE BREWERIES MD</a:t>
            </a:r>
            <a:endParaRPr lang="en-US" sz="1000" dirty="0"/>
          </a:p>
        </p:txBody>
      </p:sp>
      <p:sp>
        <p:nvSpPr>
          <p:cNvPr id="8" name="Text 6"/>
          <p:cNvSpPr/>
          <p:nvPr/>
        </p:nvSpPr>
        <p:spPr>
          <a:xfrm>
            <a:off x="457200" y="1984248"/>
            <a:ext cx="11064240" cy="658368"/>
          </a:xfrm>
          <a:prstGeom prst="rect">
            <a:avLst/>
          </a:prstGeom>
          <a:noFill/>
          <a:ln/>
        </p:spPr>
        <p:txBody>
          <a:bodyPr wrap="square" lIns="0" tIns="0" rIns="0" bIns="0" rtlCol="0" anchor="ctr"/>
          <a:lstStyle/>
          <a:p>
            <a:pPr indent="0" marL="0">
              <a:buNone/>
            </a:pPr>
            <a:r>
              <a:rPr lang="en-US" sz="1300" i="1" dirty="0">
                <a:solidFill>
                  <a:srgbClr val="FFFFFF"/>
                </a:solidFill>
                <a:latin typeface="Arial" pitchFamily="34" charset="0"/>
                <a:ea typeface="Arial" pitchFamily="34" charset="-122"/>
                <a:cs typeface="Arial" pitchFamily="34" charset="-120"/>
              </a:rPr>
              <a:t>"Your warehouse managers stole UGX 5 billion. Our system would have sent an alert on night one."</a:t>
            </a:r>
            <a:endParaRPr lang="en-US" sz="1300" dirty="0"/>
          </a:p>
        </p:txBody>
      </p:sp>
      <p:sp>
        <p:nvSpPr>
          <p:cNvPr id="9" name="Text 7"/>
          <p:cNvSpPr/>
          <p:nvPr/>
        </p:nvSpPr>
        <p:spPr>
          <a:xfrm>
            <a:off x="457200" y="2788920"/>
            <a:ext cx="1106424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Expected: Demo meeting within 1 week · Revenue: UGX 5–8M/month</a:t>
            </a:r>
            <a:endParaRPr lang="en-US" sz="1000" dirty="0"/>
          </a:p>
        </p:txBody>
      </p:sp>
      <p:sp>
        <p:nvSpPr>
          <p:cNvPr id="10" name="Shape 8"/>
          <p:cNvSpPr/>
          <p:nvPr/>
        </p:nvSpPr>
        <p:spPr>
          <a:xfrm>
            <a:off x="274320" y="3291840"/>
            <a:ext cx="11612880" cy="1536192"/>
          </a:xfrm>
          <a:prstGeom prst="rect">
            <a:avLst/>
          </a:prstGeom>
          <a:solidFill>
            <a:srgbClr val="162D5E"/>
          </a:solidFill>
          <a:ln w="12700">
            <a:solidFill>
              <a:srgbClr val="14B8A6"/>
            </a:solidFill>
            <a:prstDash val="solid"/>
          </a:ln>
        </p:spPr>
      </p:sp>
      <p:sp>
        <p:nvSpPr>
          <p:cNvPr id="11" name="Shape 9"/>
          <p:cNvSpPr/>
          <p:nvPr/>
        </p:nvSpPr>
        <p:spPr>
          <a:xfrm>
            <a:off x="274320" y="3291840"/>
            <a:ext cx="54864" cy="1536192"/>
          </a:xfrm>
          <a:prstGeom prst="rect">
            <a:avLst/>
          </a:prstGeom>
          <a:solidFill>
            <a:srgbClr val="14B8A6"/>
          </a:solidFill>
          <a:ln w="12700">
            <a:solidFill>
              <a:srgbClr val="14B8A6"/>
            </a:solidFill>
            <a:prstDash val="solid"/>
          </a:ln>
        </p:spPr>
      </p:sp>
      <p:sp>
        <p:nvSpPr>
          <p:cNvPr id="12" name="Text 10"/>
          <p:cNvSpPr/>
          <p:nvPr/>
        </p:nvSpPr>
        <p:spPr>
          <a:xfrm>
            <a:off x="457200" y="3383280"/>
            <a:ext cx="3200400" cy="274320"/>
          </a:xfrm>
          <a:prstGeom prst="rect">
            <a:avLst/>
          </a:prstGeom>
          <a:noFill/>
          <a:ln/>
        </p:spPr>
        <p:txBody>
          <a:bodyPr wrap="square" lIns="0" tIns="0" rIns="0" bIns="0" rtlCol="0" anchor="ctr"/>
          <a:lstStyle/>
          <a:p>
            <a:pPr indent="0" marL="0">
              <a:buNone/>
            </a:pPr>
            <a:r>
              <a:rPr lang="en-US" sz="1000" b="1" spc="200" kern="0" dirty="0">
                <a:solidFill>
                  <a:srgbClr val="14B8A6"/>
                </a:solidFill>
                <a:latin typeface="Arial" pitchFamily="34" charset="0"/>
                <a:ea typeface="Arial" pitchFamily="34" charset="-122"/>
                <a:cs typeface="Arial" pitchFamily="34" charset="-120"/>
              </a:rPr>
              <a:t>TO URA COMMISSIONER</a:t>
            </a:r>
            <a:endParaRPr lang="en-US" sz="1000" dirty="0"/>
          </a:p>
        </p:txBody>
      </p:sp>
      <p:sp>
        <p:nvSpPr>
          <p:cNvPr id="13" name="Text 11"/>
          <p:cNvSpPr/>
          <p:nvPr/>
        </p:nvSpPr>
        <p:spPr>
          <a:xfrm>
            <a:off x="457200" y="3675888"/>
            <a:ext cx="11064240" cy="658368"/>
          </a:xfrm>
          <a:prstGeom prst="rect">
            <a:avLst/>
          </a:prstGeom>
          <a:noFill/>
          <a:ln/>
        </p:spPr>
        <p:txBody>
          <a:bodyPr wrap="square" lIns="0" tIns="0" rIns="0" bIns="0" rtlCol="0" anchor="ctr"/>
          <a:lstStyle/>
          <a:p>
            <a:pPr indent="0" marL="0">
              <a:buNone/>
            </a:pPr>
            <a:r>
              <a:rPr lang="en-US" sz="1300" i="1" dirty="0">
                <a:solidFill>
                  <a:srgbClr val="FFFFFF"/>
                </a:solidFill>
                <a:latin typeface="Arial" pitchFamily="34" charset="0"/>
                <a:ea typeface="Arial" pitchFamily="34" charset="-122"/>
                <a:cs typeface="Arial" pitchFamily="34" charset="-120"/>
              </a:rPr>
              <a:t>"EFRIS compliance is stuck at 48%. We capture UGX 3.8B/month from businesses that can't use EFRIS. 14,820 enrolled. We'd like to be your authorised EFRIS extension partner."</a:t>
            </a:r>
            <a:endParaRPr lang="en-US" sz="1300" dirty="0"/>
          </a:p>
        </p:txBody>
      </p:sp>
      <p:sp>
        <p:nvSpPr>
          <p:cNvPr id="14" name="Text 12"/>
          <p:cNvSpPr/>
          <p:nvPr/>
        </p:nvSpPr>
        <p:spPr>
          <a:xfrm>
            <a:off x="457200" y="4480560"/>
            <a:ext cx="1106424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Expected: Government partnership · Revenue: UGX 800M–2B/year</a:t>
            </a:r>
            <a:endParaRPr lang="en-US" sz="1000" dirty="0"/>
          </a:p>
        </p:txBody>
      </p:sp>
      <p:sp>
        <p:nvSpPr>
          <p:cNvPr id="15" name="Shape 13"/>
          <p:cNvSpPr/>
          <p:nvPr/>
        </p:nvSpPr>
        <p:spPr>
          <a:xfrm>
            <a:off x="274320" y="4983480"/>
            <a:ext cx="11612880" cy="1536192"/>
          </a:xfrm>
          <a:prstGeom prst="rect">
            <a:avLst/>
          </a:prstGeom>
          <a:solidFill>
            <a:srgbClr val="162D5E"/>
          </a:solidFill>
          <a:ln w="12700">
            <a:solidFill>
              <a:srgbClr val="E8C040"/>
            </a:solidFill>
            <a:prstDash val="solid"/>
          </a:ln>
        </p:spPr>
      </p:sp>
      <p:sp>
        <p:nvSpPr>
          <p:cNvPr id="16" name="Shape 14"/>
          <p:cNvSpPr/>
          <p:nvPr/>
        </p:nvSpPr>
        <p:spPr>
          <a:xfrm>
            <a:off x="274320" y="4983480"/>
            <a:ext cx="54864" cy="1536192"/>
          </a:xfrm>
          <a:prstGeom prst="rect">
            <a:avLst/>
          </a:prstGeom>
          <a:solidFill>
            <a:srgbClr val="E8C040"/>
          </a:solidFill>
          <a:ln w="12700">
            <a:solidFill>
              <a:srgbClr val="E8C040"/>
            </a:solidFill>
            <a:prstDash val="solid"/>
          </a:ln>
        </p:spPr>
      </p:sp>
      <p:sp>
        <p:nvSpPr>
          <p:cNvPr id="17" name="Text 15"/>
          <p:cNvSpPr/>
          <p:nvPr/>
        </p:nvSpPr>
        <p:spPr>
          <a:xfrm>
            <a:off x="457200" y="5074920"/>
            <a:ext cx="3200400" cy="274320"/>
          </a:xfrm>
          <a:prstGeom prst="rect">
            <a:avLst/>
          </a:prstGeom>
          <a:noFill/>
          <a:ln/>
        </p:spPr>
        <p:txBody>
          <a:bodyPr wrap="square" lIns="0" tIns="0" rIns="0" bIns="0" rtlCol="0" anchor="ctr"/>
          <a:lstStyle/>
          <a:p>
            <a:pPr indent="0" marL="0">
              <a:buNone/>
            </a:pPr>
            <a:r>
              <a:rPr lang="en-US" sz="1000" b="1" spc="200" kern="0" dirty="0">
                <a:solidFill>
                  <a:srgbClr val="E8C040"/>
                </a:solidFill>
                <a:latin typeface="Arial" pitchFamily="34" charset="0"/>
                <a:ea typeface="Arial" pitchFamily="34" charset="-122"/>
                <a:cs typeface="Arial" pitchFamily="34" charset="-120"/>
              </a:rPr>
              <a:t>TO IMF / WORLD BANK</a:t>
            </a:r>
            <a:endParaRPr lang="en-US" sz="1000" dirty="0"/>
          </a:p>
        </p:txBody>
      </p:sp>
      <p:sp>
        <p:nvSpPr>
          <p:cNvPr id="18" name="Text 16"/>
          <p:cNvSpPr/>
          <p:nvPr/>
        </p:nvSpPr>
        <p:spPr>
          <a:xfrm>
            <a:off x="457200" y="5367528"/>
            <a:ext cx="11064240" cy="658368"/>
          </a:xfrm>
          <a:prstGeom prst="rect">
            <a:avLst/>
          </a:prstGeom>
          <a:noFill/>
          <a:ln/>
        </p:spPr>
        <p:txBody>
          <a:bodyPr wrap="square" lIns="0" tIns="0" rIns="0" bIns="0" rtlCol="0" anchor="ctr"/>
          <a:lstStyle/>
          <a:p>
            <a:pPr indent="0" marL="0">
              <a:buNone/>
            </a:pPr>
            <a:r>
              <a:rPr lang="en-US" sz="1300" i="1" dirty="0">
                <a:solidFill>
                  <a:srgbClr val="FFFFFF"/>
                </a:solidFill>
                <a:latin typeface="Arial" pitchFamily="34" charset="0"/>
                <a:ea typeface="Arial" pitchFamily="34" charset="-122"/>
                <a:cs typeface="Arial" pitchFamily="34" charset="-120"/>
              </a:rPr>
              <a:t>"Uganda's debt-to-GDP is 51.3%. We've built the domestic revenue mobilisation infrastructure. Three products. Live pilot data. UGX 2B ask. Here are the KPIs."</a:t>
            </a:r>
            <a:endParaRPr lang="en-US" sz="1300" dirty="0"/>
          </a:p>
        </p:txBody>
      </p:sp>
      <p:sp>
        <p:nvSpPr>
          <p:cNvPr id="19" name="Text 17"/>
          <p:cNvSpPr/>
          <p:nvPr/>
        </p:nvSpPr>
        <p:spPr>
          <a:xfrm>
            <a:off x="457200" y="6172200"/>
            <a:ext cx="11064240" cy="274320"/>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Expected: Grant application · Revenue: USD 500K–2M</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2048"/>
        </a:solidFill>
      </p:bgPr>
    </p:bg>
    <p:spTree>
      <p:nvGrpSpPr>
        <p:cNvPr id="1" name=""/>
        <p:cNvGrpSpPr/>
        <p:nvPr/>
      </p:nvGrpSpPr>
      <p:grpSpPr>
        <a:xfrm>
          <a:off x="0" y="0"/>
          <a:ext cx="0" cy="0"/>
          <a:chOff x="0" y="0"/>
          <a:chExt cx="0" cy="0"/>
        </a:xfrm>
      </p:grpSpPr>
      <p:sp>
        <p:nvSpPr>
          <p:cNvPr id="2" name="Shape 0"/>
          <p:cNvSpPr/>
          <p:nvPr/>
        </p:nvSpPr>
        <p:spPr>
          <a:xfrm>
            <a:off x="0" y="0"/>
            <a:ext cx="4754880" cy="6858000"/>
          </a:xfrm>
          <a:prstGeom prst="rect">
            <a:avLst/>
          </a:prstGeom>
          <a:solidFill>
            <a:srgbClr val="B8920A"/>
          </a:solidFill>
          <a:ln w="12700">
            <a:solidFill>
              <a:srgbClr val="B8920A"/>
            </a:solidFill>
            <a:prstDash val="solid"/>
          </a:ln>
        </p:spPr>
      </p:sp>
      <p:sp>
        <p:nvSpPr>
          <p:cNvPr id="3" name="Shape 1"/>
          <p:cNvSpPr/>
          <p:nvPr/>
        </p:nvSpPr>
        <p:spPr>
          <a:xfrm>
            <a:off x="0" y="0"/>
            <a:ext cx="4754880" cy="6858000"/>
          </a:xfrm>
          <a:prstGeom prst="rect">
            <a:avLst/>
          </a:prstGeom>
          <a:solidFill>
            <a:srgbClr val="E8C040">
              <a:alpha val="80000"/>
            </a:srgbClr>
          </a:solidFill>
          <a:ln w="12700">
            <a:solidFill>
              <a:srgbClr val="E8C040"/>
            </a:solidFill>
            <a:prstDash val="solid"/>
          </a:ln>
        </p:spPr>
      </p:sp>
      <p:sp>
        <p:nvSpPr>
          <p:cNvPr id="4" name="Text 2"/>
          <p:cNvSpPr/>
          <p:nvPr/>
        </p:nvSpPr>
        <p:spPr>
          <a:xfrm>
            <a:off x="1371600" y="1097280"/>
            <a:ext cx="2011680" cy="1463040"/>
          </a:xfrm>
          <a:prstGeom prst="rect">
            <a:avLst/>
          </a:prstGeom>
          <a:noFill/>
          <a:ln/>
        </p:spPr>
        <p:txBody>
          <a:bodyPr wrap="square" lIns="0" tIns="0" rIns="0" bIns="0" rtlCol="0" anchor="ctr"/>
          <a:lstStyle/>
          <a:p>
            <a:pPr algn="ctr" indent="0" marL="0">
              <a:buNone/>
            </a:pPr>
            <a:r>
              <a:rPr lang="en-US" sz="6400" dirty="0">
                <a:solidFill>
                  <a:srgbClr val="000000"/>
                </a:solidFill>
              </a:rPr>
              <a:t>🇺🇬</a:t>
            </a:r>
            <a:endParaRPr lang="en-US" sz="6400" dirty="0"/>
          </a:p>
        </p:txBody>
      </p:sp>
      <p:sp>
        <p:nvSpPr>
          <p:cNvPr id="5" name="Text 3"/>
          <p:cNvSpPr/>
          <p:nvPr/>
        </p:nvSpPr>
        <p:spPr>
          <a:xfrm>
            <a:off x="274320" y="2743200"/>
            <a:ext cx="4206240" cy="3200400"/>
          </a:xfrm>
          <a:prstGeom prst="rect">
            <a:avLst/>
          </a:prstGeom>
          <a:noFill/>
          <a:ln/>
        </p:spPr>
        <p:txBody>
          <a:bodyPr wrap="square" lIns="0" tIns="0" rIns="0" bIns="0" rtlCol="0" anchor="ctr"/>
          <a:lstStyle/>
          <a:p>
            <a:pPr indent="0" marL="0">
              <a:lnSpc>
                <a:spcPct val="120000"/>
              </a:lnSpc>
              <a:buNone/>
            </a:pPr>
            <a:r>
              <a:rPr lang="en-US" sz="2600" b="1" dirty="0">
                <a:solidFill>
                  <a:srgbClr val="0C2048"/>
                </a:solidFill>
                <a:latin typeface="Arial" pitchFamily="34" charset="0"/>
                <a:ea typeface="Arial" pitchFamily="34" charset="-122"/>
                <a:cs typeface="Arial" pitchFamily="34" charset="-120"/>
              </a:rPr>
              <a:t>Uganda's fiscal crisis</a:t>
            </a:r>
            <a:endParaRPr lang="en-US" sz="2600" dirty="0"/>
          </a:p>
          <a:p>
            <a:pPr indent="0" marL="0">
              <a:lnSpc>
                <a:spcPct val="120000"/>
              </a:lnSpc>
              <a:buNone/>
            </a:pPr>
            <a:r>
              <a:rPr lang="en-US" sz="2600" b="1" dirty="0">
                <a:solidFill>
                  <a:srgbClr val="0C2048"/>
                </a:solidFill>
                <a:latin typeface="Arial" pitchFamily="34" charset="0"/>
                <a:ea typeface="Arial" pitchFamily="34" charset="-122"/>
                <a:cs typeface="Arial" pitchFamily="34" charset="-120"/>
              </a:rPr>
              <a:t>is solvable.</a:t>
            </a:r>
            <a:endParaRPr lang="en-US" sz="2600" dirty="0"/>
          </a:p>
          <a:p>
            <a:pPr indent="0" marL="0">
              <a:lnSpc>
                <a:spcPct val="120000"/>
              </a:lnSpc>
              <a:buNone/>
            </a:pPr>
            <a:r>
              <a:rPr lang="en-US" sz="2600" b="1" dirty="0">
                <a:solidFill>
                  <a:srgbClr val="0C2048"/>
                </a:solidFill>
                <a:latin typeface="Arial" pitchFamily="34" charset="0"/>
                <a:ea typeface="Arial" pitchFamily="34" charset="-122"/>
                <a:cs typeface="Arial" pitchFamily="34" charset="-120"/>
              </a:rPr>
              <a:t>The technology</a:t>
            </a:r>
            <a:endParaRPr lang="en-US" sz="2600" dirty="0"/>
          </a:p>
          <a:p>
            <a:pPr indent="0" marL="0">
              <a:lnSpc>
                <a:spcPct val="120000"/>
              </a:lnSpc>
              <a:buNone/>
            </a:pPr>
            <a:r>
              <a:rPr lang="en-US" sz="2600" b="1" dirty="0">
                <a:solidFill>
                  <a:srgbClr val="0C2048"/>
                </a:solidFill>
                <a:latin typeface="Arial" pitchFamily="34" charset="0"/>
                <a:ea typeface="Arial" pitchFamily="34" charset="-122"/>
                <a:cs typeface="Arial" pitchFamily="34" charset="-120"/>
              </a:rPr>
              <a:t>is ready.</a:t>
            </a:r>
            <a:endParaRPr lang="en-US" sz="2600" dirty="0"/>
          </a:p>
        </p:txBody>
      </p:sp>
      <p:sp>
        <p:nvSpPr>
          <p:cNvPr id="6" name="Text 4"/>
          <p:cNvSpPr/>
          <p:nvPr/>
        </p:nvSpPr>
        <p:spPr>
          <a:xfrm>
            <a:off x="5120640" y="731520"/>
            <a:ext cx="6766560" cy="457200"/>
          </a:xfrm>
          <a:prstGeom prst="rect">
            <a:avLst/>
          </a:prstGeom>
          <a:noFill/>
          <a:ln/>
        </p:spPr>
        <p:txBody>
          <a:bodyPr wrap="square" lIns="0" tIns="0" rIns="0" bIns="0" rtlCol="0" anchor="ctr"/>
          <a:lstStyle/>
          <a:p>
            <a:pPr indent="0" marL="0">
              <a:buNone/>
            </a:pPr>
            <a:r>
              <a:rPr lang="en-US" sz="1300" b="1" spc="100" kern="0" dirty="0">
                <a:solidFill>
                  <a:srgbClr val="14B8A6"/>
                </a:solidFill>
                <a:latin typeface="Arial" pitchFamily="34" charset="0"/>
                <a:ea typeface="Arial" pitchFamily="34" charset="-122"/>
                <a:cs typeface="Arial" pitchFamily="34" charset="-120"/>
              </a:rPr>
              <a:t>All 12 Products Are Demo-Ready Today</a:t>
            </a:r>
            <a:endParaRPr lang="en-US" sz="1300" dirty="0"/>
          </a:p>
        </p:txBody>
      </p:sp>
      <p:sp>
        <p:nvSpPr>
          <p:cNvPr id="7" name="Text 5"/>
          <p:cNvSpPr/>
          <p:nvPr/>
        </p:nvSpPr>
        <p:spPr>
          <a:xfrm>
            <a:off x="5120640" y="1261872"/>
            <a:ext cx="6766560" cy="1280160"/>
          </a:xfrm>
          <a:prstGeom prst="rect">
            <a:avLst/>
          </a:prstGeom>
          <a:noFill/>
          <a:ln/>
        </p:spPr>
        <p:txBody>
          <a:bodyPr wrap="square" lIns="0" tIns="0" rIns="0" bIns="0" rtlCol="0" anchor="ctr"/>
          <a:lstStyle/>
          <a:p>
            <a:pPr indent="0" marL="0">
              <a:lnSpc>
                <a:spcPct val="130000"/>
              </a:lnSpc>
              <a:buNone/>
            </a:pPr>
            <a:r>
              <a:rPr lang="en-US" sz="2200" b="1" dirty="0">
                <a:solidFill>
                  <a:srgbClr val="FFFFFF"/>
                </a:solidFill>
                <a:latin typeface="Arial" pitchFamily="34" charset="0"/>
                <a:ea typeface="Arial" pitchFamily="34" charset="-122"/>
                <a:cs typeface="Arial" pitchFamily="34" charset="-120"/>
              </a:rPr>
              <a:t>No installation required.</a:t>
            </a:r>
            <a:endParaRPr lang="en-US" sz="2200" dirty="0"/>
          </a:p>
          <a:p>
            <a:pPr indent="0" marL="0">
              <a:lnSpc>
                <a:spcPct val="130000"/>
              </a:lnSpc>
              <a:buNone/>
            </a:pPr>
            <a:r>
              <a:rPr lang="en-US" sz="2200" b="1" dirty="0">
                <a:solidFill>
                  <a:srgbClr val="FFFFFF"/>
                </a:solidFill>
                <a:latin typeface="Arial" pitchFamily="34" charset="0"/>
                <a:ea typeface="Arial" pitchFamily="34" charset="-122"/>
                <a:cs typeface="Arial" pitchFamily="34" charset="-120"/>
              </a:rPr>
              <a:t>Runs in your browser.</a:t>
            </a:r>
            <a:endParaRPr lang="en-US" sz="2200" dirty="0"/>
          </a:p>
          <a:p>
            <a:pPr indent="0" marL="0">
              <a:lnSpc>
                <a:spcPct val="130000"/>
              </a:lnSpc>
              <a:buNone/>
            </a:pPr>
            <a:r>
              <a:rPr lang="en-US" sz="2200" b="1" dirty="0">
                <a:solidFill>
                  <a:srgbClr val="FFFFFF"/>
                </a:solidFill>
                <a:latin typeface="Arial" pitchFamily="34" charset="0"/>
                <a:ea typeface="Arial" pitchFamily="34" charset="-122"/>
                <a:cs typeface="Arial" pitchFamily="34" charset="-120"/>
              </a:rPr>
              <a:t>Schedule a 30-minute demo.</a:t>
            </a:r>
            <a:endParaRPr lang="en-US" sz="2200" dirty="0"/>
          </a:p>
        </p:txBody>
      </p:sp>
      <p:sp>
        <p:nvSpPr>
          <p:cNvPr id="8" name="Shape 6"/>
          <p:cNvSpPr/>
          <p:nvPr/>
        </p:nvSpPr>
        <p:spPr>
          <a:xfrm>
            <a:off x="5120640" y="2834640"/>
            <a:ext cx="6766560" cy="2560320"/>
          </a:xfrm>
          <a:prstGeom prst="rect">
            <a:avLst/>
          </a:prstGeom>
          <a:solidFill>
            <a:srgbClr val="162D5E"/>
          </a:solidFill>
          <a:ln w="12700">
            <a:solidFill>
              <a:srgbClr val="162D5E"/>
            </a:solidFill>
            <a:prstDash val="solid"/>
          </a:ln>
        </p:spPr>
      </p:sp>
      <p:sp>
        <p:nvSpPr>
          <p:cNvPr id="9" name="Text 7"/>
          <p:cNvSpPr/>
          <p:nvPr/>
        </p:nvSpPr>
        <p:spPr>
          <a:xfrm>
            <a:off x="5303520" y="2980944"/>
            <a:ext cx="365760" cy="411480"/>
          </a:xfrm>
          <a:prstGeom prst="rect">
            <a:avLst/>
          </a:prstGeom>
          <a:noFill/>
          <a:ln/>
        </p:spPr>
        <p:txBody>
          <a:bodyPr wrap="square" lIns="0" tIns="0" rIns="0" bIns="0" rtlCol="0" anchor="ctr"/>
          <a:lstStyle/>
          <a:p>
            <a:pPr indent="0" marL="0">
              <a:buNone/>
            </a:pPr>
            <a:r>
              <a:rPr lang="en-US" sz="1600" dirty="0">
                <a:solidFill>
                  <a:srgbClr val="000000"/>
                </a:solidFill>
              </a:rPr>
              <a:t>📍</a:t>
            </a:r>
            <a:endParaRPr lang="en-US" sz="1600" dirty="0"/>
          </a:p>
        </p:txBody>
      </p:sp>
      <p:sp>
        <p:nvSpPr>
          <p:cNvPr id="10" name="Text 8"/>
          <p:cNvSpPr/>
          <p:nvPr/>
        </p:nvSpPr>
        <p:spPr>
          <a:xfrm>
            <a:off x="5742432" y="3017520"/>
            <a:ext cx="5943600" cy="347472"/>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Kampala, Uganda  ·  Industrial Area</a:t>
            </a:r>
            <a:endParaRPr lang="en-US" sz="1300" dirty="0"/>
          </a:p>
        </p:txBody>
      </p:sp>
      <p:sp>
        <p:nvSpPr>
          <p:cNvPr id="11" name="Text 9"/>
          <p:cNvSpPr/>
          <p:nvPr/>
        </p:nvSpPr>
        <p:spPr>
          <a:xfrm>
            <a:off x="5303520" y="3529584"/>
            <a:ext cx="365760" cy="411480"/>
          </a:xfrm>
          <a:prstGeom prst="rect">
            <a:avLst/>
          </a:prstGeom>
          <a:noFill/>
          <a:ln/>
        </p:spPr>
        <p:txBody>
          <a:bodyPr wrap="square" lIns="0" tIns="0" rIns="0" bIns="0" rtlCol="0" anchor="ctr"/>
          <a:lstStyle/>
          <a:p>
            <a:pPr indent="0" marL="0">
              <a:buNone/>
            </a:pPr>
            <a:r>
              <a:rPr lang="en-US" sz="1600" dirty="0">
                <a:solidFill>
                  <a:srgbClr val="000000"/>
                </a:solidFill>
              </a:rPr>
              <a:t>📧</a:t>
            </a:r>
            <a:endParaRPr lang="en-US" sz="1600" dirty="0"/>
          </a:p>
        </p:txBody>
      </p:sp>
      <p:sp>
        <p:nvSpPr>
          <p:cNvPr id="12" name="Text 10"/>
          <p:cNvSpPr/>
          <p:nvPr/>
        </p:nvSpPr>
        <p:spPr>
          <a:xfrm>
            <a:off x="5742432" y="3566160"/>
            <a:ext cx="5943600" cy="347472"/>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hello@ugandafiscal.ug</a:t>
            </a:r>
            <a:endParaRPr lang="en-US" sz="1300" dirty="0"/>
          </a:p>
        </p:txBody>
      </p:sp>
      <p:sp>
        <p:nvSpPr>
          <p:cNvPr id="13" name="Text 11"/>
          <p:cNvSpPr/>
          <p:nvPr/>
        </p:nvSpPr>
        <p:spPr>
          <a:xfrm>
            <a:off x="5303520" y="4078224"/>
            <a:ext cx="365760" cy="411480"/>
          </a:xfrm>
          <a:prstGeom prst="rect">
            <a:avLst/>
          </a:prstGeom>
          <a:noFill/>
          <a:ln/>
        </p:spPr>
        <p:txBody>
          <a:bodyPr wrap="square" lIns="0" tIns="0" rIns="0" bIns="0" rtlCol="0" anchor="ctr"/>
          <a:lstStyle/>
          <a:p>
            <a:pPr indent="0" marL="0">
              <a:buNone/>
            </a:pPr>
            <a:r>
              <a:rPr lang="en-US" sz="1600" dirty="0">
                <a:solidFill>
                  <a:srgbClr val="000000"/>
                </a:solidFill>
              </a:rPr>
              <a:t>📱</a:t>
            </a:r>
            <a:endParaRPr lang="en-US" sz="1600" dirty="0"/>
          </a:p>
        </p:txBody>
      </p:sp>
      <p:sp>
        <p:nvSpPr>
          <p:cNvPr id="14" name="Text 12"/>
          <p:cNvSpPr/>
          <p:nvPr/>
        </p:nvSpPr>
        <p:spPr>
          <a:xfrm>
            <a:off x="5742432" y="4114800"/>
            <a:ext cx="5943600" cy="347472"/>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+256 700 FISCAL (WhatsApp preferred)</a:t>
            </a:r>
            <a:endParaRPr lang="en-US" sz="1300" dirty="0"/>
          </a:p>
        </p:txBody>
      </p:sp>
      <p:sp>
        <p:nvSpPr>
          <p:cNvPr id="15" name="Text 13"/>
          <p:cNvSpPr/>
          <p:nvPr/>
        </p:nvSpPr>
        <p:spPr>
          <a:xfrm>
            <a:off x="5303520" y="4626864"/>
            <a:ext cx="365760" cy="411480"/>
          </a:xfrm>
          <a:prstGeom prst="rect">
            <a:avLst/>
          </a:prstGeom>
          <a:noFill/>
          <a:ln/>
        </p:spPr>
        <p:txBody>
          <a:bodyPr wrap="square" lIns="0" tIns="0" rIns="0" bIns="0" rtlCol="0" anchor="ctr"/>
          <a:lstStyle/>
          <a:p>
            <a:pPr indent="0" marL="0">
              <a:buNone/>
            </a:pPr>
            <a:r>
              <a:rPr lang="en-US" sz="1600" dirty="0">
                <a:solidFill>
                  <a:srgbClr val="000000"/>
                </a:solidFill>
              </a:rPr>
              <a:t>🌐</a:t>
            </a:r>
            <a:endParaRPr lang="en-US" sz="1600" dirty="0"/>
          </a:p>
        </p:txBody>
      </p:sp>
      <p:sp>
        <p:nvSpPr>
          <p:cNvPr id="16" name="Text 14"/>
          <p:cNvSpPr/>
          <p:nvPr/>
        </p:nvSpPr>
        <p:spPr>
          <a:xfrm>
            <a:off x="5742432" y="4663440"/>
            <a:ext cx="5943600" cy="347472"/>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www.ugandafiscal.ug</a:t>
            </a:r>
            <a:endParaRPr lang="en-US" sz="1300" dirty="0"/>
          </a:p>
        </p:txBody>
      </p:sp>
      <p:sp>
        <p:nvSpPr>
          <p:cNvPr id="17" name="Text 15"/>
          <p:cNvSpPr/>
          <p:nvPr/>
        </p:nvSpPr>
        <p:spPr>
          <a:xfrm>
            <a:off x="5120640" y="5577840"/>
            <a:ext cx="6766560" cy="274320"/>
          </a:xfrm>
          <a:prstGeom prst="rect">
            <a:avLst/>
          </a:prstGeom>
          <a:noFill/>
          <a:ln/>
        </p:spPr>
        <p:txBody>
          <a:bodyPr wrap="square" lIns="0" tIns="0" rIns="0" bIns="0" rtlCol="0" anchor="ctr"/>
          <a:lstStyle/>
          <a:p>
            <a:pPr indent="0" marL="0">
              <a:buNone/>
            </a:pPr>
            <a:r>
              <a:rPr lang="en-US" sz="1000" b="1" spc="200" kern="0" dirty="0">
                <a:solidFill>
                  <a:srgbClr val="E8C040"/>
                </a:solidFill>
                <a:latin typeface="Arial" pitchFamily="34" charset="0"/>
                <a:ea typeface="Arial" pitchFamily="34" charset="-122"/>
                <a:cs typeface="Arial" pitchFamily="34" charset="-120"/>
              </a:rPr>
              <a:t>YOUR THREE NEXT STEPS</a:t>
            </a:r>
            <a:endParaRPr lang="en-US" sz="1000" dirty="0"/>
          </a:p>
        </p:txBody>
      </p:sp>
      <p:sp>
        <p:nvSpPr>
          <p:cNvPr id="18" name="Shape 16"/>
          <p:cNvSpPr/>
          <p:nvPr/>
        </p:nvSpPr>
        <p:spPr>
          <a:xfrm>
            <a:off x="5120640" y="5943600"/>
            <a:ext cx="201168" cy="201168"/>
          </a:xfrm>
          <a:prstGeom prst="rect">
            <a:avLst/>
          </a:prstGeom>
          <a:solidFill>
            <a:srgbClr val="E8C040"/>
          </a:solidFill>
          <a:ln w="12700">
            <a:solidFill>
              <a:srgbClr val="E8C040"/>
            </a:solidFill>
            <a:prstDash val="solid"/>
          </a:ln>
        </p:spPr>
      </p:sp>
      <p:sp>
        <p:nvSpPr>
          <p:cNvPr id="19" name="Text 17"/>
          <p:cNvSpPr/>
          <p:nvPr/>
        </p:nvSpPr>
        <p:spPr>
          <a:xfrm>
            <a:off x="5120640" y="5943600"/>
            <a:ext cx="201168" cy="201168"/>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1</a:t>
            </a:r>
            <a:endParaRPr lang="en-US" sz="900" dirty="0"/>
          </a:p>
        </p:txBody>
      </p:sp>
      <p:sp>
        <p:nvSpPr>
          <p:cNvPr id="20" name="Text 18"/>
          <p:cNvSpPr/>
          <p:nvPr/>
        </p:nvSpPr>
        <p:spPr>
          <a:xfrm>
            <a:off x="5394960" y="5961888"/>
            <a:ext cx="6492240" cy="201168"/>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Register at URSB this week  ·  UGX 120,000</a:t>
            </a:r>
            <a:endParaRPr lang="en-US" sz="1000" dirty="0"/>
          </a:p>
        </p:txBody>
      </p:sp>
      <p:sp>
        <p:nvSpPr>
          <p:cNvPr id="21" name="Shape 19"/>
          <p:cNvSpPr/>
          <p:nvPr/>
        </p:nvSpPr>
        <p:spPr>
          <a:xfrm>
            <a:off x="5120640" y="6217920"/>
            <a:ext cx="201168" cy="201168"/>
          </a:xfrm>
          <a:prstGeom prst="rect">
            <a:avLst/>
          </a:prstGeom>
          <a:solidFill>
            <a:srgbClr val="E8C040"/>
          </a:solidFill>
          <a:ln w="12700">
            <a:solidFill>
              <a:srgbClr val="E8C040"/>
            </a:solidFill>
            <a:prstDash val="solid"/>
          </a:ln>
        </p:spPr>
      </p:sp>
      <p:sp>
        <p:nvSpPr>
          <p:cNvPr id="22" name="Text 20"/>
          <p:cNvSpPr/>
          <p:nvPr/>
        </p:nvSpPr>
        <p:spPr>
          <a:xfrm>
            <a:off x="5120640" y="6217920"/>
            <a:ext cx="201168" cy="201168"/>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2</a:t>
            </a:r>
            <a:endParaRPr lang="en-US" sz="900" dirty="0"/>
          </a:p>
        </p:txBody>
      </p:sp>
      <p:sp>
        <p:nvSpPr>
          <p:cNvPr id="23" name="Text 21"/>
          <p:cNvSpPr/>
          <p:nvPr/>
        </p:nvSpPr>
        <p:spPr>
          <a:xfrm>
            <a:off x="5394960" y="6236208"/>
            <a:ext cx="6492240" cy="201168"/>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Send the Nile Breweries GuardPost letter  ·  Already written</a:t>
            </a:r>
            <a:endParaRPr lang="en-US" sz="1000" dirty="0"/>
          </a:p>
        </p:txBody>
      </p:sp>
      <p:sp>
        <p:nvSpPr>
          <p:cNvPr id="24" name="Shape 22"/>
          <p:cNvSpPr/>
          <p:nvPr/>
        </p:nvSpPr>
        <p:spPr>
          <a:xfrm>
            <a:off x="5120640" y="6492240"/>
            <a:ext cx="201168" cy="201168"/>
          </a:xfrm>
          <a:prstGeom prst="rect">
            <a:avLst/>
          </a:prstGeom>
          <a:solidFill>
            <a:srgbClr val="E8C040"/>
          </a:solidFill>
          <a:ln w="12700">
            <a:solidFill>
              <a:srgbClr val="E8C040"/>
            </a:solidFill>
            <a:prstDash val="solid"/>
          </a:ln>
        </p:spPr>
      </p:sp>
      <p:sp>
        <p:nvSpPr>
          <p:cNvPr id="25" name="Text 23"/>
          <p:cNvSpPr/>
          <p:nvPr/>
        </p:nvSpPr>
        <p:spPr>
          <a:xfrm>
            <a:off x="5120640" y="6492240"/>
            <a:ext cx="201168" cy="201168"/>
          </a:xfrm>
          <a:prstGeom prst="rect">
            <a:avLst/>
          </a:prstGeom>
          <a:noFill/>
          <a:ln/>
        </p:spPr>
        <p:txBody>
          <a:bodyPr wrap="square" lIns="0" tIns="0" rIns="0" bIns="0" rtlCol="0" anchor="ctr"/>
          <a:lstStyle/>
          <a:p>
            <a:pPr algn="ctr" indent="0" marL="0">
              <a:buNone/>
            </a:pPr>
            <a:r>
              <a:rPr lang="en-US" sz="900" b="1" dirty="0">
                <a:solidFill>
                  <a:srgbClr val="0C2048"/>
                </a:solidFill>
                <a:latin typeface="Arial" pitchFamily="34" charset="0"/>
                <a:ea typeface="Arial" pitchFamily="34" charset="-122"/>
                <a:cs typeface="Arial" pitchFamily="34" charset="-120"/>
              </a:rPr>
              <a:t>3</a:t>
            </a:r>
            <a:endParaRPr lang="en-US" sz="900" dirty="0"/>
          </a:p>
        </p:txBody>
      </p:sp>
      <p:sp>
        <p:nvSpPr>
          <p:cNvPr id="26" name="Text 24"/>
          <p:cNvSpPr/>
          <p:nvPr/>
        </p:nvSpPr>
        <p:spPr>
          <a:xfrm>
            <a:off x="5394960" y="6510528"/>
            <a:ext cx="6492240" cy="201168"/>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Email UMA for EFRIS partnership meeting  ·  1,300+ members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Uganda Fiscal Intelligence Platform</dc:title>
  <dc:subject>PptxGenJS Presentation</dc:subject>
  <dc:creator>Uganda Fiscal Intelligence Platform Ltd</dc:creator>
  <cp:lastModifiedBy>Uganda Fiscal Intelligence Platform Ltd</cp:lastModifiedBy>
  <cp:revision>1</cp:revision>
  <dcterms:created xsi:type="dcterms:W3CDTF">2026-06-03T19:02:06Z</dcterms:created>
  <dcterms:modified xsi:type="dcterms:W3CDTF">2026-06-03T19:02:06Z</dcterms:modified>
</cp:coreProperties>
</file>